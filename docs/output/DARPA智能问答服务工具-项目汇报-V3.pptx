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DARPA智能问答服务工具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项目汇报  V6.0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3840480"/>
            <a:ext cx="3017520" cy="1280160"/>
          </a:xfrm>
          <a:prstGeom prst="roundRect">
            <a:avLst>
              <a:gd name="adj" fmla="val 10714"/>
            </a:avLst>
          </a:prstGeom>
          <a:solidFill>
            <a:srgbClr val="415A7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M1 外挂知识库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文档解析 · 智能分块 · 元数据标注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3840480"/>
            <a:ext cx="3017520" cy="1280160"/>
          </a:xfrm>
          <a:prstGeom prst="roundRect">
            <a:avLst>
              <a:gd name="adj" fmla="val 10714"/>
            </a:avLst>
          </a:prstGeom>
          <a:solidFill>
            <a:srgbClr val="415A77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M2 RAG检索增强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向量检索 · 混合检索 · 语义重排序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3840480"/>
            <a:ext cx="3017520" cy="1280160"/>
          </a:xfrm>
          <a:prstGeom prst="roundRect">
            <a:avLst>
              <a:gd name="adj" fmla="val 10714"/>
            </a:avLst>
          </a:prstGeom>
          <a:solidFill>
            <a:srgbClr val="415A77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0" y="39319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M3 交互式提示工程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4480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动态模板 · 结构约束 · 意图对齐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5669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研究内容四 · DARPA智能问答服务工具开发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联合军事科学院军事科学信息研究中心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项目概述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核心模块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知识库·检索·提示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06240" y="128016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</p:spPr>
      </p:sp>
      <p:sp>
        <p:nvSpPr>
          <p:cNvPr id="8" name="Text 6"/>
          <p:cNvSpPr/>
          <p:nvPr/>
        </p:nvSpPr>
        <p:spPr>
          <a:xfrm>
            <a:off x="420624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20624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问答·KB·模型·文件·故障·维修·监控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955280" y="1280160"/>
            <a:ext cx="3474720" cy="1828800"/>
          </a:xfrm>
          <a:prstGeom prst="roundRect">
            <a:avLst>
              <a:gd name="adj" fmla="val 7500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13716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96.5%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79552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测试通过率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55280" y="2606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110/114 用例通过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系统定位：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面向军事科研人员的离线智能问答系统，融合结构化知识管理与RAG技术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核心特性：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Docker离线部署 · 本地GLM大模型 · 向量+关键词混合检索 · 多格式文档支持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三级架构：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外挂知识库(M1) → RAG检索增强(M2) → 交互式提示工程(M3)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029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ragflow v0.18.0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GLM-4-Flash LLM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Spring Boot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509760" y="5029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Vue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Docker Compose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MySQL 8.0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Elasticsearch 8.11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509760" y="5486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15A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280160"/>
            <a:ext cx="914400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645920" y="1325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用户浏览器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前端 · Nginx · 端口 8899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9144000" cy="822960"/>
          </a:xfrm>
          <a:prstGeom prst="roundRect">
            <a:avLst>
              <a:gd name="adj" fmla="val 11111"/>
            </a:avLst>
          </a:prstGeom>
          <a:solidFill>
            <a:srgbClr val="415A77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应用服务层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后端 · JWT认证 · 代理转发 · 端口 8088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371600" y="3474720"/>
            <a:ext cx="9144000" cy="822960"/>
          </a:xfrm>
          <a:prstGeom prst="roundRect">
            <a:avLst>
              <a:gd name="adj" fmla="val 11111"/>
            </a:avLst>
          </a:prstGeom>
          <a:solidFill>
            <a:srgbClr val="2E4057"/>
          </a:solidFill>
          <a:ln/>
        </p:spPr>
      </p:sp>
      <p:sp>
        <p:nvSpPr>
          <p:cNvPr id="10" name="Text 8"/>
          <p:cNvSpPr/>
          <p:nvPr/>
        </p:nvSpPr>
        <p:spPr>
          <a:xfrm>
            <a:off x="164592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RAG引擎层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3886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ragflow v0.18.0 · 文档解析 · 向量索引 · LLM对话 · 端口 9380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4572000"/>
            <a:ext cx="9144000" cy="822960"/>
          </a:xfrm>
          <a:prstGeom prst="roundRect">
            <a:avLst>
              <a:gd name="adj" fmla="val 11111"/>
            </a:avLst>
          </a:prstGeom>
          <a:solidFill>
            <a:srgbClr val="1B3A4B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4617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数据存储层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4983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8.0 · Elasticsearch 8.11 · Redis · MinIO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148840"/>
            <a:ext cx="365760" cy="182880"/>
          </a:xfrm>
          <a:prstGeom prst="downArrow">
            <a:avLst/>
          </a:prstGeom>
          <a:solidFill>
            <a:srgbClr val="778DA9"/>
          </a:solidFill>
          <a:ln/>
        </p:spPr>
      </p:sp>
      <p:sp>
        <p:nvSpPr>
          <p:cNvPr id="16" name="Shape 14"/>
          <p:cNvSpPr/>
          <p:nvPr/>
        </p:nvSpPr>
        <p:spPr>
          <a:xfrm>
            <a:off x="5760720" y="3246120"/>
            <a:ext cx="365760" cy="182880"/>
          </a:xfrm>
          <a:prstGeom prst="downArrow">
            <a:avLst/>
          </a:prstGeom>
          <a:solidFill>
            <a:srgbClr val="778DA9"/>
          </a:solidFill>
          <a:ln/>
        </p:spPr>
      </p:sp>
      <p:sp>
        <p:nvSpPr>
          <p:cNvPr id="17" name="Shape 15"/>
          <p:cNvSpPr/>
          <p:nvPr/>
        </p:nvSpPr>
        <p:spPr>
          <a:xfrm>
            <a:off x="5760720" y="4343400"/>
            <a:ext cx="365760" cy="182880"/>
          </a:xfrm>
          <a:prstGeom prst="downArrow">
            <a:avLst/>
          </a:prstGeom>
          <a:solidFill>
            <a:srgbClr val="778DA9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5669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Docker容器化部署 · 所有服务运行在封闭网络 · 无外网依赖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功能全景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24688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51760" cy="54864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知识库管理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创建/删除知识库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文档上传解析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智能分块管理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元数据标注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24688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25400">
            <a:solidFill>
              <a:srgbClr val="415A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88720"/>
            <a:ext cx="2651760" cy="548640"/>
          </a:xfrm>
          <a:prstGeom prst="roundRect">
            <a:avLst>
              <a:gd name="adj" fmla="val 25000"/>
            </a:avLst>
          </a:prstGeom>
          <a:solidFill>
            <a:srgbClr val="415A77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智能问答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7472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多轮上下文对话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流式响应输出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引用溯源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历史会话管理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651760" cy="24688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25400">
            <a:solidFill>
              <a:srgbClr val="2E40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188720"/>
            <a:ext cx="2651760" cy="548640"/>
          </a:xfrm>
          <a:prstGeom prst="roundRect">
            <a:avLst>
              <a:gd name="adj" fmla="val 25000"/>
            </a:avLst>
          </a:prstGeom>
          <a:solidFill>
            <a:srgbClr val="2E4057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模型管理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LLM/Rerank配置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嵌入模型选择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默认模型设置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12个模型可用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0" y="1188720"/>
            <a:ext cx="2651760" cy="24688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25400">
            <a:solidFill>
              <a:srgbClr val="1B3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0" y="1188720"/>
            <a:ext cx="2651760" cy="548640"/>
          </a:xfrm>
          <a:prstGeom prst="roundRect">
            <a:avLst>
              <a:gd name="adj" fmla="val 25000"/>
            </a:avLst>
          </a:prstGeom>
          <a:solidFill>
            <a:srgbClr val="1B3A4B"/>
          </a:solidFill>
          <a:ln/>
        </p:spPr>
      </p:sp>
      <p:sp>
        <p:nvSpPr>
          <p:cNvPr id="17" name="Text 15"/>
          <p:cNvSpPr/>
          <p:nvPr/>
        </p:nvSpPr>
        <p:spPr>
          <a:xfrm>
            <a:off x="8961120" y="1234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文件管理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0" y="1828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多格式上传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分类搜索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下载预览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批量操作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2651760" cy="24688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25400">
            <a:solidFill>
              <a:srgbClr val="3A6B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931920"/>
            <a:ext cx="2651760" cy="548640"/>
          </a:xfrm>
          <a:prstGeom prst="roundRect">
            <a:avLst>
              <a:gd name="adj" fmla="val 25000"/>
            </a:avLst>
          </a:prstGeom>
          <a:solidFill>
            <a:srgbClr val="3A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故障溯源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4572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智能故障诊断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根因分析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处置建议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历史记录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3931920"/>
            <a:ext cx="2651760" cy="24688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25400">
            <a:solidFill>
              <a:srgbClr val="6B42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3931920"/>
            <a:ext cx="2651760" cy="548640"/>
          </a:xfrm>
          <a:prstGeom prst="roundRect">
            <a:avLst>
              <a:gd name="adj" fmla="val 25000"/>
            </a:avLst>
          </a:prstGeom>
          <a:solidFill>
            <a:srgbClr val="6B4226"/>
          </a:solidFill>
          <a:ln/>
        </p:spPr>
      </p:sp>
      <p:sp>
        <p:nvSpPr>
          <p:cNvPr id="25" name="Text 23"/>
          <p:cNvSpPr/>
          <p:nvPr/>
        </p:nvSpPr>
        <p:spPr>
          <a:xfrm>
            <a:off x="329184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维修管理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474720" y="4572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供应商管理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备件库存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维修记录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统计分析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3931920"/>
            <a:ext cx="2651760" cy="2468880"/>
          </a:xfrm>
          <a:prstGeom prst="roundRect">
            <a:avLst>
              <a:gd name="adj" fmla="val 5556"/>
            </a:avLst>
          </a:prstGeom>
          <a:solidFill>
            <a:srgbClr val="F0F4F8"/>
          </a:solidFill>
          <a:ln w="25400">
            <a:solidFill>
              <a:srgbClr val="4A2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3931920"/>
            <a:ext cx="2651760" cy="548640"/>
          </a:xfrm>
          <a:prstGeom prst="roundRect">
            <a:avLst>
              <a:gd name="adj" fmla="val 25000"/>
            </a:avLst>
          </a:prstGeom>
          <a:solidFill>
            <a:srgbClr val="4A2545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977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系统管理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09360" y="4572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用户/角色/部门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菜单/字典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操作日志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登录日志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知识库管理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完整知识生命周期管理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创建知识库 — 名称、分块策略、语言配置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上传文档 — 支持PDF/Word/Excel/TXT/图片等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自动解析 — 智能分块、元数据标注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质量检查 — 预览分块、编辑调整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绑定助手 — 关联知识库到对话助手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持续维护 — 追加文档、重新解析、更新知识</a:t>
            </a:r>
            <a:endParaRPr lang="en-US" sz="1200" dirty="0"/>
          </a:p>
        </p:txBody>
      </p:sp>
      <p:pic>
        <p:nvPicPr>
          <p:cNvPr id="5" name="Image 0" descr="E:\ccode\KnovaQ\docs\output\images\screenshots_v6\v6_03_kb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188720"/>
            <a:ext cx="54864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02920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主题知识库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900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65760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测试文件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40080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嵌入模型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0" y="51206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9144000" y="5669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Rerank模型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智能问答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核心对话能力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多轮上下文对话 — 自动维护会话上下文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流式响应(SSE) — 逐字输出，实时显示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引用溯源 — 标注知识来源文档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助手管理 — 创建/编辑/删除/配置提示词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Rerank重排序 — 提升检索精度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混合检索 — 向量+关键词多特征融合</a:t>
            </a:r>
            <a:endParaRPr lang="en-US" sz="1200" dirty="0"/>
          </a:p>
        </p:txBody>
      </p:sp>
      <p:pic>
        <p:nvPicPr>
          <p:cNvPr id="5" name="Image 0" descr="E:\ccode\KnovaQ\docs\output\images\screenshots_v6\v6_05_assistant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188720"/>
            <a:ext cx="54864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502920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5212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端到端流程: 用户提问 → 提示词工程构建请求 → RAG混合检索知识片段 → LLM生成回答 → 流式返回+引用标注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故障溯源与维修管理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48640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故障溯源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基于知识库的智能故障诊断</a:t>
            </a:r>
            <a:endParaRPr lang="en-US" sz="1100" dirty="0"/>
          </a:p>
        </p:txBody>
      </p:sp>
      <p:pic>
        <p:nvPicPr>
          <p:cNvPr id="6" name="Image 0" descr="E:\ccode\KnovaQ\docs\output\images\screenshots_v6\v6_08_fault_trac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94560"/>
            <a:ext cx="4937760" cy="274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120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输入故障现象 → 智能检索 → 根因分析 → 处置建议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1188720"/>
            <a:ext cx="5303520" cy="5029200"/>
          </a:xfrm>
          <a:prstGeom prst="roundRect">
            <a:avLst>
              <a:gd name="adj" fmla="val 2727"/>
            </a:avLst>
          </a:prstGeom>
          <a:solidFill>
            <a:srgbClr val="F0F4F8"/>
          </a:solidFill>
          <a:ln w="25400">
            <a:solidFill>
              <a:srgbClr val="415A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280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15A7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维修管理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67512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供应商管理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维护维修服务商信息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67512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备件库存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67512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备件登记、库存查询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67512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维修记录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675120" y="4069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完整维修历史档案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67512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统计分析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67512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维修频次、常见故障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测试验证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00400" cy="22860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96.5%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测试通过率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110/114 通过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188720"/>
          <a:ext cx="7772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463040"/>
                <a:gridCol w="914400"/>
                <a:gridCol w="914400"/>
                <a:gridCol w="914400"/>
                <a:gridCol w="9144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测试集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失败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跳过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错误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功能测试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问题验证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全覆盖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交互测试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业务逻辑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Bug验证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Suite 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KB Pipeline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合计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31920"/>
            <a:ext cx="10972800" cy="2286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关键结论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48056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所有4个FAIL根因均为同一问题：ragflow文档解析worker卡在RUNNING状态，非代码逻辑缺陷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Suite C全覆盖测试 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63/63全部通过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维修、备件、用户、系统管理等业务逻辑零缺陷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Suite D交互测试 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12/12全部通过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12个ragflow代理API接口全部正常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Bug修复验证 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6个已修复Bug全部验证通过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问题修复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0972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5029200"/>
                <a:gridCol w="50292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问题描述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修复方案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知识库检索历史记录不显示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Session持久化修复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文档上传部分格式失败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7种格式全支持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文档解析卡在RUNNING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ragflow worker待排查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Rerank模型下拉框空白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4个模型可用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新增助手提交报错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dataset_ids格式修复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文件分类搜索不支持中文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API中文处理修复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嵌入模型下拉框空白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12个模型可用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布局溢出无滚动条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6个页面overflow修复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5029200"/>
            <a:ext cx="1097280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52120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本轮修复总结：6个Bug已修复验证通过 · 1个ragflow解析问题待排查 · 6个页面布局溢出问题已修复 · 累计8轮迭代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离线部署方案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13716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1417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传输交付包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U盘/内网传输离线镜像包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645920"/>
            <a:ext cx="27432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3716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17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7432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加载镜像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offline-load.sh 自动加载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645920"/>
            <a:ext cx="27432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0" y="13716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1417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0292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配置环境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编辑 .env 端口/密码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645920"/>
            <a:ext cx="27432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8" name="Shape 16"/>
          <p:cNvSpPr/>
          <p:nvPr/>
        </p:nvSpPr>
        <p:spPr>
          <a:xfrm>
            <a:off x="7955280" y="13716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1417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3152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启动系统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start.sh 一键启动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235440" y="1645920"/>
            <a:ext cx="27432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41280" y="13716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0" y="14173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9601200" y="2468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验证运行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0" y="28346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ps + 浏览器访问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657600"/>
            <a:ext cx="10972800" cy="2286000"/>
          </a:xfrm>
          <a:prstGeom prst="roundRect">
            <a:avLst>
              <a:gd name="adj" fmla="val 4000"/>
            </a:avLst>
          </a:prstGeom>
          <a:solidFill>
            <a:srgbClr val="F0F4F8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部署要求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206240"/>
          <a:ext cx="10058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4114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A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最低配置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A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推荐配置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15A7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8核及以上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32GB及以上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硬盘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200GB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500GB SSD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网络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局域网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千兆局域网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软件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24.0+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+ Compose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下一步计划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415A77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解决解析问题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排查ragflow worker解析卡在RUNNING的根因，优化解析性能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415A7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828800" y="269748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UI优化完善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31089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修复剩余页面布局问题，优化移动端适配，统一交互体验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84048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415A7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9776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828800" y="39319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功能增强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828800" y="43434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文件搜索API完善、文件下载预览优化、数据集分页改进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515600" cy="1005840"/>
          </a:xfrm>
          <a:prstGeom prst="roundRect">
            <a:avLst>
              <a:gd name="adj" fmla="val 9091"/>
            </a:avLst>
          </a:prstGeom>
          <a:solidFill>
            <a:srgbClr val="415A7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212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828800" y="516636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安全加固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828800" y="55778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密码策略强化、操作审计增强、数据备份恢复机制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感谢聆听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DARPA智能问答服务工具 V6.0 项目汇报</dc:subject>
  <dc:creator>DARPA-IQAS Team</dc:creator>
  <cp:lastModifiedBy>DARPA-IQAS Team</cp:lastModifiedBy>
  <cp:revision>1</cp:revision>
  <dcterms:created xsi:type="dcterms:W3CDTF">2026-06-11T02:55:32Z</dcterms:created>
  <dcterms:modified xsi:type="dcterms:W3CDTF">2026-06-11T02:55:32Z</dcterms:modified>
</cp:coreProperties>
</file>