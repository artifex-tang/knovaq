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专家好，我是本次项目汇报人。今天向大家汇报DARPA智能问答服务工具的开发成果。本系统是研究内容四的核心交付物，联合军事科学院军事科学信息研究中心共同研发。系统采用"外挂知识库—RAG检索增强—交互式提示"三级架构设计，所有服务完全离线运行。</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ARPA-IQAS面向DARPA国防高级研究计划局相关领域的军事文档智能问答场景，突破多源异构数据整合瓶颈。系统有三大核心特性：完全离线运行、本地大模型推理、三级架构解耦。目前已通过64条自动化测试用例验证，综合通过率92%。技术栈基于ragflow v0.18.0、GLM-9B本地LLM、Spring Boot、Vue 3等成熟框架。</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系统采用三级架构分层解耦设计。第一级M1外挂知识库负责军事文档的深度加工，包括文档解析、智能分块和元数据标注。第二级M2 RAG检索增强基于ragflow框架进行领域适配，提供向量检索、混合检索、语义重排序等能力。第三级M3交互式提示词工程通过动态模板引擎实现用户意图与文档知识的精准对齐。三级之间通过标准化接口交互，各层独立可扩展。</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系统分为四层：用户交互层包括Vue 3前端和Nginx反向代理；应用服务层包括Spring Boot业务服务和ragflow RAG引擎以及GLM-9B本地LLM；数据存储层包括MySQL、Elasticsearch、Redis和MinIO；基础设施层基于Docker Compose容器编排，支持离线镜像包交付。</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系统采用Docker Compose单机编排，7个服务容器共享ragflow桥接网络。部署流程支持完全离线：在联网环境拉取镜像并导出tar包，通过USB传输到目标环境，加载后一键启动。所有服务配置restart策略，主机重启后自动恢复。</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大模块各包含6-7项核心功能。M1负责知识库CRUD、文档上传解析、智能分块等；M2负责向量检索、混合检索、重排序、知识图谱等；M3负责助手管理、提示词配置、多轮对话、流式响应、引用溯源等。底部是集成部署基础设施，包括JWT认证、离线部署、多客户隔离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完整数据链路分两个阶段：知识入库阶段，文档经过上传、解析、分块、向量索引后形成可检索的知识库；查询阶段，用户提问经预处理后进入混合检索，检索结果经重排序后组装为结构化提示词，送入GLM-9B本地推理生成回答，回答附带引用溯源返回给用户。全链路数据在本地闭环。</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1模块的核心能力覆盖军事文档处理全流程：支持PDF/Word/Excel等6种格式的文档上传；内置版面分析、表格提取、OCR等深度解析能力；提供通用/手册/Q&amp;A等6种分块策略；自动标注文档元数据。右侧展示了知识库管理界面的实际运行效果。</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M2模块基于ragflow v0.18.0进行领域适配。核心能力包括：基于Embedding的向量语义检索、向量+关键词双路混合检索、相似度阈值动态调节、语义重排序、GraphRAG知识图谱辅助检索以及中英文跨语言检索。右侧展示了知识检索界面的实际运行效果。</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3模块负责将检索结果与用户意图精准对齐。支持创建专属AI助手并配置系统提示词，多轮对话保持上下文连贯，SSE流式响应提升交互体验，回答附带来源文档引用可追溯验证。右侧展示了智能问答界面的实际运行效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系统接口分为外部接口和内部接口。外部接口包括：用户通过HTTP/HTTPS访问前端界面，管理员通过REST API管理后端，知识工程师通过RAG管理界面管理知识库。内部接口包括gaisoft-server与ragflow-server之间的API调用，以及各服务与MySQL、ES、Redis、MinIO之间的数据接口。所有接口通过JWT Token认证保护。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里展示了系统的6个主要功能页面：用户登录页采用简洁的账号密码认证；系统首页提供功能导航；智能问答页支持自然语言提问和流式回答；配置助理页管理AI助手；模型管理页配置LLM模型；参数设置页调节系统参数。</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测试验证覆盖6大模块共64条自动化测试用例，综合通过率92%。其中身份认证测试100%通过，M3交互式测试92%通过，UI端到端测试93%通过。测试采用pytest+Playwright框架，Allure生成详细报告。5条待优化用例已定位根因。</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项目已成功交付DARPA智能问答服务工具V1.0，完成三级架构系统开发、离线容器化部署、本地LLM集成等核心目标。交付物包括完整的文档体系、离线镜像包、自动化测试套件和部署运维脚本。感谢各位专家的聆听，敬请批评指正。</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dc4ef4ae29158a1.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1225c6eaed4cd39.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04e8e738d435d0e.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ec7d9e57c7e385a.png"/>
  <Relationship Id="rId3" Type="http://schemas.openxmlformats.org/officeDocument/2006/relationships/image" Target="../media/image_2cc85fd2f3597807.png"/>
  <Relationship Id="rId4" Type="http://schemas.openxmlformats.org/officeDocument/2006/relationships/image" Target="../media/image_504e8e738d435d0e.png"/>
  <Relationship Id="rId5" Type="http://schemas.openxmlformats.org/officeDocument/2006/relationships/image" Target="../media/image_f10dc8e2b1c6e3bf.png"/>
  <Relationship Id="rId6" Type="http://schemas.openxmlformats.org/officeDocument/2006/relationships/image" Target="../media/image_8b63461f92e97248.png"/>
  <Relationship Id="rId7" Type="http://schemas.openxmlformats.org/officeDocument/2006/relationships/image" Target="../media/image_b62547ddc03704f1.png"/>
  <Relationship Id="rId8"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F1A3E"/>
              </a:gs>
              <a:gs pos="100000">
                <a:srgbClr val="1E2761"/>
              </a:gs>
            </a:gsLst>
            <a:lin ang="2700000" scaled="1"/>
          </a:gradFill>
          <a:ln>
            <a:noFill/>
          </a:ln>
        </p:spPr>
      </p:sp>
      <p:sp>
        <p:nvSpPr>
          <p:cNvPr id="3" name="Rectangle 3"/>
          <p:cNvSpPr/>
          <p:nvPr/>
        </p:nvSpPr>
        <p:spPr>
          <a:xfrm>
            <a:off x="0" y="0"/>
            <a:ext cx="12192000" cy="6858000"/>
          </a:xfrm>
          <a:prstGeom prst="rect">
            <a:avLst/>
          </a:prstGeom>
          <a:gradFill>
            <a:gsLst>
              <a:gs pos="0">
                <a:srgbClr val="4A7BF7">
                  <a:alpha val="12000"/>
                </a:srgbClr>
              </a:gs>
              <a:gs pos="100000">
                <a:srgbClr val="4A7BF7">
                  <a:alpha val="0"/>
                </a:srgbClr>
              </a:gs>
            </a:gsLst>
            <a:path path="circle">
              <a:fillToRect l="50000" t="50000" r="50000" b="50000"/>
            </a:path>
          </a:gradFill>
          <a:ln>
            <a:noFill/>
          </a:ln>
        </p:spPr>
      </p:sp>
      <p:sp>
        <p:nvSpPr>
          <p:cNvPr id="4" name="Rectangle 4"/>
          <p:cNvSpPr/>
          <p:nvPr/>
        </p:nvSpPr>
        <p:spPr>
          <a:xfrm>
            <a:off x="0" y="0"/>
            <a:ext cx="76200" cy="6858000"/>
          </a:xfrm>
          <a:prstGeom prst="rect">
            <a:avLst/>
          </a:prstGeom>
          <a:solidFill>
            <a:srgbClr val="2DD4A8"/>
          </a:solidFill>
          <a:ln>
            <a:noFill/>
          </a:ln>
        </p:spPr>
      </p:sp>
      <p:sp>
        <p:nvSpPr>
          <p:cNvPr id="5" name="TextBox 5"/>
          <p:cNvSpPr txBox="1"/>
          <p:nvPr/>
        </p:nvSpPr>
        <p:spPr>
          <a:xfrm>
            <a:off x="613410" y="1451610"/>
            <a:ext cx="6428470" cy="853440"/>
          </a:xfrm>
          <a:prstGeom prst="rect">
            <a:avLst/>
          </a:prstGeom>
          <a:noFill/>
          <a:ln>
            <a:noFill/>
          </a:ln>
        </p:spPr>
        <p:txBody>
          <a:bodyPr wrap="none" lIns="0" tIns="0" rIns="0" bIns="0" anchor="t" anchorCtr="0">
            <a:spAutoFit/>
          </a:bodyPr>
          <a:lstStyle/>
          <a:p>
            <a:pPr algn="l"/>
            <a:r>
              <a:rPr lang="zh-CN" sz="4200" b="1" dirty="0">
                <a:solidFill>
                  <a:srgbClr val="FFFFFF"/>
                </a:solidFill>
                <a:latin typeface="Segoe UI"/>
                <a:ea typeface="SimHei"/>
                <a:cs typeface="Segoe UI"/>
              </a:rPr>
              <a:t>DARPA智能问答服务工具</a:t>
            </a:r>
          </a:p>
        </p:txBody>
      </p:sp>
      <p:sp>
        <p:nvSpPr>
          <p:cNvPr id="6" name="TextBox 6"/>
          <p:cNvSpPr txBox="1"/>
          <p:nvPr/>
        </p:nvSpPr>
        <p:spPr>
          <a:xfrm>
            <a:off x="636270" y="2217420"/>
            <a:ext cx="2732494" cy="487680"/>
          </a:xfrm>
          <a:prstGeom prst="rect">
            <a:avLst/>
          </a:prstGeom>
          <a:noFill/>
          <a:ln>
            <a:noFill/>
          </a:ln>
        </p:spPr>
        <p:txBody>
          <a:bodyPr wrap="none" lIns="0" tIns="0" rIns="0" bIns="0" anchor="t" anchorCtr="0">
            <a:spAutoFit/>
          </a:bodyPr>
          <a:lstStyle/>
          <a:p>
            <a:pPr algn="l"/>
            <a:r>
              <a:rPr lang="zh-CN" sz="2400" b="1" dirty="0">
                <a:solidFill>
                  <a:srgbClr val="2DD4A8"/>
                </a:solidFill>
                <a:latin typeface="Arial"/>
                <a:ea typeface="Microsoft YaHei"/>
                <a:cs typeface="Arial"/>
              </a:rPr>
              <a:t>DARPA-IQAS V1.0</a:t>
            </a:r>
          </a:p>
        </p:txBody>
      </p:sp>
      <p:sp>
        <p:nvSpPr>
          <p:cNvPr id="7" name="Rectangle 7"/>
          <p:cNvSpPr/>
          <p:nvPr/>
        </p:nvSpPr>
        <p:spPr>
          <a:xfrm>
            <a:off x="666750" y="2714625"/>
            <a:ext cx="2857500" cy="38100"/>
          </a:xfrm>
          <a:prstGeom prst="rect">
            <a:avLst/>
          </a:prstGeom>
          <a:solidFill>
            <a:srgbClr val="2DD4A8"/>
          </a:solidFill>
          <a:ln>
            <a:noFill/>
          </a:ln>
        </p:spPr>
      </p:sp>
      <p:sp>
        <p:nvSpPr>
          <p:cNvPr id="8" name="TextBox 8"/>
          <p:cNvSpPr txBox="1"/>
          <p:nvPr/>
        </p:nvSpPr>
        <p:spPr>
          <a:xfrm>
            <a:off x="643890" y="2948940"/>
            <a:ext cx="1005840" cy="365760"/>
          </a:xfrm>
          <a:prstGeom prst="rect">
            <a:avLst/>
          </a:prstGeom>
          <a:noFill/>
          <a:ln>
            <a:noFill/>
          </a:ln>
        </p:spPr>
        <p:txBody>
          <a:bodyPr wrap="none" lIns="0" tIns="0" rIns="0" bIns="0" anchor="t" anchorCtr="0">
            <a:spAutoFit/>
          </a:bodyPr>
          <a:lstStyle/>
          <a:p>
            <a:pPr algn="l"/>
            <a:r>
              <a:rPr lang="zh-CN" sz="1800" dirty="0">
                <a:solidFill>
                  <a:srgbClr val="CADCFC"/>
                </a:solidFill>
                <a:latin typeface="Arial"/>
                <a:ea typeface="Microsoft YaHei"/>
                <a:cs typeface="Arial"/>
              </a:rPr>
              <a:t>项目汇报</a:t>
            </a:r>
          </a:p>
        </p:txBody>
      </p:sp>
      <p:sp>
        <p:nvSpPr>
          <p:cNvPr id="9" name="TextBox 9"/>
          <p:cNvSpPr txBox="1"/>
          <p:nvPr/>
        </p:nvSpPr>
        <p:spPr>
          <a:xfrm>
            <a:off x="649605" y="3759518"/>
            <a:ext cx="3535728" cy="274320"/>
          </a:xfrm>
          <a:prstGeom prst="rect">
            <a:avLst/>
          </a:prstGeom>
          <a:noFill/>
          <a:ln>
            <a:noFill/>
          </a:ln>
        </p:spPr>
        <p:txBody>
          <a:bodyPr wrap="none" lIns="0" tIns="0" rIns="0" bIns="0" anchor="t" anchorCtr="0">
            <a:spAutoFit/>
          </a:bodyPr>
          <a:lstStyle/>
          <a:p>
            <a:pPr algn="l"/>
            <a:r>
              <a:rPr lang="zh-CN" sz="1350" dirty="0">
                <a:solidFill>
                  <a:srgbClr val="94A3B8"/>
                </a:solidFill>
                <a:latin typeface="Arial"/>
                <a:ea typeface="Microsoft YaHei"/>
                <a:cs typeface="Arial"/>
              </a:rPr>
              <a:t>研究内容四 —— DARPA智能问答服务工具开发</a:t>
            </a:r>
          </a:p>
        </p:txBody>
      </p:sp>
      <p:sp>
        <p:nvSpPr>
          <p:cNvPr id="10" name="TextBox 10"/>
          <p:cNvSpPr txBox="1"/>
          <p:nvPr/>
        </p:nvSpPr>
        <p:spPr>
          <a:xfrm>
            <a:off x="649605" y="4092892"/>
            <a:ext cx="2734628" cy="274320"/>
          </a:xfrm>
          <a:prstGeom prst="rect">
            <a:avLst/>
          </a:prstGeom>
          <a:noFill/>
          <a:ln>
            <a:noFill/>
          </a:ln>
        </p:spPr>
        <p:txBody>
          <a:bodyPr wrap="none" lIns="0" tIns="0" rIns="0" bIns="0" anchor="t" anchorCtr="0">
            <a:spAutoFit/>
          </a:bodyPr>
          <a:lstStyle/>
          <a:p>
            <a:pPr algn="l"/>
            <a:r>
              <a:rPr lang="zh-CN" sz="1350" dirty="0">
                <a:solidFill>
                  <a:srgbClr val="94A3B8"/>
                </a:solidFill>
                <a:latin typeface="Arial"/>
                <a:ea typeface="Microsoft YaHei"/>
                <a:cs typeface="Arial"/>
              </a:rPr>
              <a:t>军事科学院军事科学信息研究中心</a:t>
            </a:r>
          </a:p>
        </p:txBody>
      </p:sp>
      <p:sp>
        <p:nvSpPr>
          <p:cNvPr id="11" name="TextBox 11"/>
          <p:cNvSpPr txBox="1"/>
          <p:nvPr/>
        </p:nvSpPr>
        <p:spPr>
          <a:xfrm>
            <a:off x="651510" y="4442460"/>
            <a:ext cx="790575"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2026年6月</a:t>
            </a:r>
          </a:p>
        </p:txBody>
      </p:sp>
      <p:sp>
        <p:nvSpPr>
          <p:cNvPr id="12" name="Rectangle 12"/>
          <p:cNvSpPr/>
          <p:nvPr/>
        </p:nvSpPr>
        <p:spPr>
          <a:xfrm>
            <a:off x="7810500" y="1428750"/>
            <a:ext cx="3619500" cy="1143000"/>
          </a:xfrm>
          <a:prstGeom prst="roundRect">
            <a:avLst>
              <a:gd name="adj" fmla="val 6667"/>
            </a:avLst>
          </a:prstGeom>
          <a:solidFill>
            <a:srgbClr val="4A7BF7">
              <a:alpha val="25000"/>
            </a:srgbClr>
          </a:solidFill>
          <a:ln w="14288">
            <a:solidFill>
              <a:srgbClr val="4A7BF7"/>
            </a:solidFill>
          </a:ln>
        </p:spPr>
      </p:sp>
      <p:sp>
        <p:nvSpPr>
          <p:cNvPr id="13" name="TextBox 13"/>
          <p:cNvSpPr txBox="1"/>
          <p:nvPr/>
        </p:nvSpPr>
        <p:spPr>
          <a:xfrm>
            <a:off x="8593074" y="1695450"/>
            <a:ext cx="205435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SimHei"/>
                <a:cs typeface="Segoe UI"/>
              </a:rPr>
              <a:t>M3 交互式提示词工程</a:t>
            </a:r>
          </a:p>
        </p:txBody>
      </p:sp>
      <p:sp>
        <p:nvSpPr>
          <p:cNvPr id="14" name="TextBox 14"/>
          <p:cNvSpPr txBox="1"/>
          <p:nvPr/>
        </p:nvSpPr>
        <p:spPr>
          <a:xfrm>
            <a:off x="8395764" y="2029778"/>
            <a:ext cx="2448973" cy="213360"/>
          </a:xfrm>
          <a:prstGeom prst="rect">
            <a:avLst/>
          </a:prstGeom>
          <a:noFill/>
          <a:ln>
            <a:noFill/>
          </a:ln>
        </p:spPr>
        <p:txBody>
          <a:bodyPr wrap="none" lIns="0" tIns="0" rIns="0" bIns="0" anchor="t" anchorCtr="0">
            <a:spAutoFit/>
          </a:bodyPr>
          <a:lstStyle/>
          <a:p>
            <a:pPr algn="ctr"/>
            <a:r>
              <a:rPr lang="zh-CN" sz="1050" dirty="0">
                <a:solidFill>
                  <a:srgbClr val="CADCFC"/>
                </a:solidFill>
                <a:latin typeface="Arial"/>
                <a:ea typeface="Microsoft YaHei"/>
                <a:cs typeface="Arial"/>
              </a:rPr>
              <a:t>动态模板 · 结构化约束 · 用户意图对齐</a:t>
            </a:r>
          </a:p>
        </p:txBody>
      </p:sp>
      <p:sp>
        <p:nvSpPr>
          <p:cNvPr id="15" name="Line 15"/>
          <p:cNvSpPr/>
          <p:nvPr/>
        </p:nvSpPr>
        <p:spPr>
          <a:xfrm>
            <a:off x="9620250" y="2571750"/>
            <a:ext cx="1" cy="285750"/>
          </a:xfrm>
          <a:prstGeom prst="line">
            <a:avLst/>
          </a:prstGeom>
          <a:noFill/>
          <a:ln w="19050">
            <a:solidFill>
              <a:srgbClr val="2DD4A8"/>
            </a:solidFill>
            <a:tailEnd type="triangle" w="lg" len="lg"/>
          </a:ln>
        </p:spPr>
      </p:sp>
      <p:sp>
        <p:nvSpPr>
          <p:cNvPr id="16" name="Rectangle 16"/>
          <p:cNvSpPr/>
          <p:nvPr/>
        </p:nvSpPr>
        <p:spPr>
          <a:xfrm>
            <a:off x="7810500" y="2952750"/>
            <a:ext cx="3619500" cy="1143000"/>
          </a:xfrm>
          <a:prstGeom prst="roundRect">
            <a:avLst>
              <a:gd name="adj" fmla="val 6667"/>
            </a:avLst>
          </a:prstGeom>
          <a:solidFill>
            <a:srgbClr val="2DD4A8">
              <a:alpha val="20000"/>
            </a:srgbClr>
          </a:solidFill>
          <a:ln w="14288">
            <a:solidFill>
              <a:srgbClr val="2DD4A8"/>
            </a:solidFill>
          </a:ln>
        </p:spPr>
      </p:sp>
      <p:sp>
        <p:nvSpPr>
          <p:cNvPr id="17" name="TextBox 17"/>
          <p:cNvSpPr txBox="1"/>
          <p:nvPr/>
        </p:nvSpPr>
        <p:spPr>
          <a:xfrm>
            <a:off x="8839855" y="3219450"/>
            <a:ext cx="1560790"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SimHei"/>
                <a:cs typeface="Segoe UI"/>
              </a:rPr>
              <a:t>M2 RAG检索增强</a:t>
            </a:r>
          </a:p>
        </p:txBody>
      </p:sp>
      <p:sp>
        <p:nvSpPr>
          <p:cNvPr id="18" name="TextBox 18"/>
          <p:cNvSpPr txBox="1"/>
          <p:nvPr/>
        </p:nvSpPr>
        <p:spPr>
          <a:xfrm>
            <a:off x="8535781" y="3553778"/>
            <a:ext cx="2168938" cy="213360"/>
          </a:xfrm>
          <a:prstGeom prst="rect">
            <a:avLst/>
          </a:prstGeom>
          <a:noFill/>
          <a:ln>
            <a:noFill/>
          </a:ln>
        </p:spPr>
        <p:txBody>
          <a:bodyPr wrap="none" lIns="0" tIns="0" rIns="0" bIns="0" anchor="t" anchorCtr="0">
            <a:spAutoFit/>
          </a:bodyPr>
          <a:lstStyle/>
          <a:p>
            <a:pPr algn="ctr"/>
            <a:r>
              <a:rPr lang="zh-CN" sz="1050" dirty="0">
                <a:solidFill>
                  <a:srgbClr val="CADCFC"/>
                </a:solidFill>
                <a:latin typeface="Arial"/>
                <a:ea typeface="Microsoft YaHei"/>
                <a:cs typeface="Arial"/>
              </a:rPr>
              <a:t>向量检索 · 混合检索 · 语义重排序</a:t>
            </a:r>
          </a:p>
        </p:txBody>
      </p:sp>
      <p:sp>
        <p:nvSpPr>
          <p:cNvPr id="19" name="Line 19"/>
          <p:cNvSpPr/>
          <p:nvPr/>
        </p:nvSpPr>
        <p:spPr>
          <a:xfrm>
            <a:off x="9620250" y="4095750"/>
            <a:ext cx="1" cy="285750"/>
          </a:xfrm>
          <a:prstGeom prst="line">
            <a:avLst/>
          </a:prstGeom>
          <a:noFill/>
          <a:ln w="19050">
            <a:solidFill>
              <a:srgbClr val="2DD4A8"/>
            </a:solidFill>
            <a:tailEnd type="triangle" w="lg" len="lg"/>
          </a:ln>
        </p:spPr>
      </p:sp>
      <p:sp>
        <p:nvSpPr>
          <p:cNvPr id="20" name="Rectangle 20"/>
          <p:cNvSpPr/>
          <p:nvPr/>
        </p:nvSpPr>
        <p:spPr>
          <a:xfrm>
            <a:off x="7810500" y="4476750"/>
            <a:ext cx="3619500" cy="1143000"/>
          </a:xfrm>
          <a:prstGeom prst="roundRect">
            <a:avLst>
              <a:gd name="adj" fmla="val 6667"/>
            </a:avLst>
          </a:prstGeom>
          <a:solidFill>
            <a:srgbClr val="1E2761">
              <a:alpha val="60000"/>
            </a:srgbClr>
          </a:solidFill>
          <a:ln w="14288">
            <a:solidFill>
              <a:srgbClr val="64748B"/>
            </a:solidFill>
          </a:ln>
        </p:spPr>
      </p:sp>
      <p:sp>
        <p:nvSpPr>
          <p:cNvPr id="21" name="TextBox 21"/>
          <p:cNvSpPr txBox="1"/>
          <p:nvPr/>
        </p:nvSpPr>
        <p:spPr>
          <a:xfrm>
            <a:off x="8908113" y="4743450"/>
            <a:ext cx="1424273"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SimHei"/>
                <a:cs typeface="Segoe UI"/>
              </a:rPr>
              <a:t>M1 外挂知识库</a:t>
            </a:r>
          </a:p>
        </p:txBody>
      </p:sp>
      <p:sp>
        <p:nvSpPr>
          <p:cNvPr id="22" name="TextBox 22"/>
          <p:cNvSpPr txBox="1"/>
          <p:nvPr/>
        </p:nvSpPr>
        <p:spPr>
          <a:xfrm>
            <a:off x="8535781" y="5077778"/>
            <a:ext cx="2168938" cy="213360"/>
          </a:xfrm>
          <a:prstGeom prst="rect">
            <a:avLst/>
          </a:prstGeom>
          <a:noFill/>
          <a:ln>
            <a:noFill/>
          </a:ln>
        </p:spPr>
        <p:txBody>
          <a:bodyPr wrap="none" lIns="0" tIns="0" rIns="0" bIns="0" anchor="t" anchorCtr="0">
            <a:spAutoFit/>
          </a:bodyPr>
          <a:lstStyle/>
          <a:p>
            <a:pPr algn="ctr"/>
            <a:r>
              <a:rPr lang="zh-CN" sz="1050" dirty="0">
                <a:solidFill>
                  <a:srgbClr val="CADCFC"/>
                </a:solidFill>
                <a:latin typeface="Arial"/>
                <a:ea typeface="Microsoft YaHei"/>
                <a:cs typeface="Arial"/>
              </a:rPr>
              <a:t>文档解析 · 智能分块 · 元数据标注</a:t>
            </a:r>
          </a:p>
        </p:txBody>
      </p:sp>
      <p:sp>
        <p:nvSpPr>
          <p:cNvPr id="23" name="TextBox 23"/>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1 / 14</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229487"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项目概述</a:t>
            </a:r>
          </a:p>
        </p:txBody>
      </p:sp>
      <p:sp>
        <p:nvSpPr>
          <p:cNvPr id="5" name="TextBox 5"/>
          <p:cNvSpPr txBox="1"/>
          <p:nvPr/>
        </p:nvSpPr>
        <p:spPr>
          <a:xfrm>
            <a:off x="2177415" y="286702"/>
            <a:ext cx="1139809"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DARPA-IQAS V1.0</a:t>
            </a:r>
          </a:p>
        </p:txBody>
      </p:sp>
      <p:sp>
        <p:nvSpPr>
          <p:cNvPr id="6" name="Rectangle 6"/>
          <p:cNvSpPr/>
          <p:nvPr/>
        </p:nvSpPr>
        <p:spPr>
          <a:xfrm>
            <a:off x="381000" y="809625"/>
            <a:ext cx="5429250" cy="2476500"/>
          </a:xfrm>
          <a:prstGeom prst="roundRect">
            <a:avLst>
              <a:gd name="adj" fmla="val 3077"/>
            </a:avLst>
          </a:prstGeom>
          <a:solidFill>
            <a:srgbClr val="FFFFFF"/>
          </a:solidFill>
          <a:ln>
            <a:noFill/>
          </a:ln>
          <a:effectLst>
            <a:outerShdw blurRad="76200" dist="19050" dir="5400000" algn="ctr" rotWithShape="0">
              <a:srgbClr val="000000">
                <a:alpha val="6000"/>
              </a:srgbClr>
            </a:outerShdw>
          </a:effectLst>
        </p:spPr>
      </p:sp>
      <p:sp>
        <p:nvSpPr>
          <p:cNvPr id="7" name="Rectangle 7"/>
          <p:cNvSpPr/>
          <p:nvPr/>
        </p:nvSpPr>
        <p:spPr>
          <a:xfrm>
            <a:off x="381000" y="809625"/>
            <a:ext cx="47625" cy="2476500"/>
          </a:xfrm>
          <a:prstGeom prst="rect">
            <a:avLst/>
          </a:prstGeom>
          <a:solidFill>
            <a:srgbClr val="1E2761"/>
          </a:solidFill>
          <a:ln>
            <a:noFill/>
          </a:ln>
        </p:spPr>
      </p:sp>
      <p:sp>
        <p:nvSpPr>
          <p:cNvPr id="8" name="TextBox 8"/>
          <p:cNvSpPr txBox="1"/>
          <p:nvPr/>
        </p:nvSpPr>
        <p:spPr>
          <a:xfrm>
            <a:off x="600075" y="981075"/>
            <a:ext cx="87820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系统定位</a:t>
            </a:r>
          </a:p>
        </p:txBody>
      </p:sp>
      <p:sp>
        <p:nvSpPr>
          <p:cNvPr id="9" name="TextBox 9"/>
          <p:cNvSpPr txBox="1"/>
          <p:nvPr/>
        </p:nvSpPr>
        <p:spPr>
          <a:xfrm>
            <a:off x="603885" y="1318260"/>
            <a:ext cx="4863084" cy="243840"/>
          </a:xfrm>
          <a:prstGeom prst="rect">
            <a:avLst/>
          </a:prstGeom>
          <a:noFill/>
          <a:ln>
            <a:noFill/>
          </a:ln>
        </p:spPr>
        <p:txBody>
          <a:bodyPr wrap="none" lIns="0" tIns="0" rIns="0" bIns="0" anchor="t" anchorCtr="0">
            <a:spAutoFit/>
          </a:bodyPr>
          <a:lstStyle/>
          <a:p>
            <a:pPr algn="l"/>
            <a:r>
              <a:rPr lang="zh-CN" sz="1200" dirty="0">
                <a:solidFill>
                  <a:srgbClr val="1E293B"/>
                </a:solidFill>
                <a:latin typeface="Arial"/>
                <a:ea typeface="Microsoft YaHei"/>
                <a:cs typeface="Arial"/>
              </a:rPr>
              <a:t>DARPA智能问答服务工具（DARPA-IQAS）是研究内容四的核心成果，</a:t>
            </a:r>
          </a:p>
        </p:txBody>
      </p:sp>
      <p:sp>
        <p:nvSpPr>
          <p:cNvPr id="10" name="TextBox 10"/>
          <p:cNvSpPr txBox="1"/>
          <p:nvPr/>
        </p:nvSpPr>
        <p:spPr>
          <a:xfrm>
            <a:off x="603885" y="1546860"/>
            <a:ext cx="4791075" cy="243840"/>
          </a:xfrm>
          <a:prstGeom prst="rect">
            <a:avLst/>
          </a:prstGeom>
          <a:noFill/>
          <a:ln>
            <a:noFill/>
          </a:ln>
        </p:spPr>
        <p:txBody>
          <a:bodyPr wrap="none" lIns="0" tIns="0" rIns="0" bIns="0" anchor="t" anchorCtr="0">
            <a:spAutoFit/>
          </a:bodyPr>
          <a:lstStyle/>
          <a:p>
            <a:pPr algn="l"/>
            <a:r>
              <a:rPr lang="zh-CN" sz="1200" dirty="0">
                <a:solidFill>
                  <a:srgbClr val="1E293B"/>
                </a:solidFill>
                <a:latin typeface="Arial"/>
                <a:ea typeface="Microsoft YaHei"/>
                <a:cs typeface="Arial"/>
              </a:rPr>
              <a:t>面向DARPA国防高级研究计划局相关领域的军事文档智能问答场景。</a:t>
            </a:r>
          </a:p>
        </p:txBody>
      </p:sp>
      <p:sp>
        <p:nvSpPr>
          <p:cNvPr id="11" name="TextBox 11"/>
          <p:cNvSpPr txBox="1"/>
          <p:nvPr/>
        </p:nvSpPr>
        <p:spPr>
          <a:xfrm>
            <a:off x="604838" y="1878806"/>
            <a:ext cx="4379119" cy="228600"/>
          </a:xfrm>
          <a:prstGeom prst="rect">
            <a:avLst/>
          </a:prstGeom>
          <a:noFill/>
          <a:ln>
            <a:noFill/>
          </a:ln>
        </p:spPr>
        <p:txBody>
          <a:bodyPr wrap="none" lIns="0" tIns="0" rIns="0" bIns="0" anchor="t" anchorCtr="0">
            <a:spAutoFit/>
          </a:bodyPr>
          <a:lstStyle/>
          <a:p>
            <a:pPr algn="l"/>
            <a:r>
              <a:rPr lang="zh-CN" sz="1125" dirty="0">
                <a:solidFill>
                  <a:srgbClr val="1E293B"/>
                </a:solidFill>
                <a:latin typeface="Arial"/>
                <a:ea typeface="Microsoft YaHei"/>
                <a:cs typeface="Arial"/>
              </a:rPr>
              <a:t>突破多源异构数据整合瓶颈，融合结构化知识管理与检索增强生成</a:t>
            </a:r>
          </a:p>
        </p:txBody>
      </p:sp>
      <p:sp>
        <p:nvSpPr>
          <p:cNvPr id="12" name="TextBox 12"/>
          <p:cNvSpPr txBox="1"/>
          <p:nvPr/>
        </p:nvSpPr>
        <p:spPr>
          <a:xfrm>
            <a:off x="604838" y="2107406"/>
            <a:ext cx="4176593" cy="228600"/>
          </a:xfrm>
          <a:prstGeom prst="rect">
            <a:avLst/>
          </a:prstGeom>
          <a:noFill/>
          <a:ln>
            <a:noFill/>
          </a:ln>
        </p:spPr>
        <p:txBody>
          <a:bodyPr wrap="none" lIns="0" tIns="0" rIns="0" bIns="0" anchor="t" anchorCtr="0">
            <a:spAutoFit/>
          </a:bodyPr>
          <a:lstStyle/>
          <a:p>
            <a:pPr algn="l"/>
            <a:r>
              <a:rPr lang="zh-CN" sz="1125" dirty="0">
                <a:solidFill>
                  <a:srgbClr val="1E293B"/>
                </a:solidFill>
                <a:latin typeface="Arial"/>
                <a:ea typeface="Microsoft YaHei"/>
                <a:cs typeface="Arial"/>
              </a:rPr>
              <a:t>技术（RAG），打造高精度领域适应能力的离线智能问答系统。</a:t>
            </a:r>
          </a:p>
        </p:txBody>
      </p:sp>
      <p:sp>
        <p:nvSpPr>
          <p:cNvPr id="13" name="Rectangle 13"/>
          <p:cNvSpPr/>
          <p:nvPr/>
        </p:nvSpPr>
        <p:spPr>
          <a:xfrm>
            <a:off x="619125" y="2476500"/>
            <a:ext cx="1524000" cy="619125"/>
          </a:xfrm>
          <a:prstGeom prst="roundRect">
            <a:avLst>
              <a:gd name="adj" fmla="val 9231"/>
            </a:avLst>
          </a:prstGeom>
          <a:solidFill>
            <a:srgbClr val="E0E7FF"/>
          </a:solidFill>
          <a:ln>
            <a:noFill/>
          </a:ln>
        </p:spPr>
      </p:sp>
      <p:sp>
        <p:nvSpPr>
          <p:cNvPr id="14" name="TextBox 14"/>
          <p:cNvSpPr txBox="1"/>
          <p:nvPr/>
        </p:nvSpPr>
        <p:spPr>
          <a:xfrm>
            <a:off x="1265914" y="2471738"/>
            <a:ext cx="230422" cy="457200"/>
          </a:xfrm>
          <a:prstGeom prst="rect">
            <a:avLst/>
          </a:prstGeom>
          <a:noFill/>
          <a:ln>
            <a:noFill/>
          </a:ln>
        </p:spPr>
        <p:txBody>
          <a:bodyPr wrap="none" lIns="0" tIns="0" rIns="0" bIns="0" anchor="t" anchorCtr="0">
            <a:spAutoFit/>
          </a:bodyPr>
          <a:lstStyle/>
          <a:p>
            <a:pPr algn="ctr"/>
            <a:r>
              <a:rPr lang="zh-CN" sz="2250" b="1" dirty="0">
                <a:solidFill>
                  <a:srgbClr val="1E2761"/>
                </a:solidFill>
                <a:latin typeface="Segoe UI"/>
                <a:ea typeface="SimHei"/>
                <a:cs typeface="Segoe UI"/>
              </a:rPr>
              <a:t>3</a:t>
            </a:r>
          </a:p>
        </p:txBody>
      </p:sp>
      <p:sp>
        <p:nvSpPr>
          <p:cNvPr id="15" name="TextBox 15"/>
          <p:cNvSpPr txBox="1"/>
          <p:nvPr/>
        </p:nvSpPr>
        <p:spPr>
          <a:xfrm>
            <a:off x="1108710" y="2847499"/>
            <a:ext cx="544830"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核心模块</a:t>
            </a:r>
          </a:p>
        </p:txBody>
      </p:sp>
      <p:sp>
        <p:nvSpPr>
          <p:cNvPr id="16" name="Rectangle 16"/>
          <p:cNvSpPr/>
          <p:nvPr/>
        </p:nvSpPr>
        <p:spPr>
          <a:xfrm>
            <a:off x="2333625" y="2476500"/>
            <a:ext cx="1524000" cy="619125"/>
          </a:xfrm>
          <a:prstGeom prst="roundRect">
            <a:avLst>
              <a:gd name="adj" fmla="val 9231"/>
            </a:avLst>
          </a:prstGeom>
          <a:solidFill>
            <a:srgbClr val="E0E7FF"/>
          </a:solidFill>
          <a:ln>
            <a:noFill/>
          </a:ln>
        </p:spPr>
      </p:sp>
      <p:sp>
        <p:nvSpPr>
          <p:cNvPr id="17" name="TextBox 17"/>
          <p:cNvSpPr txBox="1"/>
          <p:nvPr/>
        </p:nvSpPr>
        <p:spPr>
          <a:xfrm>
            <a:off x="2893778" y="2471738"/>
            <a:ext cx="403693" cy="457200"/>
          </a:xfrm>
          <a:prstGeom prst="rect">
            <a:avLst/>
          </a:prstGeom>
          <a:noFill/>
          <a:ln>
            <a:noFill/>
          </a:ln>
        </p:spPr>
        <p:txBody>
          <a:bodyPr wrap="none" lIns="0" tIns="0" rIns="0" bIns="0" anchor="t" anchorCtr="0">
            <a:spAutoFit/>
          </a:bodyPr>
          <a:lstStyle/>
          <a:p>
            <a:pPr algn="ctr"/>
            <a:r>
              <a:rPr lang="zh-CN" sz="2250" b="1" dirty="0">
                <a:solidFill>
                  <a:srgbClr val="1E2761"/>
                </a:solidFill>
                <a:latin typeface="Segoe UI"/>
                <a:ea typeface="SimHei"/>
                <a:cs typeface="Segoe UI"/>
              </a:rPr>
              <a:t>64</a:t>
            </a:r>
          </a:p>
        </p:txBody>
      </p:sp>
      <p:sp>
        <p:nvSpPr>
          <p:cNvPr id="18" name="TextBox 18"/>
          <p:cNvSpPr txBox="1"/>
          <p:nvPr/>
        </p:nvSpPr>
        <p:spPr>
          <a:xfrm>
            <a:off x="2823210" y="2847499"/>
            <a:ext cx="544830"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测试用例</a:t>
            </a:r>
          </a:p>
        </p:txBody>
      </p:sp>
      <p:sp>
        <p:nvSpPr>
          <p:cNvPr id="19" name="Rectangle 19"/>
          <p:cNvSpPr/>
          <p:nvPr/>
        </p:nvSpPr>
        <p:spPr>
          <a:xfrm>
            <a:off x="4048125" y="2476500"/>
            <a:ext cx="1524000" cy="619125"/>
          </a:xfrm>
          <a:prstGeom prst="roundRect">
            <a:avLst>
              <a:gd name="adj" fmla="val 9231"/>
            </a:avLst>
          </a:prstGeom>
          <a:solidFill>
            <a:srgbClr val="D1FAE5"/>
          </a:solidFill>
          <a:ln>
            <a:noFill/>
          </a:ln>
        </p:spPr>
      </p:sp>
      <p:sp>
        <p:nvSpPr>
          <p:cNvPr id="20" name="TextBox 20"/>
          <p:cNvSpPr txBox="1"/>
          <p:nvPr/>
        </p:nvSpPr>
        <p:spPr>
          <a:xfrm>
            <a:off x="4490139" y="2471738"/>
            <a:ext cx="639973" cy="457200"/>
          </a:xfrm>
          <a:prstGeom prst="rect">
            <a:avLst/>
          </a:prstGeom>
          <a:noFill/>
          <a:ln>
            <a:noFill/>
          </a:ln>
        </p:spPr>
        <p:txBody>
          <a:bodyPr wrap="none" lIns="0" tIns="0" rIns="0" bIns="0" anchor="t" anchorCtr="0">
            <a:spAutoFit/>
          </a:bodyPr>
          <a:lstStyle/>
          <a:p>
            <a:pPr algn="ctr"/>
            <a:r>
              <a:rPr lang="zh-CN" sz="2250" b="1" dirty="0">
                <a:solidFill>
                  <a:srgbClr val="059669"/>
                </a:solidFill>
                <a:latin typeface="Segoe UI"/>
                <a:ea typeface="SimHei"/>
                <a:cs typeface="Segoe UI"/>
              </a:rPr>
              <a:t>92%</a:t>
            </a:r>
          </a:p>
        </p:txBody>
      </p:sp>
      <p:sp>
        <p:nvSpPr>
          <p:cNvPr id="21" name="TextBox 21"/>
          <p:cNvSpPr txBox="1"/>
          <p:nvPr/>
        </p:nvSpPr>
        <p:spPr>
          <a:xfrm>
            <a:off x="4602718" y="2847499"/>
            <a:ext cx="414814"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通过率</a:t>
            </a:r>
          </a:p>
        </p:txBody>
      </p:sp>
      <p:sp>
        <p:nvSpPr>
          <p:cNvPr id="22" name="Rectangle 22"/>
          <p:cNvSpPr/>
          <p:nvPr/>
        </p:nvSpPr>
        <p:spPr>
          <a:xfrm>
            <a:off x="6096000" y="809625"/>
            <a:ext cx="5715000" cy="2476500"/>
          </a:xfrm>
          <a:prstGeom prst="roundRect">
            <a:avLst>
              <a:gd name="adj" fmla="val 3077"/>
            </a:avLst>
          </a:prstGeom>
          <a:solidFill>
            <a:srgbClr val="FFFFFF"/>
          </a:solidFill>
          <a:ln>
            <a:noFill/>
          </a:ln>
          <a:effectLst>
            <a:outerShdw blurRad="76200" dist="19050" dir="5400000" algn="ctr" rotWithShape="0">
              <a:srgbClr val="000000">
                <a:alpha val="6000"/>
              </a:srgbClr>
            </a:outerShdw>
          </a:effectLst>
        </p:spPr>
      </p:sp>
      <p:sp>
        <p:nvSpPr>
          <p:cNvPr id="23" name="Rectangle 23"/>
          <p:cNvSpPr/>
          <p:nvPr/>
        </p:nvSpPr>
        <p:spPr>
          <a:xfrm>
            <a:off x="6096000" y="809625"/>
            <a:ext cx="47625" cy="2476500"/>
          </a:xfrm>
          <a:prstGeom prst="rect">
            <a:avLst/>
          </a:prstGeom>
          <a:solidFill>
            <a:srgbClr val="2DD4A8"/>
          </a:solidFill>
          <a:ln>
            <a:noFill/>
          </a:ln>
        </p:spPr>
      </p:sp>
      <p:sp>
        <p:nvSpPr>
          <p:cNvPr id="24" name="TextBox 24"/>
          <p:cNvSpPr txBox="1"/>
          <p:nvPr/>
        </p:nvSpPr>
        <p:spPr>
          <a:xfrm>
            <a:off x="6315075" y="981075"/>
            <a:ext cx="87820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核心特性</a:t>
            </a:r>
          </a:p>
        </p:txBody>
      </p:sp>
      <p:sp>
        <p:nvSpPr>
          <p:cNvPr id="25" name="Rectangle 25"/>
          <p:cNvSpPr/>
          <p:nvPr/>
        </p:nvSpPr>
        <p:spPr>
          <a:xfrm>
            <a:off x="6334125" y="1333500"/>
            <a:ext cx="38100" cy="381000"/>
          </a:xfrm>
          <a:prstGeom prst="rect">
            <a:avLst/>
          </a:prstGeom>
          <a:solidFill>
            <a:srgbClr val="4A7BF7"/>
          </a:solidFill>
          <a:ln>
            <a:noFill/>
          </a:ln>
        </p:spPr>
      </p:sp>
      <p:sp>
        <p:nvSpPr>
          <p:cNvPr id="26" name="TextBox 26"/>
          <p:cNvSpPr txBox="1"/>
          <p:nvPr/>
        </p:nvSpPr>
        <p:spPr>
          <a:xfrm>
            <a:off x="6481762" y="1354931"/>
            <a:ext cx="97369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Segoe UI"/>
                <a:ea typeface="SimHei"/>
                <a:cs typeface="Segoe UI"/>
              </a:rPr>
              <a:t>完全离线运行</a:t>
            </a:r>
          </a:p>
        </p:txBody>
      </p:sp>
      <p:sp>
        <p:nvSpPr>
          <p:cNvPr id="27" name="TextBox 27"/>
          <p:cNvSpPr txBox="1"/>
          <p:nvPr/>
        </p:nvSpPr>
        <p:spPr>
          <a:xfrm>
            <a:off x="6483668" y="1542574"/>
            <a:ext cx="2449568"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Docker Compose容器化部署，无外网依赖</a:t>
            </a:r>
          </a:p>
        </p:txBody>
      </p:sp>
      <p:sp>
        <p:nvSpPr>
          <p:cNvPr id="28" name="Rectangle 28"/>
          <p:cNvSpPr/>
          <p:nvPr/>
        </p:nvSpPr>
        <p:spPr>
          <a:xfrm>
            <a:off x="6334125" y="1828800"/>
            <a:ext cx="38100" cy="381000"/>
          </a:xfrm>
          <a:prstGeom prst="rect">
            <a:avLst/>
          </a:prstGeom>
          <a:solidFill>
            <a:srgbClr val="4A7BF7"/>
          </a:solidFill>
          <a:ln>
            <a:noFill/>
          </a:ln>
        </p:spPr>
      </p:sp>
      <p:sp>
        <p:nvSpPr>
          <p:cNvPr id="29" name="TextBox 29"/>
          <p:cNvSpPr txBox="1"/>
          <p:nvPr/>
        </p:nvSpPr>
        <p:spPr>
          <a:xfrm>
            <a:off x="6481762" y="1850231"/>
            <a:ext cx="81617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Segoe UI"/>
                <a:ea typeface="SimHei"/>
                <a:cs typeface="Segoe UI"/>
              </a:rPr>
              <a:t>本地大模型</a:t>
            </a:r>
          </a:p>
        </p:txBody>
      </p:sp>
      <p:sp>
        <p:nvSpPr>
          <p:cNvPr id="30" name="TextBox 30"/>
          <p:cNvSpPr txBox="1"/>
          <p:nvPr/>
        </p:nvSpPr>
        <p:spPr>
          <a:xfrm>
            <a:off x="6483668" y="2037874"/>
            <a:ext cx="217003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智谱GLM-9B本地部署，保障数据安全</a:t>
            </a:r>
          </a:p>
        </p:txBody>
      </p:sp>
      <p:sp>
        <p:nvSpPr>
          <p:cNvPr id="31" name="Rectangle 31"/>
          <p:cNvSpPr/>
          <p:nvPr/>
        </p:nvSpPr>
        <p:spPr>
          <a:xfrm>
            <a:off x="6334125" y="2324100"/>
            <a:ext cx="38100" cy="381000"/>
          </a:xfrm>
          <a:prstGeom prst="rect">
            <a:avLst/>
          </a:prstGeom>
          <a:solidFill>
            <a:srgbClr val="4A7BF7"/>
          </a:solidFill>
          <a:ln>
            <a:noFill/>
          </a:ln>
        </p:spPr>
      </p:sp>
      <p:sp>
        <p:nvSpPr>
          <p:cNvPr id="32" name="TextBox 32"/>
          <p:cNvSpPr txBox="1"/>
          <p:nvPr/>
        </p:nvSpPr>
        <p:spPr>
          <a:xfrm>
            <a:off x="6481762" y="2345531"/>
            <a:ext cx="97369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Segoe UI"/>
                <a:ea typeface="SimHei"/>
                <a:cs typeface="Segoe UI"/>
              </a:rPr>
              <a:t>三级架构解耦</a:t>
            </a:r>
          </a:p>
        </p:txBody>
      </p:sp>
      <p:sp>
        <p:nvSpPr>
          <p:cNvPr id="33" name="TextBox 33"/>
          <p:cNvSpPr txBox="1"/>
          <p:nvPr/>
        </p:nvSpPr>
        <p:spPr>
          <a:xfrm>
            <a:off x="6483668" y="2533174"/>
            <a:ext cx="2365058"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知识库、检索增强、提示工程独立可扩展</a:t>
            </a:r>
          </a:p>
        </p:txBody>
      </p:sp>
      <p:sp>
        <p:nvSpPr>
          <p:cNvPr id="34" name="Rectangle 34"/>
          <p:cNvSpPr/>
          <p:nvPr/>
        </p:nvSpPr>
        <p:spPr>
          <a:xfrm>
            <a:off x="9144000" y="1333500"/>
            <a:ext cx="38100" cy="381000"/>
          </a:xfrm>
          <a:prstGeom prst="rect">
            <a:avLst/>
          </a:prstGeom>
          <a:solidFill>
            <a:srgbClr val="4A7BF7"/>
          </a:solidFill>
          <a:ln>
            <a:noFill/>
          </a:ln>
        </p:spPr>
      </p:sp>
      <p:sp>
        <p:nvSpPr>
          <p:cNvPr id="35" name="TextBox 35"/>
          <p:cNvSpPr txBox="1"/>
          <p:nvPr/>
        </p:nvSpPr>
        <p:spPr>
          <a:xfrm>
            <a:off x="9291638" y="1354931"/>
            <a:ext cx="973693"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Segoe UI"/>
                <a:ea typeface="SimHei"/>
                <a:cs typeface="Segoe UI"/>
              </a:rPr>
              <a:t>军事文档适配</a:t>
            </a:r>
          </a:p>
        </p:txBody>
      </p:sp>
      <p:sp>
        <p:nvSpPr>
          <p:cNvPr id="36" name="TextBox 36"/>
          <p:cNvSpPr txBox="1"/>
          <p:nvPr/>
        </p:nvSpPr>
        <p:spPr>
          <a:xfrm>
            <a:off x="9293542" y="1542574"/>
            <a:ext cx="197500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多格式文档深度解析与语义化处理</a:t>
            </a:r>
          </a:p>
        </p:txBody>
      </p:sp>
      <p:sp>
        <p:nvSpPr>
          <p:cNvPr id="37" name="Rectangle 37"/>
          <p:cNvSpPr/>
          <p:nvPr/>
        </p:nvSpPr>
        <p:spPr>
          <a:xfrm>
            <a:off x="9144000" y="1828800"/>
            <a:ext cx="38100" cy="381000"/>
          </a:xfrm>
          <a:prstGeom prst="rect">
            <a:avLst/>
          </a:prstGeom>
          <a:solidFill>
            <a:srgbClr val="4A7BF7"/>
          </a:solidFill>
          <a:ln>
            <a:noFill/>
          </a:ln>
        </p:spPr>
      </p:sp>
      <p:sp>
        <p:nvSpPr>
          <p:cNvPr id="38" name="TextBox 38"/>
          <p:cNvSpPr txBox="1"/>
          <p:nvPr/>
        </p:nvSpPr>
        <p:spPr>
          <a:xfrm>
            <a:off x="9291638" y="1850231"/>
            <a:ext cx="658654" cy="228600"/>
          </a:xfrm>
          <a:prstGeom prst="rect">
            <a:avLst/>
          </a:prstGeom>
          <a:noFill/>
          <a:ln>
            <a:noFill/>
          </a:ln>
        </p:spPr>
        <p:txBody>
          <a:bodyPr wrap="none" lIns="0" tIns="0" rIns="0" bIns="0" anchor="t" anchorCtr="0">
            <a:spAutoFit/>
          </a:bodyPr>
          <a:lstStyle/>
          <a:p>
            <a:pPr algn="l"/>
            <a:r>
              <a:rPr lang="zh-CN" sz="1125" b="1" dirty="0">
                <a:solidFill>
                  <a:srgbClr val="1E293B"/>
                </a:solidFill>
                <a:latin typeface="Segoe UI"/>
                <a:ea typeface="SimHei"/>
                <a:cs typeface="Segoe UI"/>
              </a:rPr>
              <a:t>混合检索</a:t>
            </a:r>
          </a:p>
        </p:txBody>
      </p:sp>
      <p:sp>
        <p:nvSpPr>
          <p:cNvPr id="39" name="TextBox 39"/>
          <p:cNvSpPr txBox="1"/>
          <p:nvPr/>
        </p:nvSpPr>
        <p:spPr>
          <a:xfrm>
            <a:off x="9293542" y="2037874"/>
            <a:ext cx="217653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向量语义检索+关键词检索多特征融合</a:t>
            </a:r>
          </a:p>
        </p:txBody>
      </p:sp>
      <p:sp>
        <p:nvSpPr>
          <p:cNvPr id="40" name="Rectangle 40"/>
          <p:cNvSpPr/>
          <p:nvPr/>
        </p:nvSpPr>
        <p:spPr>
          <a:xfrm>
            <a:off x="381000" y="3476625"/>
            <a:ext cx="11430000" cy="762000"/>
          </a:xfrm>
          <a:prstGeom prst="roundRect">
            <a:avLst>
              <a:gd name="adj" fmla="val 10000"/>
            </a:avLst>
          </a:prstGeom>
          <a:solidFill>
            <a:srgbClr val="FFFFFF"/>
          </a:solidFill>
          <a:ln>
            <a:noFill/>
          </a:ln>
          <a:effectLst>
            <a:outerShdw blurRad="76200" dist="19050" dir="5400000" algn="ctr" rotWithShape="0">
              <a:srgbClr val="000000">
                <a:alpha val="6000"/>
              </a:srgbClr>
            </a:outerShdw>
          </a:effectLst>
        </p:spPr>
      </p:sp>
      <p:sp>
        <p:nvSpPr>
          <p:cNvPr id="41" name="TextBox 41"/>
          <p:cNvSpPr txBox="1"/>
          <p:nvPr/>
        </p:nvSpPr>
        <p:spPr>
          <a:xfrm>
            <a:off x="556260" y="3632835"/>
            <a:ext cx="534543" cy="243840"/>
          </a:xfrm>
          <a:prstGeom prst="rect">
            <a:avLst/>
          </a:prstGeom>
          <a:noFill/>
          <a:ln>
            <a:noFill/>
          </a:ln>
        </p:spPr>
        <p:txBody>
          <a:bodyPr wrap="none" lIns="0" tIns="0" rIns="0" bIns="0" anchor="t" anchorCtr="0">
            <a:spAutoFit/>
          </a:bodyPr>
          <a:lstStyle/>
          <a:p>
            <a:pPr algn="l"/>
            <a:r>
              <a:rPr lang="zh-CN" sz="1200" b="1" dirty="0">
                <a:solidFill>
                  <a:srgbClr val="1E2761"/>
                </a:solidFill>
                <a:latin typeface="Segoe UI"/>
                <a:ea typeface="SimHei"/>
                <a:cs typeface="Segoe UI"/>
              </a:rPr>
              <a:t>技术栈</a:t>
            </a:r>
          </a:p>
        </p:txBody>
      </p:sp>
      <p:sp>
        <p:nvSpPr>
          <p:cNvPr id="42" name="Rectangle 42"/>
          <p:cNvSpPr/>
          <p:nvPr/>
        </p:nvSpPr>
        <p:spPr>
          <a:xfrm>
            <a:off x="571500" y="3905250"/>
            <a:ext cx="1238250" cy="266700"/>
          </a:xfrm>
          <a:prstGeom prst="roundRect">
            <a:avLst>
              <a:gd name="adj" fmla="val 50000"/>
            </a:avLst>
          </a:prstGeom>
          <a:solidFill>
            <a:srgbClr val="E0E7FF"/>
          </a:solidFill>
          <a:ln>
            <a:noFill/>
          </a:ln>
        </p:spPr>
      </p:sp>
      <p:sp>
        <p:nvSpPr>
          <p:cNvPr id="43" name="TextBox 43"/>
          <p:cNvSpPr txBox="1"/>
          <p:nvPr/>
        </p:nvSpPr>
        <p:spPr>
          <a:xfrm>
            <a:off x="702135" y="3989070"/>
            <a:ext cx="976979"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ragflow v0.18.0</a:t>
            </a:r>
          </a:p>
        </p:txBody>
      </p:sp>
      <p:sp>
        <p:nvSpPr>
          <p:cNvPr id="44" name="Rectangle 44"/>
          <p:cNvSpPr/>
          <p:nvPr/>
        </p:nvSpPr>
        <p:spPr>
          <a:xfrm>
            <a:off x="1952625" y="3905250"/>
            <a:ext cx="1238250" cy="266700"/>
          </a:xfrm>
          <a:prstGeom prst="roundRect">
            <a:avLst>
              <a:gd name="adj" fmla="val 50000"/>
            </a:avLst>
          </a:prstGeom>
          <a:solidFill>
            <a:srgbClr val="E0E7FF"/>
          </a:solidFill>
          <a:ln>
            <a:noFill/>
          </a:ln>
        </p:spPr>
      </p:sp>
      <p:sp>
        <p:nvSpPr>
          <p:cNvPr id="45" name="TextBox 45"/>
          <p:cNvSpPr txBox="1"/>
          <p:nvPr/>
        </p:nvSpPr>
        <p:spPr>
          <a:xfrm>
            <a:off x="2101263" y="3989070"/>
            <a:ext cx="940975"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GLM-9B 本地LLM</a:t>
            </a:r>
          </a:p>
        </p:txBody>
      </p:sp>
      <p:sp>
        <p:nvSpPr>
          <p:cNvPr id="46" name="Rectangle 46"/>
          <p:cNvSpPr/>
          <p:nvPr/>
        </p:nvSpPr>
        <p:spPr>
          <a:xfrm>
            <a:off x="3333750" y="3905250"/>
            <a:ext cx="1047750" cy="266700"/>
          </a:xfrm>
          <a:prstGeom prst="roundRect">
            <a:avLst>
              <a:gd name="adj" fmla="val 50000"/>
            </a:avLst>
          </a:prstGeom>
          <a:solidFill>
            <a:srgbClr val="D1FAE5"/>
          </a:solidFill>
          <a:ln>
            <a:noFill/>
          </a:ln>
        </p:spPr>
      </p:sp>
      <p:sp>
        <p:nvSpPr>
          <p:cNvPr id="47" name="TextBox 47"/>
          <p:cNvSpPr txBox="1"/>
          <p:nvPr/>
        </p:nvSpPr>
        <p:spPr>
          <a:xfrm>
            <a:off x="3513153" y="3989070"/>
            <a:ext cx="688943" cy="182880"/>
          </a:xfrm>
          <a:prstGeom prst="rect">
            <a:avLst/>
          </a:prstGeom>
          <a:noFill/>
          <a:ln>
            <a:noFill/>
          </a:ln>
        </p:spPr>
        <p:txBody>
          <a:bodyPr wrap="none" lIns="0" tIns="0" rIns="0" bIns="0" anchor="t" anchorCtr="0">
            <a:spAutoFit/>
          </a:bodyPr>
          <a:lstStyle/>
          <a:p>
            <a:pPr algn="ctr"/>
            <a:r>
              <a:rPr lang="zh-CN" sz="900" dirty="0">
                <a:solidFill>
                  <a:srgbClr val="059669"/>
                </a:solidFill>
                <a:latin typeface="Arial"/>
                <a:ea typeface="Microsoft YaHei"/>
                <a:cs typeface="Arial"/>
              </a:rPr>
              <a:t>Spring Boot</a:t>
            </a:r>
          </a:p>
        </p:txBody>
      </p:sp>
      <p:sp>
        <p:nvSpPr>
          <p:cNvPr id="48" name="Rectangle 48"/>
          <p:cNvSpPr/>
          <p:nvPr/>
        </p:nvSpPr>
        <p:spPr>
          <a:xfrm>
            <a:off x="4524375" y="3905250"/>
            <a:ext cx="762000" cy="266700"/>
          </a:xfrm>
          <a:prstGeom prst="roundRect">
            <a:avLst>
              <a:gd name="adj" fmla="val 50000"/>
            </a:avLst>
          </a:prstGeom>
          <a:solidFill>
            <a:srgbClr val="D1FAE5"/>
          </a:solidFill>
          <a:ln>
            <a:noFill/>
          </a:ln>
        </p:spPr>
      </p:sp>
      <p:sp>
        <p:nvSpPr>
          <p:cNvPr id="49" name="TextBox 49"/>
          <p:cNvSpPr txBox="1"/>
          <p:nvPr/>
        </p:nvSpPr>
        <p:spPr>
          <a:xfrm>
            <a:off x="4743926" y="3989070"/>
            <a:ext cx="322898" cy="182880"/>
          </a:xfrm>
          <a:prstGeom prst="rect">
            <a:avLst/>
          </a:prstGeom>
          <a:noFill/>
          <a:ln>
            <a:noFill/>
          </a:ln>
        </p:spPr>
        <p:txBody>
          <a:bodyPr wrap="none" lIns="0" tIns="0" rIns="0" bIns="0" anchor="t" anchorCtr="0">
            <a:spAutoFit/>
          </a:bodyPr>
          <a:lstStyle/>
          <a:p>
            <a:pPr algn="ctr"/>
            <a:r>
              <a:rPr lang="zh-CN" sz="900" dirty="0">
                <a:solidFill>
                  <a:srgbClr val="059669"/>
                </a:solidFill>
                <a:latin typeface="Arial"/>
                <a:ea typeface="Microsoft YaHei"/>
                <a:cs typeface="Arial"/>
              </a:rPr>
              <a:t>Vue 3</a:t>
            </a:r>
          </a:p>
        </p:txBody>
      </p:sp>
      <p:sp>
        <p:nvSpPr>
          <p:cNvPr id="50" name="Rectangle 50"/>
          <p:cNvSpPr/>
          <p:nvPr/>
        </p:nvSpPr>
        <p:spPr>
          <a:xfrm>
            <a:off x="5429250" y="3905250"/>
            <a:ext cx="952500" cy="266700"/>
          </a:xfrm>
          <a:prstGeom prst="roundRect">
            <a:avLst>
              <a:gd name="adj" fmla="val 50000"/>
            </a:avLst>
          </a:prstGeom>
          <a:solidFill>
            <a:srgbClr val="E0E7FF"/>
          </a:solidFill>
          <a:ln>
            <a:noFill/>
          </a:ln>
        </p:spPr>
      </p:sp>
      <p:sp>
        <p:nvSpPr>
          <p:cNvPr id="51" name="TextBox 51"/>
          <p:cNvSpPr txBox="1"/>
          <p:nvPr/>
        </p:nvSpPr>
        <p:spPr>
          <a:xfrm>
            <a:off x="5435013" y="3989070"/>
            <a:ext cx="940975"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Docker Compose</a:t>
            </a:r>
          </a:p>
        </p:txBody>
      </p:sp>
      <p:sp>
        <p:nvSpPr>
          <p:cNvPr id="52" name="Rectangle 52"/>
          <p:cNvSpPr/>
          <p:nvPr/>
        </p:nvSpPr>
        <p:spPr>
          <a:xfrm>
            <a:off x="6524625" y="3905250"/>
            <a:ext cx="1047750" cy="266700"/>
          </a:xfrm>
          <a:prstGeom prst="roundRect">
            <a:avLst>
              <a:gd name="adj" fmla="val 50000"/>
            </a:avLst>
          </a:prstGeom>
          <a:solidFill>
            <a:srgbClr val="E0E7FF"/>
          </a:solidFill>
          <a:ln>
            <a:noFill/>
          </a:ln>
        </p:spPr>
      </p:sp>
      <p:sp>
        <p:nvSpPr>
          <p:cNvPr id="53" name="TextBox 53"/>
          <p:cNvSpPr txBox="1"/>
          <p:nvPr/>
        </p:nvSpPr>
        <p:spPr>
          <a:xfrm>
            <a:off x="6731032" y="3989070"/>
            <a:ext cx="634937"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MySQL 8.0</a:t>
            </a:r>
          </a:p>
        </p:txBody>
      </p:sp>
      <p:sp>
        <p:nvSpPr>
          <p:cNvPr id="54" name="Rectangle 54"/>
          <p:cNvSpPr/>
          <p:nvPr/>
        </p:nvSpPr>
        <p:spPr>
          <a:xfrm>
            <a:off x="7715250" y="3905250"/>
            <a:ext cx="1143000" cy="266700"/>
          </a:xfrm>
          <a:prstGeom prst="roundRect">
            <a:avLst>
              <a:gd name="adj" fmla="val 50000"/>
            </a:avLst>
          </a:prstGeom>
          <a:solidFill>
            <a:srgbClr val="E0E7FF"/>
          </a:solidFill>
          <a:ln>
            <a:noFill/>
          </a:ln>
        </p:spPr>
      </p:sp>
      <p:sp>
        <p:nvSpPr>
          <p:cNvPr id="55" name="TextBox 55"/>
          <p:cNvSpPr txBox="1"/>
          <p:nvPr/>
        </p:nvSpPr>
        <p:spPr>
          <a:xfrm>
            <a:off x="7726251" y="3989070"/>
            <a:ext cx="1120997"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Elasticsearch 8.11</a:t>
            </a:r>
          </a:p>
        </p:txBody>
      </p:sp>
      <p:sp>
        <p:nvSpPr>
          <p:cNvPr id="56" name="Rectangle 56"/>
          <p:cNvSpPr/>
          <p:nvPr/>
        </p:nvSpPr>
        <p:spPr>
          <a:xfrm>
            <a:off x="381000" y="4476750"/>
            <a:ext cx="11430000" cy="2095500"/>
          </a:xfrm>
          <a:prstGeom prst="roundRect">
            <a:avLst>
              <a:gd name="adj" fmla="val 3636"/>
            </a:avLst>
          </a:prstGeom>
          <a:solidFill>
            <a:srgbClr val="FFFFFF"/>
          </a:solidFill>
          <a:ln>
            <a:noFill/>
          </a:ln>
          <a:effectLst>
            <a:outerShdw blurRad="76200" dist="19050" dir="5400000" algn="ctr" rotWithShape="0">
              <a:srgbClr val="000000">
                <a:alpha val="6000"/>
              </a:srgbClr>
            </a:outerShdw>
          </a:effectLst>
        </p:spPr>
      </p:sp>
      <p:sp>
        <p:nvSpPr>
          <p:cNvPr id="57" name="TextBox 57"/>
          <p:cNvSpPr txBox="1"/>
          <p:nvPr/>
        </p:nvSpPr>
        <p:spPr>
          <a:xfrm>
            <a:off x="556260" y="4632960"/>
            <a:ext cx="702564" cy="243840"/>
          </a:xfrm>
          <a:prstGeom prst="rect">
            <a:avLst/>
          </a:prstGeom>
          <a:noFill/>
          <a:ln>
            <a:noFill/>
          </a:ln>
        </p:spPr>
        <p:txBody>
          <a:bodyPr wrap="none" lIns="0" tIns="0" rIns="0" bIns="0" anchor="t" anchorCtr="0">
            <a:spAutoFit/>
          </a:bodyPr>
          <a:lstStyle/>
          <a:p>
            <a:pPr algn="l"/>
            <a:r>
              <a:rPr lang="zh-CN" sz="1200" b="1" dirty="0">
                <a:solidFill>
                  <a:srgbClr val="1E2761"/>
                </a:solidFill>
                <a:latin typeface="Segoe UI"/>
                <a:ea typeface="SimHei"/>
                <a:cs typeface="Segoe UI"/>
              </a:rPr>
              <a:t>三级架构</a:t>
            </a:r>
          </a:p>
        </p:txBody>
      </p:sp>
      <p:sp>
        <p:nvSpPr>
          <p:cNvPr id="58" name="Rectangle 58"/>
          <p:cNvSpPr/>
          <p:nvPr/>
        </p:nvSpPr>
        <p:spPr>
          <a:xfrm>
            <a:off x="571500" y="4953000"/>
            <a:ext cx="3429000" cy="666750"/>
          </a:xfrm>
          <a:prstGeom prst="roundRect">
            <a:avLst>
              <a:gd name="adj" fmla="val 8571"/>
            </a:avLst>
          </a:prstGeom>
          <a:solidFill>
            <a:srgbClr val="4A7BF7">
              <a:alpha val="15000"/>
            </a:srgbClr>
          </a:solidFill>
          <a:ln w="14288">
            <a:solidFill>
              <a:srgbClr val="4A7BF7"/>
            </a:solidFill>
          </a:ln>
        </p:spPr>
      </p:sp>
      <p:sp>
        <p:nvSpPr>
          <p:cNvPr id="59" name="TextBox 59"/>
          <p:cNvSpPr txBox="1"/>
          <p:nvPr/>
        </p:nvSpPr>
        <p:spPr>
          <a:xfrm>
            <a:off x="1464259" y="5090160"/>
            <a:ext cx="1643482" cy="243840"/>
          </a:xfrm>
          <a:prstGeom prst="rect">
            <a:avLst/>
          </a:prstGeom>
          <a:noFill/>
          <a:ln>
            <a:noFill/>
          </a:ln>
        </p:spPr>
        <p:txBody>
          <a:bodyPr wrap="none" lIns="0" tIns="0" rIns="0" bIns="0" anchor="t" anchorCtr="0">
            <a:spAutoFit/>
          </a:bodyPr>
          <a:lstStyle/>
          <a:p>
            <a:pPr algn="ctr"/>
            <a:r>
              <a:rPr lang="zh-CN" sz="1200" b="1" dirty="0">
                <a:solidFill>
                  <a:srgbClr val="1E2761"/>
                </a:solidFill>
                <a:latin typeface="Segoe UI"/>
                <a:ea typeface="SimHei"/>
                <a:cs typeface="Segoe UI"/>
              </a:rPr>
              <a:t>M3 交互式提示词工程</a:t>
            </a:r>
          </a:p>
        </p:txBody>
      </p:sp>
      <p:sp>
        <p:nvSpPr>
          <p:cNvPr id="60" name="TextBox 60"/>
          <p:cNvSpPr txBox="1"/>
          <p:nvPr/>
        </p:nvSpPr>
        <p:spPr>
          <a:xfrm>
            <a:off x="1047417" y="5351145"/>
            <a:ext cx="2477167"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助手管理 · 提示词配置 · 多轮对话 · 引用溯源</a:t>
            </a:r>
          </a:p>
        </p:txBody>
      </p:sp>
      <p:sp>
        <p:nvSpPr>
          <p:cNvPr id="61" name="Freeform 61"/>
          <p:cNvSpPr/>
          <p:nvPr/>
        </p:nvSpPr>
        <p:spPr>
          <a:xfrm>
            <a:off x="2286000" y="5619750"/>
            <a:ext cx="9525" cy="95250"/>
          </a:xfrm>
          <a:custGeom>
            <a:avLst/>
            <a:gdLst/>
            <a:ahLst/>
            <a:cxnLst/>
            <a:rect l="l" t="t" r="r" b="b"/>
            <a:pathLst>
              <a:path w="9525" h="95250">
                <a:moveTo>
                  <a:pt x="0" y="0"/>
                </a:moveTo>
                <a:lnTo>
                  <a:pt x="0" y="95250"/>
                </a:lnTo>
              </a:path>
            </a:pathLst>
          </a:custGeom>
          <a:solidFill>
            <a:srgbClr val="000000"/>
          </a:solidFill>
          <a:ln w="19050">
            <a:solidFill>
              <a:srgbClr val="2DD4A8"/>
            </a:solidFill>
          </a:ln>
        </p:spPr>
      </p:sp>
      <p:sp>
        <p:nvSpPr>
          <p:cNvPr id="62" name="Polygon 62"/>
          <p:cNvSpPr/>
          <p:nvPr/>
        </p:nvSpPr>
        <p:spPr>
          <a:xfrm>
            <a:off x="2228850" y="5715000"/>
            <a:ext cx="114300" cy="95250"/>
          </a:xfrm>
          <a:custGeom>
            <a:avLst/>
            <a:gdLst/>
            <a:ahLst/>
            <a:cxnLst/>
            <a:rect l="l" t="t" r="r" b="b"/>
            <a:pathLst>
              <a:path w="114300" h="95250">
                <a:moveTo>
                  <a:pt x="0" y="0"/>
                </a:moveTo>
                <a:lnTo>
                  <a:pt x="114300" y="0"/>
                </a:lnTo>
                <a:lnTo>
                  <a:pt x="57150" y="95250"/>
                </a:lnTo>
                <a:close/>
              </a:path>
            </a:pathLst>
          </a:custGeom>
          <a:solidFill>
            <a:srgbClr val="2DD4A8"/>
          </a:solidFill>
          <a:ln>
            <a:noFill/>
          </a:ln>
        </p:spPr>
      </p:sp>
      <p:sp>
        <p:nvSpPr>
          <p:cNvPr id="63" name="Rectangle 63"/>
          <p:cNvSpPr/>
          <p:nvPr/>
        </p:nvSpPr>
        <p:spPr>
          <a:xfrm>
            <a:off x="571500" y="5857875"/>
            <a:ext cx="3429000" cy="476250"/>
          </a:xfrm>
          <a:prstGeom prst="roundRect">
            <a:avLst>
              <a:gd name="adj" fmla="val 12000"/>
            </a:avLst>
          </a:prstGeom>
          <a:solidFill>
            <a:srgbClr val="2DD4A8">
              <a:alpha val="15000"/>
            </a:srgbClr>
          </a:solidFill>
          <a:ln w="14288">
            <a:solidFill>
              <a:srgbClr val="2DD4A8"/>
            </a:solidFill>
          </a:ln>
        </p:spPr>
      </p:sp>
      <p:sp>
        <p:nvSpPr>
          <p:cNvPr id="64" name="TextBox 64"/>
          <p:cNvSpPr txBox="1"/>
          <p:nvPr/>
        </p:nvSpPr>
        <p:spPr>
          <a:xfrm>
            <a:off x="1739723" y="6030278"/>
            <a:ext cx="1092553"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M2 RAG检索增强</a:t>
            </a:r>
          </a:p>
        </p:txBody>
      </p:sp>
      <p:sp>
        <p:nvSpPr>
          <p:cNvPr id="65" name="Freeform 65"/>
          <p:cNvSpPr/>
          <p:nvPr/>
        </p:nvSpPr>
        <p:spPr>
          <a:xfrm>
            <a:off x="2286000" y="4857750"/>
            <a:ext cx="4381500" cy="95250"/>
          </a:xfrm>
          <a:custGeom>
            <a:avLst/>
            <a:gdLst/>
            <a:ahLst/>
            <a:cxnLst/>
            <a:rect l="l" t="t" r="r" b="b"/>
            <a:pathLst>
              <a:path w="4381500" h="95250">
                <a:moveTo>
                  <a:pt x="0" y="95250"/>
                </a:moveTo>
                <a:lnTo>
                  <a:pt x="0" y="0"/>
                </a:lnTo>
                <a:lnTo>
                  <a:pt x="4381500" y="0"/>
                </a:lnTo>
                <a:lnTo>
                  <a:pt x="4381500" y="95250"/>
                </a:lnTo>
              </a:path>
            </a:pathLst>
          </a:custGeom>
          <a:solidFill>
            <a:srgbClr val="000000"/>
          </a:solidFill>
          <a:ln w="14288">
            <a:solidFill>
              <a:srgbClr val="E2E8F0"/>
            </a:solidFill>
            <a:prstDash val="dash"/>
          </a:ln>
        </p:spPr>
      </p:sp>
      <p:sp>
        <p:nvSpPr>
          <p:cNvPr id="66" name="Rectangle 66"/>
          <p:cNvSpPr/>
          <p:nvPr/>
        </p:nvSpPr>
        <p:spPr>
          <a:xfrm>
            <a:off x="4381500" y="4953000"/>
            <a:ext cx="3429000" cy="666750"/>
          </a:xfrm>
          <a:prstGeom prst="roundRect">
            <a:avLst>
              <a:gd name="adj" fmla="val 8571"/>
            </a:avLst>
          </a:prstGeom>
          <a:solidFill>
            <a:srgbClr val="1E2761">
              <a:alpha val="10000"/>
            </a:srgbClr>
          </a:solidFill>
          <a:ln w="14288">
            <a:solidFill>
              <a:srgbClr val="1E2761"/>
            </a:solidFill>
          </a:ln>
        </p:spPr>
      </p:sp>
      <p:sp>
        <p:nvSpPr>
          <p:cNvPr id="67" name="TextBox 67"/>
          <p:cNvSpPr txBox="1"/>
          <p:nvPr/>
        </p:nvSpPr>
        <p:spPr>
          <a:xfrm>
            <a:off x="5526291" y="5090160"/>
            <a:ext cx="1139419" cy="243840"/>
          </a:xfrm>
          <a:prstGeom prst="rect">
            <a:avLst/>
          </a:prstGeom>
          <a:noFill/>
          <a:ln>
            <a:noFill/>
          </a:ln>
        </p:spPr>
        <p:txBody>
          <a:bodyPr wrap="none" lIns="0" tIns="0" rIns="0" bIns="0" anchor="t" anchorCtr="0">
            <a:spAutoFit/>
          </a:bodyPr>
          <a:lstStyle/>
          <a:p>
            <a:pPr algn="ctr"/>
            <a:r>
              <a:rPr lang="zh-CN" sz="1200" b="1" dirty="0">
                <a:solidFill>
                  <a:srgbClr val="1E2761"/>
                </a:solidFill>
                <a:latin typeface="Segoe UI"/>
                <a:ea typeface="SimHei"/>
                <a:cs typeface="Segoe UI"/>
              </a:rPr>
              <a:t>M1 外挂知识库</a:t>
            </a:r>
          </a:p>
        </p:txBody>
      </p:sp>
      <p:sp>
        <p:nvSpPr>
          <p:cNvPr id="68" name="TextBox 68"/>
          <p:cNvSpPr txBox="1"/>
          <p:nvPr/>
        </p:nvSpPr>
        <p:spPr>
          <a:xfrm>
            <a:off x="4797409" y="5351145"/>
            <a:ext cx="2597182"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文档上传 · 智能分块 · 元数据标注 · 知识库管理</a:t>
            </a:r>
          </a:p>
        </p:txBody>
      </p:sp>
      <p:sp>
        <p:nvSpPr>
          <p:cNvPr id="69" name="Freeform 69"/>
          <p:cNvSpPr/>
          <p:nvPr/>
        </p:nvSpPr>
        <p:spPr>
          <a:xfrm>
            <a:off x="6096000" y="5619750"/>
            <a:ext cx="9525" cy="95250"/>
          </a:xfrm>
          <a:custGeom>
            <a:avLst/>
            <a:gdLst/>
            <a:ahLst/>
            <a:cxnLst/>
            <a:rect l="l" t="t" r="r" b="b"/>
            <a:pathLst>
              <a:path w="9525" h="95250">
                <a:moveTo>
                  <a:pt x="0" y="0"/>
                </a:moveTo>
                <a:lnTo>
                  <a:pt x="0" y="95250"/>
                </a:lnTo>
              </a:path>
            </a:pathLst>
          </a:custGeom>
          <a:solidFill>
            <a:srgbClr val="000000"/>
          </a:solidFill>
          <a:ln w="19050">
            <a:solidFill>
              <a:srgbClr val="2DD4A8"/>
            </a:solidFill>
          </a:ln>
        </p:spPr>
      </p:sp>
      <p:sp>
        <p:nvSpPr>
          <p:cNvPr id="70" name="Polygon 70"/>
          <p:cNvSpPr/>
          <p:nvPr/>
        </p:nvSpPr>
        <p:spPr>
          <a:xfrm>
            <a:off x="6038850" y="5715000"/>
            <a:ext cx="114300" cy="95250"/>
          </a:xfrm>
          <a:custGeom>
            <a:avLst/>
            <a:gdLst/>
            <a:ahLst/>
            <a:cxnLst/>
            <a:rect l="l" t="t" r="r" b="b"/>
            <a:pathLst>
              <a:path w="114300" h="95250">
                <a:moveTo>
                  <a:pt x="0" y="0"/>
                </a:moveTo>
                <a:lnTo>
                  <a:pt x="114300" y="0"/>
                </a:lnTo>
                <a:lnTo>
                  <a:pt x="57150" y="95250"/>
                </a:lnTo>
                <a:close/>
              </a:path>
            </a:pathLst>
          </a:custGeom>
          <a:solidFill>
            <a:srgbClr val="2DD4A8"/>
          </a:solidFill>
          <a:ln>
            <a:noFill/>
          </a:ln>
        </p:spPr>
      </p:sp>
      <p:sp>
        <p:nvSpPr>
          <p:cNvPr id="71" name="Rectangle 71"/>
          <p:cNvSpPr/>
          <p:nvPr/>
        </p:nvSpPr>
        <p:spPr>
          <a:xfrm>
            <a:off x="4381500" y="5857875"/>
            <a:ext cx="3429000" cy="476250"/>
          </a:xfrm>
          <a:prstGeom prst="roundRect">
            <a:avLst>
              <a:gd name="adj" fmla="val 12000"/>
            </a:avLst>
          </a:prstGeom>
          <a:solidFill>
            <a:srgbClr val="2DD4A8">
              <a:alpha val="15000"/>
            </a:srgbClr>
          </a:solidFill>
          <a:ln w="14288">
            <a:solidFill>
              <a:srgbClr val="2DD4A8"/>
            </a:solidFill>
          </a:ln>
        </p:spPr>
      </p:sp>
      <p:sp>
        <p:nvSpPr>
          <p:cNvPr id="72" name="TextBox 72"/>
          <p:cNvSpPr txBox="1"/>
          <p:nvPr/>
        </p:nvSpPr>
        <p:spPr>
          <a:xfrm>
            <a:off x="4957974" y="6030278"/>
            <a:ext cx="2276051"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向量检索 · 混合检索 · 语义重排序</a:t>
            </a:r>
          </a:p>
        </p:txBody>
      </p:sp>
      <p:sp>
        <p:nvSpPr>
          <p:cNvPr id="73" name="Rectangle 73"/>
          <p:cNvSpPr/>
          <p:nvPr/>
        </p:nvSpPr>
        <p:spPr>
          <a:xfrm>
            <a:off x="8191500" y="4953000"/>
            <a:ext cx="3429000" cy="1381125"/>
          </a:xfrm>
          <a:prstGeom prst="roundRect">
            <a:avLst>
              <a:gd name="adj" fmla="val 4138"/>
            </a:avLst>
          </a:prstGeom>
          <a:solidFill>
            <a:srgbClr val="F8FAFC"/>
          </a:solidFill>
          <a:ln w="14288">
            <a:solidFill>
              <a:srgbClr val="E2E8F0"/>
            </a:solidFill>
          </a:ln>
        </p:spPr>
      </p:sp>
      <p:sp>
        <p:nvSpPr>
          <p:cNvPr id="74" name="TextBox 74"/>
          <p:cNvSpPr txBox="1"/>
          <p:nvPr/>
        </p:nvSpPr>
        <p:spPr>
          <a:xfrm>
            <a:off x="9261634" y="5117306"/>
            <a:ext cx="1288732" cy="228600"/>
          </a:xfrm>
          <a:prstGeom prst="rect">
            <a:avLst/>
          </a:prstGeom>
          <a:noFill/>
          <a:ln>
            <a:noFill/>
          </a:ln>
        </p:spPr>
        <p:txBody>
          <a:bodyPr wrap="none" lIns="0" tIns="0" rIns="0" bIns="0" anchor="t" anchorCtr="0">
            <a:spAutoFit/>
          </a:bodyPr>
          <a:lstStyle/>
          <a:p>
            <a:pPr algn="ctr"/>
            <a:r>
              <a:rPr lang="zh-CN" sz="1125" b="1" dirty="0">
                <a:solidFill>
                  <a:srgbClr val="1E2761"/>
                </a:solidFill>
                <a:latin typeface="Segoe UI"/>
                <a:ea typeface="SimHei"/>
                <a:cs typeface="Segoe UI"/>
              </a:rPr>
              <a:t>集成部署基础设施</a:t>
            </a:r>
          </a:p>
        </p:txBody>
      </p:sp>
      <p:sp>
        <p:nvSpPr>
          <p:cNvPr id="75" name="TextBox 75"/>
          <p:cNvSpPr txBox="1"/>
          <p:nvPr/>
        </p:nvSpPr>
        <p:spPr>
          <a:xfrm>
            <a:off x="9422309" y="5371624"/>
            <a:ext cx="967383"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用户认证 (JWT)</a:t>
            </a:r>
          </a:p>
        </p:txBody>
      </p:sp>
      <p:sp>
        <p:nvSpPr>
          <p:cNvPr id="76" name="TextBox 76"/>
          <p:cNvSpPr txBox="1"/>
          <p:nvPr/>
        </p:nvSpPr>
        <p:spPr>
          <a:xfrm>
            <a:off x="9419058" y="5590699"/>
            <a:ext cx="973884"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离线Docker部署</a:t>
            </a:r>
          </a:p>
        </p:txBody>
      </p:sp>
      <p:sp>
        <p:nvSpPr>
          <p:cNvPr id="77" name="TextBox 77"/>
          <p:cNvSpPr txBox="1"/>
          <p:nvPr/>
        </p:nvSpPr>
        <p:spPr>
          <a:xfrm>
            <a:off x="9568577" y="5809774"/>
            <a:ext cx="674846"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多客户隔离</a:t>
            </a:r>
          </a:p>
        </p:txBody>
      </p:sp>
      <p:sp>
        <p:nvSpPr>
          <p:cNvPr id="78" name="TextBox 78"/>
          <p:cNvSpPr txBox="1"/>
          <p:nvPr/>
        </p:nvSpPr>
        <p:spPr>
          <a:xfrm>
            <a:off x="9633585" y="6028849"/>
            <a:ext cx="544830"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数据安全</a:t>
            </a:r>
          </a:p>
        </p:txBody>
      </p:sp>
      <p:sp>
        <p:nvSpPr>
          <p:cNvPr id="79" name="TextBox 79"/>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2 / 14</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817561"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三级架构设计</a:t>
            </a:r>
          </a:p>
        </p:txBody>
      </p:sp>
      <p:sp>
        <p:nvSpPr>
          <p:cNvPr id="5" name="TextBox 5"/>
          <p:cNvSpPr txBox="1"/>
          <p:nvPr/>
        </p:nvSpPr>
        <p:spPr>
          <a:xfrm>
            <a:off x="3225165" y="286702"/>
            <a:ext cx="3128058"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"外挂知识库—RAG检索增强—交互式提示" 三级架构</a:t>
            </a:r>
          </a:p>
        </p:txBody>
      </p:sp>
      <p:sp>
        <p:nvSpPr>
          <p:cNvPr id="6" name="Rectangle 6"/>
          <p:cNvSpPr/>
          <p:nvPr/>
        </p:nvSpPr>
        <p:spPr>
          <a:xfrm>
            <a:off x="762000" y="952500"/>
            <a:ext cx="10668000" cy="1524000"/>
          </a:xfrm>
          <a:prstGeom prst="roundRect">
            <a:avLst>
              <a:gd name="adj" fmla="val 6250"/>
            </a:avLst>
          </a:prstGeom>
          <a:solidFill>
            <a:srgbClr val="4A7BF7">
              <a:alpha val="8000"/>
            </a:srgbClr>
          </a:solidFill>
          <a:ln w="19050">
            <a:solidFill>
              <a:srgbClr val="4A7BF7"/>
            </a:solidFill>
          </a:ln>
        </p:spPr>
      </p:sp>
      <p:sp>
        <p:nvSpPr>
          <p:cNvPr id="7" name="Rectangle 7"/>
          <p:cNvSpPr/>
          <p:nvPr/>
        </p:nvSpPr>
        <p:spPr>
          <a:xfrm>
            <a:off x="762000" y="952500"/>
            <a:ext cx="76200" cy="1524000"/>
          </a:xfrm>
          <a:prstGeom prst="rect">
            <a:avLst/>
          </a:prstGeom>
          <a:solidFill>
            <a:srgbClr val="4A7BF7"/>
          </a:solidFill>
          <a:ln>
            <a:noFill/>
          </a:ln>
        </p:spPr>
      </p:sp>
      <p:sp>
        <p:nvSpPr>
          <p:cNvPr id="8" name="Rectangle 8"/>
          <p:cNvSpPr/>
          <p:nvPr/>
        </p:nvSpPr>
        <p:spPr>
          <a:xfrm>
            <a:off x="952500" y="1095375"/>
            <a:ext cx="476250" cy="247650"/>
          </a:xfrm>
          <a:prstGeom prst="roundRect">
            <a:avLst>
              <a:gd name="adj" fmla="val 50000"/>
            </a:avLst>
          </a:prstGeom>
          <a:solidFill>
            <a:srgbClr val="4A7BF7"/>
          </a:solidFill>
          <a:ln>
            <a:noFill/>
          </a:ln>
        </p:spPr>
      </p:sp>
      <p:sp>
        <p:nvSpPr>
          <p:cNvPr id="9" name="TextBox 9"/>
          <p:cNvSpPr txBox="1"/>
          <p:nvPr/>
        </p:nvSpPr>
        <p:spPr>
          <a:xfrm>
            <a:off x="1089506" y="1161574"/>
            <a:ext cx="20223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SimHei"/>
                <a:cs typeface="Segoe UI"/>
              </a:rPr>
              <a:t>M3</a:t>
            </a:r>
          </a:p>
        </p:txBody>
      </p:sp>
      <p:sp>
        <p:nvSpPr>
          <p:cNvPr id="10" name="TextBox 10"/>
          <p:cNvSpPr txBox="1"/>
          <p:nvPr/>
        </p:nvSpPr>
        <p:spPr>
          <a:xfrm>
            <a:off x="1552575" y="1104900"/>
            <a:ext cx="255841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第三级：交互式提示词工程</a:t>
            </a:r>
          </a:p>
        </p:txBody>
      </p:sp>
      <p:sp>
        <p:nvSpPr>
          <p:cNvPr id="11" name="Rectangle 11"/>
          <p:cNvSpPr/>
          <p:nvPr/>
        </p:nvSpPr>
        <p:spPr>
          <a:xfrm>
            <a:off x="1047750" y="1476375"/>
            <a:ext cx="1905000" cy="419100"/>
          </a:xfrm>
          <a:prstGeom prst="roundRect">
            <a:avLst>
              <a:gd name="adj" fmla="val 13636"/>
            </a:avLst>
          </a:prstGeom>
          <a:solidFill>
            <a:srgbClr val="FFFFFF"/>
          </a:solidFill>
          <a:ln w="9525">
            <a:solidFill>
              <a:srgbClr val="4A7BF7"/>
            </a:solidFill>
          </a:ln>
        </p:spPr>
      </p:sp>
      <p:sp>
        <p:nvSpPr>
          <p:cNvPr id="12" name="TextBox 12"/>
          <p:cNvSpPr txBox="1"/>
          <p:nvPr/>
        </p:nvSpPr>
        <p:spPr>
          <a:xfrm>
            <a:off x="1566862" y="1620202"/>
            <a:ext cx="866775"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聊天助手管理</a:t>
            </a:r>
          </a:p>
        </p:txBody>
      </p:sp>
      <p:sp>
        <p:nvSpPr>
          <p:cNvPr id="13" name="Rectangle 13"/>
          <p:cNvSpPr/>
          <p:nvPr/>
        </p:nvSpPr>
        <p:spPr>
          <a:xfrm>
            <a:off x="3143250" y="1476375"/>
            <a:ext cx="1905000" cy="419100"/>
          </a:xfrm>
          <a:prstGeom prst="roundRect">
            <a:avLst>
              <a:gd name="adj" fmla="val 13636"/>
            </a:avLst>
          </a:prstGeom>
          <a:solidFill>
            <a:srgbClr val="FFFFFF"/>
          </a:solidFill>
          <a:ln w="9525">
            <a:solidFill>
              <a:srgbClr val="4A7BF7"/>
            </a:solidFill>
          </a:ln>
        </p:spPr>
      </p:sp>
      <p:sp>
        <p:nvSpPr>
          <p:cNvPr id="14" name="TextBox 14"/>
          <p:cNvSpPr txBox="1"/>
          <p:nvPr/>
        </p:nvSpPr>
        <p:spPr>
          <a:xfrm>
            <a:off x="3592354" y="1620202"/>
            <a:ext cx="10067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系统提示词配置</a:t>
            </a:r>
          </a:p>
        </p:txBody>
      </p:sp>
      <p:sp>
        <p:nvSpPr>
          <p:cNvPr id="15" name="Rectangle 15"/>
          <p:cNvSpPr/>
          <p:nvPr/>
        </p:nvSpPr>
        <p:spPr>
          <a:xfrm>
            <a:off x="5238750" y="1476375"/>
            <a:ext cx="1905000" cy="419100"/>
          </a:xfrm>
          <a:prstGeom prst="roundRect">
            <a:avLst>
              <a:gd name="adj" fmla="val 13636"/>
            </a:avLst>
          </a:prstGeom>
          <a:solidFill>
            <a:srgbClr val="FFFFFF"/>
          </a:solidFill>
          <a:ln w="9525">
            <a:solidFill>
              <a:srgbClr val="4A7BF7"/>
            </a:solidFill>
          </a:ln>
        </p:spPr>
      </p:sp>
      <p:sp>
        <p:nvSpPr>
          <p:cNvPr id="16" name="TextBox 16"/>
          <p:cNvSpPr txBox="1"/>
          <p:nvPr/>
        </p:nvSpPr>
        <p:spPr>
          <a:xfrm>
            <a:off x="5687854" y="1620202"/>
            <a:ext cx="10067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多轮上下文对话</a:t>
            </a:r>
          </a:p>
        </p:txBody>
      </p:sp>
      <p:sp>
        <p:nvSpPr>
          <p:cNvPr id="17" name="Rectangle 17"/>
          <p:cNvSpPr/>
          <p:nvPr/>
        </p:nvSpPr>
        <p:spPr>
          <a:xfrm>
            <a:off x="7334250" y="1476375"/>
            <a:ext cx="1905000" cy="419100"/>
          </a:xfrm>
          <a:prstGeom prst="roundRect">
            <a:avLst>
              <a:gd name="adj" fmla="val 13636"/>
            </a:avLst>
          </a:prstGeom>
          <a:solidFill>
            <a:srgbClr val="FFFFFF"/>
          </a:solidFill>
          <a:ln w="9525">
            <a:solidFill>
              <a:srgbClr val="4A7BF7"/>
            </a:solidFill>
          </a:ln>
        </p:spPr>
      </p:sp>
      <p:sp>
        <p:nvSpPr>
          <p:cNvPr id="18" name="TextBox 18"/>
          <p:cNvSpPr txBox="1"/>
          <p:nvPr/>
        </p:nvSpPr>
        <p:spPr>
          <a:xfrm>
            <a:off x="7632835" y="1620202"/>
            <a:ext cx="1307830"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引用溯源 · 流式响应</a:t>
            </a:r>
          </a:p>
        </p:txBody>
      </p:sp>
      <p:sp>
        <p:nvSpPr>
          <p:cNvPr id="19" name="TextBox 19"/>
          <p:cNvSpPr txBox="1"/>
          <p:nvPr/>
        </p:nvSpPr>
        <p:spPr>
          <a:xfrm>
            <a:off x="1036320" y="2045970"/>
            <a:ext cx="1841087"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输入：用户查询 + 第二级检索结果</a:t>
            </a:r>
          </a:p>
        </p:txBody>
      </p:sp>
      <p:sp>
        <p:nvSpPr>
          <p:cNvPr id="20" name="TextBox 20"/>
          <p:cNvSpPr txBox="1"/>
          <p:nvPr/>
        </p:nvSpPr>
        <p:spPr>
          <a:xfrm>
            <a:off x="4751070" y="2045970"/>
            <a:ext cx="220113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输出：精准提示 → LLM生成 → 结构化回答</a:t>
            </a:r>
          </a:p>
        </p:txBody>
      </p:sp>
      <p:sp>
        <p:nvSpPr>
          <p:cNvPr id="21" name="Line 21"/>
          <p:cNvSpPr/>
          <p:nvPr/>
        </p:nvSpPr>
        <p:spPr>
          <a:xfrm>
            <a:off x="6096000" y="2476500"/>
            <a:ext cx="9525" cy="238125"/>
          </a:xfrm>
          <a:custGeom>
            <a:avLst/>
            <a:gdLst/>
            <a:ahLst/>
            <a:cxnLst/>
            <a:rect l="l" t="t" r="r" b="b"/>
            <a:pathLst>
              <a:path w="9525" h="238125">
                <a:moveTo>
                  <a:pt x="0" y="0"/>
                </a:moveTo>
                <a:lnTo>
                  <a:pt x="0" y="238125"/>
                </a:lnTo>
              </a:path>
            </a:pathLst>
          </a:custGeom>
          <a:noFill/>
          <a:ln w="28575">
            <a:solidFill>
              <a:srgbClr val="2DD4A8"/>
            </a:solidFill>
          </a:ln>
        </p:spPr>
      </p:sp>
      <p:sp>
        <p:nvSpPr>
          <p:cNvPr id="22" name="Polygon 22"/>
          <p:cNvSpPr/>
          <p:nvPr/>
        </p:nvSpPr>
        <p:spPr>
          <a:xfrm>
            <a:off x="6019800" y="2714625"/>
            <a:ext cx="152400" cy="123825"/>
          </a:xfrm>
          <a:custGeom>
            <a:avLst/>
            <a:gdLst/>
            <a:ahLst/>
            <a:cxnLst/>
            <a:rect l="l" t="t" r="r" b="b"/>
            <a:pathLst>
              <a:path w="152400" h="123825">
                <a:moveTo>
                  <a:pt x="0" y="0"/>
                </a:moveTo>
                <a:lnTo>
                  <a:pt x="152400" y="0"/>
                </a:lnTo>
                <a:lnTo>
                  <a:pt x="76200" y="123825"/>
                </a:lnTo>
                <a:close/>
              </a:path>
            </a:pathLst>
          </a:custGeom>
          <a:solidFill>
            <a:srgbClr val="2DD4A8"/>
          </a:solidFill>
          <a:ln>
            <a:noFill/>
          </a:ln>
        </p:spPr>
      </p:sp>
      <p:sp>
        <p:nvSpPr>
          <p:cNvPr id="23" name="TextBox 23"/>
          <p:cNvSpPr txBox="1"/>
          <p:nvPr/>
        </p:nvSpPr>
        <p:spPr>
          <a:xfrm>
            <a:off x="6276022" y="2596991"/>
            <a:ext cx="1027581" cy="167640"/>
          </a:xfrm>
          <a:prstGeom prst="rect">
            <a:avLst/>
          </a:prstGeom>
          <a:noFill/>
          <a:ln>
            <a:noFill/>
          </a:ln>
        </p:spPr>
        <p:txBody>
          <a:bodyPr wrap="none" lIns="0" tIns="0" rIns="0" bIns="0" anchor="t" anchorCtr="0">
            <a:spAutoFit/>
          </a:bodyPr>
          <a:lstStyle/>
          <a:p>
            <a:pPr algn="l"/>
            <a:r>
              <a:rPr lang="zh-CN" sz="825" dirty="0">
                <a:solidFill>
                  <a:srgbClr val="2DD4A8"/>
                </a:solidFill>
                <a:latin typeface="Arial"/>
                <a:ea typeface="Microsoft YaHei"/>
                <a:cs typeface="Arial"/>
              </a:rPr>
              <a:t>精准提示 + 检索结果</a:t>
            </a:r>
          </a:p>
        </p:txBody>
      </p:sp>
      <p:sp>
        <p:nvSpPr>
          <p:cNvPr id="24" name="Rectangle 24"/>
          <p:cNvSpPr/>
          <p:nvPr/>
        </p:nvSpPr>
        <p:spPr>
          <a:xfrm>
            <a:off x="762000" y="2857500"/>
            <a:ext cx="10668000" cy="1524000"/>
          </a:xfrm>
          <a:prstGeom prst="roundRect">
            <a:avLst>
              <a:gd name="adj" fmla="val 6250"/>
            </a:avLst>
          </a:prstGeom>
          <a:solidFill>
            <a:srgbClr val="2DD4A8">
              <a:alpha val="8000"/>
            </a:srgbClr>
          </a:solidFill>
          <a:ln w="19050">
            <a:solidFill>
              <a:srgbClr val="2DD4A8"/>
            </a:solidFill>
          </a:ln>
        </p:spPr>
      </p:sp>
      <p:sp>
        <p:nvSpPr>
          <p:cNvPr id="25" name="Rectangle 25"/>
          <p:cNvSpPr/>
          <p:nvPr/>
        </p:nvSpPr>
        <p:spPr>
          <a:xfrm>
            <a:off x="762000" y="2857500"/>
            <a:ext cx="76200" cy="1524000"/>
          </a:xfrm>
          <a:prstGeom prst="rect">
            <a:avLst/>
          </a:prstGeom>
          <a:solidFill>
            <a:srgbClr val="2DD4A8"/>
          </a:solidFill>
          <a:ln>
            <a:noFill/>
          </a:ln>
        </p:spPr>
      </p:sp>
      <p:sp>
        <p:nvSpPr>
          <p:cNvPr id="26" name="Rectangle 26"/>
          <p:cNvSpPr/>
          <p:nvPr/>
        </p:nvSpPr>
        <p:spPr>
          <a:xfrm>
            <a:off x="952500" y="3000375"/>
            <a:ext cx="476250" cy="247650"/>
          </a:xfrm>
          <a:prstGeom prst="roundRect">
            <a:avLst>
              <a:gd name="adj" fmla="val 50000"/>
            </a:avLst>
          </a:prstGeom>
          <a:solidFill>
            <a:srgbClr val="2DD4A8"/>
          </a:solidFill>
          <a:ln>
            <a:noFill/>
          </a:ln>
        </p:spPr>
      </p:sp>
      <p:sp>
        <p:nvSpPr>
          <p:cNvPr id="27" name="TextBox 27"/>
          <p:cNvSpPr txBox="1"/>
          <p:nvPr/>
        </p:nvSpPr>
        <p:spPr>
          <a:xfrm>
            <a:off x="1089506" y="3066574"/>
            <a:ext cx="20223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SimHei"/>
                <a:cs typeface="Segoe UI"/>
              </a:rPr>
              <a:t>M2</a:t>
            </a:r>
          </a:p>
        </p:txBody>
      </p:sp>
      <p:sp>
        <p:nvSpPr>
          <p:cNvPr id="28" name="TextBox 28"/>
          <p:cNvSpPr txBox="1"/>
          <p:nvPr/>
        </p:nvSpPr>
        <p:spPr>
          <a:xfrm>
            <a:off x="1552575" y="3009900"/>
            <a:ext cx="2484906"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第二级：RAG文档检索增强</a:t>
            </a:r>
          </a:p>
        </p:txBody>
      </p:sp>
      <p:sp>
        <p:nvSpPr>
          <p:cNvPr id="29" name="Rectangle 29"/>
          <p:cNvSpPr/>
          <p:nvPr/>
        </p:nvSpPr>
        <p:spPr>
          <a:xfrm>
            <a:off x="1047750" y="3381375"/>
            <a:ext cx="1619250" cy="419100"/>
          </a:xfrm>
          <a:prstGeom prst="roundRect">
            <a:avLst>
              <a:gd name="adj" fmla="val 13636"/>
            </a:avLst>
          </a:prstGeom>
          <a:solidFill>
            <a:srgbClr val="FFFFFF"/>
          </a:solidFill>
          <a:ln w="9525">
            <a:solidFill>
              <a:srgbClr val="2DD4A8"/>
            </a:solidFill>
          </a:ln>
        </p:spPr>
      </p:sp>
      <p:sp>
        <p:nvSpPr>
          <p:cNvPr id="30" name="TextBox 30"/>
          <p:cNvSpPr txBox="1"/>
          <p:nvPr/>
        </p:nvSpPr>
        <p:spPr>
          <a:xfrm>
            <a:off x="1423988" y="3525202"/>
            <a:ext cx="866775"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向量语义检索</a:t>
            </a:r>
          </a:p>
        </p:txBody>
      </p:sp>
      <p:sp>
        <p:nvSpPr>
          <p:cNvPr id="31" name="Rectangle 31"/>
          <p:cNvSpPr/>
          <p:nvPr/>
        </p:nvSpPr>
        <p:spPr>
          <a:xfrm>
            <a:off x="2857500" y="3381375"/>
            <a:ext cx="1619250" cy="419100"/>
          </a:xfrm>
          <a:prstGeom prst="roundRect">
            <a:avLst>
              <a:gd name="adj" fmla="val 13636"/>
            </a:avLst>
          </a:prstGeom>
          <a:solidFill>
            <a:srgbClr val="FFFFFF"/>
          </a:solidFill>
          <a:ln w="9525">
            <a:solidFill>
              <a:srgbClr val="2DD4A8"/>
            </a:solidFill>
          </a:ln>
        </p:spPr>
      </p:sp>
      <p:sp>
        <p:nvSpPr>
          <p:cNvPr id="32" name="TextBox 32"/>
          <p:cNvSpPr txBox="1"/>
          <p:nvPr/>
        </p:nvSpPr>
        <p:spPr>
          <a:xfrm>
            <a:off x="3373755" y="3525202"/>
            <a:ext cx="586740"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混合检索</a:t>
            </a:r>
          </a:p>
        </p:txBody>
      </p:sp>
      <p:sp>
        <p:nvSpPr>
          <p:cNvPr id="33" name="Rectangle 33"/>
          <p:cNvSpPr/>
          <p:nvPr/>
        </p:nvSpPr>
        <p:spPr>
          <a:xfrm>
            <a:off x="4667250" y="3381375"/>
            <a:ext cx="1619250" cy="419100"/>
          </a:xfrm>
          <a:prstGeom prst="roundRect">
            <a:avLst>
              <a:gd name="adj" fmla="val 13636"/>
            </a:avLst>
          </a:prstGeom>
          <a:solidFill>
            <a:srgbClr val="FFFFFF"/>
          </a:solidFill>
          <a:ln w="9525">
            <a:solidFill>
              <a:srgbClr val="2DD4A8"/>
            </a:solidFill>
          </a:ln>
        </p:spPr>
      </p:sp>
      <p:sp>
        <p:nvSpPr>
          <p:cNvPr id="34" name="TextBox 34"/>
          <p:cNvSpPr txBox="1"/>
          <p:nvPr/>
        </p:nvSpPr>
        <p:spPr>
          <a:xfrm>
            <a:off x="4973479" y="3525202"/>
            <a:ext cx="10067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相似度阈值调节</a:t>
            </a:r>
          </a:p>
        </p:txBody>
      </p:sp>
      <p:sp>
        <p:nvSpPr>
          <p:cNvPr id="35" name="Rectangle 35"/>
          <p:cNvSpPr/>
          <p:nvPr/>
        </p:nvSpPr>
        <p:spPr>
          <a:xfrm>
            <a:off x="6477000" y="3381375"/>
            <a:ext cx="1619250" cy="419100"/>
          </a:xfrm>
          <a:prstGeom prst="roundRect">
            <a:avLst>
              <a:gd name="adj" fmla="val 13636"/>
            </a:avLst>
          </a:prstGeom>
          <a:solidFill>
            <a:srgbClr val="FFFFFF"/>
          </a:solidFill>
          <a:ln w="9525">
            <a:solidFill>
              <a:srgbClr val="2DD4A8"/>
            </a:solidFill>
          </a:ln>
        </p:spPr>
      </p:sp>
      <p:sp>
        <p:nvSpPr>
          <p:cNvPr id="36" name="TextBox 36"/>
          <p:cNvSpPr txBox="1"/>
          <p:nvPr/>
        </p:nvSpPr>
        <p:spPr>
          <a:xfrm>
            <a:off x="6783229" y="3525202"/>
            <a:ext cx="10067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检索结果重排序</a:t>
            </a:r>
          </a:p>
        </p:txBody>
      </p:sp>
      <p:sp>
        <p:nvSpPr>
          <p:cNvPr id="37" name="Rectangle 37"/>
          <p:cNvSpPr/>
          <p:nvPr/>
        </p:nvSpPr>
        <p:spPr>
          <a:xfrm>
            <a:off x="8286750" y="3381375"/>
            <a:ext cx="1619250" cy="419100"/>
          </a:xfrm>
          <a:prstGeom prst="roundRect">
            <a:avLst>
              <a:gd name="adj" fmla="val 13636"/>
            </a:avLst>
          </a:prstGeom>
          <a:solidFill>
            <a:srgbClr val="FFFFFF"/>
          </a:solidFill>
          <a:ln w="9525">
            <a:solidFill>
              <a:srgbClr val="2DD4A8"/>
            </a:solidFill>
          </a:ln>
        </p:spPr>
      </p:sp>
      <p:sp>
        <p:nvSpPr>
          <p:cNvPr id="38" name="TextBox 38"/>
          <p:cNvSpPr txBox="1"/>
          <p:nvPr/>
        </p:nvSpPr>
        <p:spPr>
          <a:xfrm>
            <a:off x="8512469" y="3525202"/>
            <a:ext cx="1167813"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知识图谱 · 跨语言</a:t>
            </a:r>
          </a:p>
        </p:txBody>
      </p:sp>
      <p:sp>
        <p:nvSpPr>
          <p:cNvPr id="39" name="TextBox 39"/>
          <p:cNvSpPr txBox="1"/>
          <p:nvPr/>
        </p:nvSpPr>
        <p:spPr>
          <a:xfrm>
            <a:off x="1036320" y="3950970"/>
            <a:ext cx="172107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输入：用户查询 + 第一级知识库</a:t>
            </a:r>
          </a:p>
        </p:txBody>
      </p:sp>
      <p:sp>
        <p:nvSpPr>
          <p:cNvPr id="40" name="TextBox 40"/>
          <p:cNvSpPr txBox="1"/>
          <p:nvPr/>
        </p:nvSpPr>
        <p:spPr>
          <a:xfrm>
            <a:off x="4751070" y="3950970"/>
            <a:ext cx="196110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输出：结构化知识片段 + 相关度评分</a:t>
            </a:r>
          </a:p>
        </p:txBody>
      </p:sp>
      <p:sp>
        <p:nvSpPr>
          <p:cNvPr id="41" name="Line 41"/>
          <p:cNvSpPr/>
          <p:nvPr/>
        </p:nvSpPr>
        <p:spPr>
          <a:xfrm>
            <a:off x="6096000" y="4381500"/>
            <a:ext cx="9525" cy="238125"/>
          </a:xfrm>
          <a:custGeom>
            <a:avLst/>
            <a:gdLst/>
            <a:ahLst/>
            <a:cxnLst/>
            <a:rect l="l" t="t" r="r" b="b"/>
            <a:pathLst>
              <a:path w="9525" h="238125">
                <a:moveTo>
                  <a:pt x="0" y="0"/>
                </a:moveTo>
                <a:lnTo>
                  <a:pt x="0" y="238125"/>
                </a:lnTo>
              </a:path>
            </a:pathLst>
          </a:custGeom>
          <a:noFill/>
          <a:ln w="28575">
            <a:solidFill>
              <a:srgbClr val="1E2761"/>
            </a:solidFill>
          </a:ln>
        </p:spPr>
      </p:sp>
      <p:sp>
        <p:nvSpPr>
          <p:cNvPr id="42" name="Polygon 42"/>
          <p:cNvSpPr/>
          <p:nvPr/>
        </p:nvSpPr>
        <p:spPr>
          <a:xfrm>
            <a:off x="6019800" y="4619625"/>
            <a:ext cx="152400" cy="123825"/>
          </a:xfrm>
          <a:custGeom>
            <a:avLst/>
            <a:gdLst/>
            <a:ahLst/>
            <a:cxnLst/>
            <a:rect l="l" t="t" r="r" b="b"/>
            <a:pathLst>
              <a:path w="152400" h="123825">
                <a:moveTo>
                  <a:pt x="0" y="0"/>
                </a:moveTo>
                <a:lnTo>
                  <a:pt x="152400" y="0"/>
                </a:lnTo>
                <a:lnTo>
                  <a:pt x="76200" y="123825"/>
                </a:lnTo>
                <a:close/>
              </a:path>
            </a:pathLst>
          </a:custGeom>
          <a:solidFill>
            <a:srgbClr val="1E2761"/>
          </a:solidFill>
          <a:ln>
            <a:noFill/>
          </a:ln>
        </p:spPr>
      </p:sp>
      <p:sp>
        <p:nvSpPr>
          <p:cNvPr id="43" name="TextBox 43"/>
          <p:cNvSpPr txBox="1"/>
          <p:nvPr/>
        </p:nvSpPr>
        <p:spPr>
          <a:xfrm>
            <a:off x="6276022" y="4501991"/>
            <a:ext cx="791051" cy="167640"/>
          </a:xfrm>
          <a:prstGeom prst="rect">
            <a:avLst/>
          </a:prstGeom>
          <a:noFill/>
          <a:ln>
            <a:noFill/>
          </a:ln>
        </p:spPr>
        <p:txBody>
          <a:bodyPr wrap="none" lIns="0" tIns="0" rIns="0" bIns="0" anchor="t" anchorCtr="0">
            <a:spAutoFit/>
          </a:bodyPr>
          <a:lstStyle/>
          <a:p>
            <a:pPr algn="l"/>
            <a:r>
              <a:rPr lang="zh-CN" sz="825" dirty="0">
                <a:solidFill>
                  <a:srgbClr val="1E2761"/>
                </a:solidFill>
                <a:latin typeface="Arial"/>
                <a:ea typeface="Microsoft YaHei"/>
                <a:cs typeface="Arial"/>
              </a:rPr>
              <a:t>结构化知识片段</a:t>
            </a:r>
          </a:p>
        </p:txBody>
      </p:sp>
      <p:sp>
        <p:nvSpPr>
          <p:cNvPr id="44" name="Rectangle 44"/>
          <p:cNvSpPr/>
          <p:nvPr/>
        </p:nvSpPr>
        <p:spPr>
          <a:xfrm>
            <a:off x="762000" y="4762500"/>
            <a:ext cx="10668000" cy="1524000"/>
          </a:xfrm>
          <a:prstGeom prst="roundRect">
            <a:avLst>
              <a:gd name="adj" fmla="val 6250"/>
            </a:avLst>
          </a:prstGeom>
          <a:solidFill>
            <a:srgbClr val="1E2761">
              <a:alpha val="6000"/>
            </a:srgbClr>
          </a:solidFill>
          <a:ln w="19050">
            <a:solidFill>
              <a:srgbClr val="1E2761"/>
            </a:solidFill>
          </a:ln>
        </p:spPr>
      </p:sp>
      <p:sp>
        <p:nvSpPr>
          <p:cNvPr id="45" name="Rectangle 45"/>
          <p:cNvSpPr/>
          <p:nvPr/>
        </p:nvSpPr>
        <p:spPr>
          <a:xfrm>
            <a:off x="762000" y="4762500"/>
            <a:ext cx="76200" cy="1524000"/>
          </a:xfrm>
          <a:prstGeom prst="rect">
            <a:avLst/>
          </a:prstGeom>
          <a:solidFill>
            <a:srgbClr val="1E2761"/>
          </a:solidFill>
          <a:ln>
            <a:noFill/>
          </a:ln>
        </p:spPr>
      </p:sp>
      <p:sp>
        <p:nvSpPr>
          <p:cNvPr id="46" name="Rectangle 46"/>
          <p:cNvSpPr/>
          <p:nvPr/>
        </p:nvSpPr>
        <p:spPr>
          <a:xfrm>
            <a:off x="952500" y="4905375"/>
            <a:ext cx="476250" cy="247650"/>
          </a:xfrm>
          <a:prstGeom prst="roundRect">
            <a:avLst>
              <a:gd name="adj" fmla="val 50000"/>
            </a:avLst>
          </a:prstGeom>
          <a:solidFill>
            <a:srgbClr val="1E2761"/>
          </a:solidFill>
          <a:ln>
            <a:noFill/>
          </a:ln>
        </p:spPr>
      </p:sp>
      <p:sp>
        <p:nvSpPr>
          <p:cNvPr id="47" name="TextBox 47"/>
          <p:cNvSpPr txBox="1"/>
          <p:nvPr/>
        </p:nvSpPr>
        <p:spPr>
          <a:xfrm>
            <a:off x="1089506" y="4971574"/>
            <a:ext cx="20223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SimHei"/>
                <a:cs typeface="Segoe UI"/>
              </a:rPr>
              <a:t>M1</a:t>
            </a:r>
          </a:p>
        </p:txBody>
      </p:sp>
      <p:sp>
        <p:nvSpPr>
          <p:cNvPr id="48" name="TextBox 48"/>
          <p:cNvSpPr txBox="1"/>
          <p:nvPr/>
        </p:nvSpPr>
        <p:spPr>
          <a:xfrm>
            <a:off x="1552575" y="4914900"/>
            <a:ext cx="1928336"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第一级：外挂知识库</a:t>
            </a:r>
          </a:p>
        </p:txBody>
      </p:sp>
      <p:sp>
        <p:nvSpPr>
          <p:cNvPr id="49" name="Rectangle 49"/>
          <p:cNvSpPr/>
          <p:nvPr/>
        </p:nvSpPr>
        <p:spPr>
          <a:xfrm>
            <a:off x="1047750" y="5286375"/>
            <a:ext cx="1619250" cy="419100"/>
          </a:xfrm>
          <a:prstGeom prst="roundRect">
            <a:avLst>
              <a:gd name="adj" fmla="val 13636"/>
            </a:avLst>
          </a:prstGeom>
          <a:solidFill>
            <a:srgbClr val="FFFFFF"/>
          </a:solidFill>
          <a:ln w="9525">
            <a:solidFill>
              <a:srgbClr val="1E2761"/>
            </a:solidFill>
          </a:ln>
        </p:spPr>
      </p:sp>
      <p:sp>
        <p:nvSpPr>
          <p:cNvPr id="50" name="TextBox 50"/>
          <p:cNvSpPr txBox="1"/>
          <p:nvPr/>
        </p:nvSpPr>
        <p:spPr>
          <a:xfrm>
            <a:off x="1479994" y="5430202"/>
            <a:ext cx="754761"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知识库CRUD</a:t>
            </a:r>
          </a:p>
        </p:txBody>
      </p:sp>
      <p:sp>
        <p:nvSpPr>
          <p:cNvPr id="51" name="Rectangle 51"/>
          <p:cNvSpPr/>
          <p:nvPr/>
        </p:nvSpPr>
        <p:spPr>
          <a:xfrm>
            <a:off x="2857500" y="5286375"/>
            <a:ext cx="1619250" cy="419100"/>
          </a:xfrm>
          <a:prstGeom prst="roundRect">
            <a:avLst>
              <a:gd name="adj" fmla="val 13636"/>
            </a:avLst>
          </a:prstGeom>
          <a:solidFill>
            <a:srgbClr val="FFFFFF"/>
          </a:solidFill>
          <a:ln w="9525">
            <a:solidFill>
              <a:srgbClr val="1E2761"/>
            </a:solidFill>
          </a:ln>
        </p:spPr>
      </p:sp>
      <p:sp>
        <p:nvSpPr>
          <p:cNvPr id="52" name="TextBox 52"/>
          <p:cNvSpPr txBox="1"/>
          <p:nvPr/>
        </p:nvSpPr>
        <p:spPr>
          <a:xfrm>
            <a:off x="3233738" y="5430202"/>
            <a:ext cx="866775"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文档上传解析</a:t>
            </a:r>
          </a:p>
        </p:txBody>
      </p:sp>
      <p:sp>
        <p:nvSpPr>
          <p:cNvPr id="53" name="Rectangle 53"/>
          <p:cNvSpPr/>
          <p:nvPr/>
        </p:nvSpPr>
        <p:spPr>
          <a:xfrm>
            <a:off x="4667250" y="5286375"/>
            <a:ext cx="1619250" cy="419100"/>
          </a:xfrm>
          <a:prstGeom prst="roundRect">
            <a:avLst>
              <a:gd name="adj" fmla="val 13636"/>
            </a:avLst>
          </a:prstGeom>
          <a:solidFill>
            <a:srgbClr val="FFFFFF"/>
          </a:solidFill>
          <a:ln w="9525">
            <a:solidFill>
              <a:srgbClr val="1E2761"/>
            </a:solidFill>
          </a:ln>
        </p:spPr>
      </p:sp>
      <p:sp>
        <p:nvSpPr>
          <p:cNvPr id="54" name="TextBox 54"/>
          <p:cNvSpPr txBox="1"/>
          <p:nvPr/>
        </p:nvSpPr>
        <p:spPr>
          <a:xfrm>
            <a:off x="5183505" y="5430202"/>
            <a:ext cx="586740"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智能分块</a:t>
            </a:r>
          </a:p>
        </p:txBody>
      </p:sp>
      <p:sp>
        <p:nvSpPr>
          <p:cNvPr id="55" name="Rectangle 55"/>
          <p:cNvSpPr/>
          <p:nvPr/>
        </p:nvSpPr>
        <p:spPr>
          <a:xfrm>
            <a:off x="6477000" y="5286375"/>
            <a:ext cx="1619250" cy="419100"/>
          </a:xfrm>
          <a:prstGeom prst="roundRect">
            <a:avLst>
              <a:gd name="adj" fmla="val 13636"/>
            </a:avLst>
          </a:prstGeom>
          <a:solidFill>
            <a:srgbClr val="FFFFFF"/>
          </a:solidFill>
          <a:ln w="9525">
            <a:solidFill>
              <a:srgbClr val="1E2761"/>
            </a:solidFill>
          </a:ln>
        </p:spPr>
      </p:sp>
      <p:sp>
        <p:nvSpPr>
          <p:cNvPr id="56" name="TextBox 56"/>
          <p:cNvSpPr txBox="1"/>
          <p:nvPr/>
        </p:nvSpPr>
        <p:spPr>
          <a:xfrm>
            <a:off x="6923246" y="5430202"/>
            <a:ext cx="726758"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元数据标注</a:t>
            </a:r>
          </a:p>
        </p:txBody>
      </p:sp>
      <p:sp>
        <p:nvSpPr>
          <p:cNvPr id="57" name="Rectangle 57"/>
          <p:cNvSpPr/>
          <p:nvPr/>
        </p:nvSpPr>
        <p:spPr>
          <a:xfrm>
            <a:off x="8286750" y="5286375"/>
            <a:ext cx="1619250" cy="419100"/>
          </a:xfrm>
          <a:prstGeom prst="roundRect">
            <a:avLst>
              <a:gd name="adj" fmla="val 13636"/>
            </a:avLst>
          </a:prstGeom>
          <a:solidFill>
            <a:srgbClr val="FFFFFF"/>
          </a:solidFill>
          <a:ln w="9525">
            <a:solidFill>
              <a:srgbClr val="1E2761"/>
            </a:solidFill>
          </a:ln>
        </p:spPr>
      </p:sp>
      <p:sp>
        <p:nvSpPr>
          <p:cNvPr id="58" name="TextBox 58"/>
          <p:cNvSpPr txBox="1"/>
          <p:nvPr/>
        </p:nvSpPr>
        <p:spPr>
          <a:xfrm>
            <a:off x="8662988" y="5430202"/>
            <a:ext cx="866775"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多源数据整合</a:t>
            </a:r>
          </a:p>
        </p:txBody>
      </p:sp>
      <p:sp>
        <p:nvSpPr>
          <p:cNvPr id="59" name="TextBox 59"/>
          <p:cNvSpPr txBox="1"/>
          <p:nvPr/>
        </p:nvSpPr>
        <p:spPr>
          <a:xfrm>
            <a:off x="1036320" y="5855970"/>
            <a:ext cx="134302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输入：非结构化军事文档</a:t>
            </a:r>
          </a:p>
        </p:txBody>
      </p:sp>
      <p:sp>
        <p:nvSpPr>
          <p:cNvPr id="60" name="TextBox 60"/>
          <p:cNvSpPr txBox="1"/>
          <p:nvPr/>
        </p:nvSpPr>
        <p:spPr>
          <a:xfrm>
            <a:off x="4751070" y="5855970"/>
            <a:ext cx="2219134"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输出：结构化知识块 + 向量索引 + 元数据</a:t>
            </a:r>
          </a:p>
        </p:txBody>
      </p:sp>
      <p:sp>
        <p:nvSpPr>
          <p:cNvPr id="61" name="TextBox 61"/>
          <p:cNvSpPr txBox="1"/>
          <p:nvPr/>
        </p:nvSpPr>
        <p:spPr>
          <a:xfrm>
            <a:off x="10276522" y="6387941"/>
            <a:ext cx="162165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基于 ragflow v0.18.0 领域适配</a:t>
            </a:r>
          </a:p>
        </p:txBody>
      </p:sp>
      <p:sp>
        <p:nvSpPr>
          <p:cNvPr id="62" name="TextBox 62"/>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3 / 14</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817561"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技术体系架构</a:t>
            </a:r>
          </a:p>
        </p:txBody>
      </p:sp>
      <p:sp>
        <p:nvSpPr>
          <p:cNvPr id="5" name="TextBox 5"/>
          <p:cNvSpPr txBox="1"/>
          <p:nvPr/>
        </p:nvSpPr>
        <p:spPr>
          <a:xfrm>
            <a:off x="2844165" y="286702"/>
            <a:ext cx="4290203"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四层技术架构：用户交互层 / 应用服务层 / 数据存储层 / 基础设施层</a:t>
            </a:r>
          </a:p>
        </p:txBody>
      </p:sp>
      <p:sp>
        <p:nvSpPr>
          <p:cNvPr id="6" name="Rectangle 6"/>
          <p:cNvSpPr/>
          <p:nvPr/>
        </p:nvSpPr>
        <p:spPr>
          <a:xfrm>
            <a:off x="571500" y="857250"/>
            <a:ext cx="11049000" cy="952500"/>
          </a:xfrm>
          <a:prstGeom prst="roundRect">
            <a:avLst>
              <a:gd name="adj" fmla="val 8000"/>
            </a:avLst>
          </a:prstGeom>
          <a:solidFill>
            <a:srgbClr val="4A7BF7">
              <a:alpha val="6000"/>
            </a:srgbClr>
          </a:solidFill>
          <a:ln w="14288">
            <a:solidFill>
              <a:srgbClr val="4A7BF7"/>
            </a:solidFill>
          </a:ln>
        </p:spPr>
      </p:sp>
      <p:sp>
        <p:nvSpPr>
          <p:cNvPr id="7" name="Rectangle 7"/>
          <p:cNvSpPr/>
          <p:nvPr/>
        </p:nvSpPr>
        <p:spPr>
          <a:xfrm>
            <a:off x="571500" y="857250"/>
            <a:ext cx="57150" cy="952500"/>
          </a:xfrm>
          <a:prstGeom prst="rect">
            <a:avLst/>
          </a:prstGeom>
          <a:solidFill>
            <a:srgbClr val="4A7BF7"/>
          </a:solidFill>
          <a:ln>
            <a:noFill/>
          </a:ln>
        </p:spPr>
      </p:sp>
      <p:sp>
        <p:nvSpPr>
          <p:cNvPr id="8" name="TextBox 8"/>
          <p:cNvSpPr txBox="1"/>
          <p:nvPr/>
        </p:nvSpPr>
        <p:spPr>
          <a:xfrm>
            <a:off x="794385" y="965835"/>
            <a:ext cx="870585" cy="243840"/>
          </a:xfrm>
          <a:prstGeom prst="rect">
            <a:avLst/>
          </a:prstGeom>
          <a:noFill/>
          <a:ln>
            <a:noFill/>
          </a:ln>
        </p:spPr>
        <p:txBody>
          <a:bodyPr wrap="none" lIns="0" tIns="0" rIns="0" bIns="0" anchor="t" anchorCtr="0">
            <a:spAutoFit/>
          </a:bodyPr>
          <a:lstStyle/>
          <a:p>
            <a:pPr algn="l"/>
            <a:r>
              <a:rPr lang="zh-CN" sz="1200" b="1" dirty="0">
                <a:solidFill>
                  <a:srgbClr val="4A7BF7"/>
                </a:solidFill>
                <a:latin typeface="Segoe UI"/>
                <a:ea typeface="SimHei"/>
                <a:cs typeface="Segoe UI"/>
              </a:rPr>
              <a:t>用户交互层</a:t>
            </a:r>
          </a:p>
        </p:txBody>
      </p:sp>
      <p:sp>
        <p:nvSpPr>
          <p:cNvPr id="9" name="Rectangle 9"/>
          <p:cNvSpPr/>
          <p:nvPr/>
        </p:nvSpPr>
        <p:spPr>
          <a:xfrm>
            <a:off x="809625" y="1209675"/>
            <a:ext cx="1714500" cy="428625"/>
          </a:xfrm>
          <a:prstGeom prst="roundRect">
            <a:avLst>
              <a:gd name="adj" fmla="val 13333"/>
            </a:avLst>
          </a:prstGeom>
          <a:solidFill>
            <a:srgbClr val="FFFFFF"/>
          </a:solidFill>
          <a:ln w="9525">
            <a:solidFill>
              <a:srgbClr val="4A7BF7"/>
            </a:solidFill>
          </a:ln>
        </p:spPr>
      </p:sp>
      <p:sp>
        <p:nvSpPr>
          <p:cNvPr id="10" name="TextBox 10"/>
          <p:cNvSpPr txBox="1"/>
          <p:nvPr/>
        </p:nvSpPr>
        <p:spPr>
          <a:xfrm>
            <a:off x="1070882" y="1304449"/>
            <a:ext cx="1191986" cy="198120"/>
          </a:xfrm>
          <a:prstGeom prst="rect">
            <a:avLst/>
          </a:prstGeom>
          <a:noFill/>
          <a:ln>
            <a:noFill/>
          </a:ln>
        </p:spPr>
        <p:txBody>
          <a:bodyPr wrap="none" lIns="0" tIns="0" rIns="0" bIns="0" anchor="t" anchorCtr="0">
            <a:spAutoFit/>
          </a:bodyPr>
          <a:lstStyle/>
          <a:p>
            <a:pPr algn="ctr"/>
            <a:r>
              <a:rPr lang="zh-CN" sz="975" b="1" dirty="0">
                <a:solidFill>
                  <a:srgbClr val="1E2761"/>
                </a:solidFill>
                <a:latin typeface="Segoe UI"/>
                <a:ea typeface="SimHei"/>
                <a:cs typeface="Segoe UI"/>
              </a:rPr>
              <a:t>gaisoft-frontend</a:t>
            </a:r>
          </a:p>
        </p:txBody>
      </p:sp>
      <p:sp>
        <p:nvSpPr>
          <p:cNvPr id="11" name="TextBox 11"/>
          <p:cNvSpPr txBox="1"/>
          <p:nvPr/>
        </p:nvSpPr>
        <p:spPr>
          <a:xfrm>
            <a:off x="1434822" y="1481138"/>
            <a:ext cx="464106" cy="152400"/>
          </a:xfrm>
          <a:prstGeom prst="rect">
            <a:avLst/>
          </a:prstGeom>
          <a:noFill/>
          <a:ln>
            <a:noFill/>
          </a:ln>
        </p:spPr>
        <p:txBody>
          <a:bodyPr wrap="none" lIns="0" tIns="0" rIns="0" bIns="0" anchor="t" anchorCtr="0">
            <a:spAutoFit/>
          </a:bodyPr>
          <a:lstStyle/>
          <a:p>
            <a:pPr algn="ctr"/>
            <a:r>
              <a:rPr lang="zh-CN" sz="750" dirty="0">
                <a:solidFill>
                  <a:srgbClr val="64748B"/>
                </a:solidFill>
                <a:latin typeface="Arial"/>
                <a:ea typeface="Microsoft YaHei"/>
                <a:cs typeface="Arial"/>
              </a:rPr>
              <a:t>Vue 3 SPA</a:t>
            </a:r>
          </a:p>
        </p:txBody>
      </p:sp>
      <p:sp>
        <p:nvSpPr>
          <p:cNvPr id="12" name="Rectangle 12"/>
          <p:cNvSpPr/>
          <p:nvPr/>
        </p:nvSpPr>
        <p:spPr>
          <a:xfrm>
            <a:off x="2714625" y="1209675"/>
            <a:ext cx="1714500" cy="428625"/>
          </a:xfrm>
          <a:prstGeom prst="roundRect">
            <a:avLst>
              <a:gd name="adj" fmla="val 13333"/>
            </a:avLst>
          </a:prstGeom>
          <a:solidFill>
            <a:srgbClr val="FFFFFF"/>
          </a:solidFill>
          <a:ln w="9525">
            <a:solidFill>
              <a:srgbClr val="4A7BF7"/>
            </a:solidFill>
          </a:ln>
        </p:spPr>
      </p:sp>
      <p:sp>
        <p:nvSpPr>
          <p:cNvPr id="13" name="TextBox 13"/>
          <p:cNvSpPr txBox="1"/>
          <p:nvPr/>
        </p:nvSpPr>
        <p:spPr>
          <a:xfrm>
            <a:off x="3074857" y="1304449"/>
            <a:ext cx="994036" cy="198120"/>
          </a:xfrm>
          <a:prstGeom prst="rect">
            <a:avLst/>
          </a:prstGeom>
          <a:noFill/>
          <a:ln>
            <a:noFill/>
          </a:ln>
        </p:spPr>
        <p:txBody>
          <a:bodyPr wrap="none" lIns="0" tIns="0" rIns="0" bIns="0" anchor="t" anchorCtr="0">
            <a:spAutoFit/>
          </a:bodyPr>
          <a:lstStyle/>
          <a:p>
            <a:pPr algn="ctr"/>
            <a:r>
              <a:rPr lang="zh-CN" sz="975" b="1" dirty="0">
                <a:solidFill>
                  <a:srgbClr val="1E2761"/>
                </a:solidFill>
                <a:latin typeface="Segoe UI"/>
                <a:ea typeface="SimHei"/>
                <a:cs typeface="Segoe UI"/>
              </a:rPr>
              <a:t>ragflow Web UI</a:t>
            </a:r>
          </a:p>
        </p:txBody>
      </p:sp>
      <p:sp>
        <p:nvSpPr>
          <p:cNvPr id="14" name="TextBox 14"/>
          <p:cNvSpPr txBox="1"/>
          <p:nvPr/>
        </p:nvSpPr>
        <p:spPr>
          <a:xfrm>
            <a:off x="3279815" y="1481138"/>
            <a:ext cx="584121" cy="152400"/>
          </a:xfrm>
          <a:prstGeom prst="rect">
            <a:avLst/>
          </a:prstGeom>
          <a:noFill/>
          <a:ln>
            <a:noFill/>
          </a:ln>
        </p:spPr>
        <p:txBody>
          <a:bodyPr wrap="none" lIns="0" tIns="0" rIns="0" bIns="0" anchor="t" anchorCtr="0">
            <a:spAutoFit/>
          </a:bodyPr>
          <a:lstStyle/>
          <a:p>
            <a:pPr algn="ctr"/>
            <a:r>
              <a:rPr lang="zh-CN" sz="750" dirty="0">
                <a:solidFill>
                  <a:srgbClr val="64748B"/>
                </a:solidFill>
                <a:latin typeface="Arial"/>
                <a:ea typeface="Microsoft YaHei"/>
                <a:cs typeface="Arial"/>
              </a:rPr>
              <a:t>RAG管理界面</a:t>
            </a:r>
          </a:p>
        </p:txBody>
      </p:sp>
      <p:sp>
        <p:nvSpPr>
          <p:cNvPr id="15" name="Rectangle 15"/>
          <p:cNvSpPr/>
          <p:nvPr/>
        </p:nvSpPr>
        <p:spPr>
          <a:xfrm>
            <a:off x="4619625" y="1209675"/>
            <a:ext cx="1714500" cy="428625"/>
          </a:xfrm>
          <a:prstGeom prst="roundRect">
            <a:avLst>
              <a:gd name="adj" fmla="val 13333"/>
            </a:avLst>
          </a:prstGeom>
          <a:solidFill>
            <a:srgbClr val="FFFFFF"/>
          </a:solidFill>
          <a:ln w="9525">
            <a:solidFill>
              <a:srgbClr val="4A7BF7"/>
            </a:solidFill>
          </a:ln>
        </p:spPr>
      </p:sp>
      <p:sp>
        <p:nvSpPr>
          <p:cNvPr id="16" name="TextBox 16"/>
          <p:cNvSpPr txBox="1"/>
          <p:nvPr/>
        </p:nvSpPr>
        <p:spPr>
          <a:xfrm>
            <a:off x="5000334" y="1304449"/>
            <a:ext cx="953081" cy="198120"/>
          </a:xfrm>
          <a:prstGeom prst="rect">
            <a:avLst/>
          </a:prstGeom>
          <a:noFill/>
          <a:ln>
            <a:noFill/>
          </a:ln>
        </p:spPr>
        <p:txBody>
          <a:bodyPr wrap="none" lIns="0" tIns="0" rIns="0" bIns="0" anchor="t" anchorCtr="0">
            <a:spAutoFit/>
          </a:bodyPr>
          <a:lstStyle/>
          <a:p>
            <a:pPr algn="ctr"/>
            <a:r>
              <a:rPr lang="zh-CN" sz="975" b="1" dirty="0">
                <a:solidFill>
                  <a:srgbClr val="1E2761"/>
                </a:solidFill>
                <a:latin typeface="Segoe UI"/>
                <a:ea typeface="SimHei"/>
                <a:cs typeface="Segoe UI"/>
              </a:rPr>
              <a:t>Nginx 反向代理</a:t>
            </a:r>
          </a:p>
        </p:txBody>
      </p:sp>
      <p:sp>
        <p:nvSpPr>
          <p:cNvPr id="17" name="TextBox 17"/>
          <p:cNvSpPr txBox="1"/>
          <p:nvPr/>
        </p:nvSpPr>
        <p:spPr>
          <a:xfrm>
            <a:off x="5169813" y="1481138"/>
            <a:ext cx="614124" cy="152400"/>
          </a:xfrm>
          <a:prstGeom prst="rect">
            <a:avLst/>
          </a:prstGeom>
          <a:noFill/>
          <a:ln>
            <a:noFill/>
          </a:ln>
        </p:spPr>
        <p:txBody>
          <a:bodyPr wrap="none" lIns="0" tIns="0" rIns="0" bIns="0" anchor="t" anchorCtr="0">
            <a:spAutoFit/>
          </a:bodyPr>
          <a:lstStyle/>
          <a:p>
            <a:pPr algn="ctr"/>
            <a:r>
              <a:rPr lang="zh-CN" sz="750" dirty="0">
                <a:solidFill>
                  <a:srgbClr val="64748B"/>
                </a:solidFill>
                <a:latin typeface="Arial"/>
                <a:ea typeface="Microsoft YaHei"/>
                <a:cs typeface="Arial"/>
              </a:rPr>
              <a:t>统一入口 :80</a:t>
            </a:r>
          </a:p>
        </p:txBody>
      </p:sp>
      <p:sp>
        <p:nvSpPr>
          <p:cNvPr id="18" name="Rectangle 18"/>
          <p:cNvSpPr/>
          <p:nvPr/>
        </p:nvSpPr>
        <p:spPr>
          <a:xfrm>
            <a:off x="6524625" y="1209675"/>
            <a:ext cx="1714500" cy="428625"/>
          </a:xfrm>
          <a:prstGeom prst="roundRect">
            <a:avLst>
              <a:gd name="adj" fmla="val 13333"/>
            </a:avLst>
          </a:prstGeom>
          <a:solidFill>
            <a:srgbClr val="FFFFFF"/>
          </a:solidFill>
          <a:ln w="9525">
            <a:solidFill>
              <a:srgbClr val="4A7BF7"/>
            </a:solidFill>
          </a:ln>
        </p:spPr>
      </p:sp>
      <p:sp>
        <p:nvSpPr>
          <p:cNvPr id="19" name="TextBox 19"/>
          <p:cNvSpPr txBox="1"/>
          <p:nvPr/>
        </p:nvSpPr>
        <p:spPr>
          <a:xfrm>
            <a:off x="7086220" y="1304449"/>
            <a:ext cx="591311" cy="198120"/>
          </a:xfrm>
          <a:prstGeom prst="rect">
            <a:avLst/>
          </a:prstGeom>
          <a:noFill/>
          <a:ln>
            <a:noFill/>
          </a:ln>
        </p:spPr>
        <p:txBody>
          <a:bodyPr wrap="none" lIns="0" tIns="0" rIns="0" bIns="0" anchor="t" anchorCtr="0">
            <a:spAutoFit/>
          </a:bodyPr>
          <a:lstStyle/>
          <a:p>
            <a:pPr algn="ctr"/>
            <a:r>
              <a:rPr lang="zh-CN" sz="975" b="1" dirty="0">
                <a:solidFill>
                  <a:srgbClr val="1E2761"/>
                </a:solidFill>
                <a:latin typeface="Segoe UI"/>
                <a:ea typeface="SimHei"/>
                <a:cs typeface="Segoe UI"/>
              </a:rPr>
              <a:t>JWT 认证</a:t>
            </a:r>
          </a:p>
        </p:txBody>
      </p:sp>
      <p:sp>
        <p:nvSpPr>
          <p:cNvPr id="20" name="TextBox 20"/>
          <p:cNvSpPr txBox="1"/>
          <p:nvPr/>
        </p:nvSpPr>
        <p:spPr>
          <a:xfrm>
            <a:off x="7119818" y="1481138"/>
            <a:ext cx="524113" cy="152400"/>
          </a:xfrm>
          <a:prstGeom prst="rect">
            <a:avLst/>
          </a:prstGeom>
          <a:noFill/>
          <a:ln>
            <a:noFill/>
          </a:ln>
        </p:spPr>
        <p:txBody>
          <a:bodyPr wrap="none" lIns="0" tIns="0" rIns="0" bIns="0" anchor="t" anchorCtr="0">
            <a:spAutoFit/>
          </a:bodyPr>
          <a:lstStyle/>
          <a:p>
            <a:pPr algn="ctr"/>
            <a:r>
              <a:rPr lang="zh-CN" sz="750" dirty="0">
                <a:solidFill>
                  <a:srgbClr val="64748B"/>
                </a:solidFill>
                <a:latin typeface="Arial"/>
                <a:ea typeface="Microsoft YaHei"/>
                <a:cs typeface="Arial"/>
              </a:rPr>
              <a:t>Token 鉴权</a:t>
            </a:r>
          </a:p>
        </p:txBody>
      </p:sp>
      <p:sp>
        <p:nvSpPr>
          <p:cNvPr id="21" name="Line 21"/>
          <p:cNvSpPr/>
          <p:nvPr/>
        </p:nvSpPr>
        <p:spPr>
          <a:xfrm>
            <a:off x="6096000" y="1809750"/>
            <a:ext cx="9525" cy="114300"/>
          </a:xfrm>
          <a:custGeom>
            <a:avLst/>
            <a:gdLst/>
            <a:ahLst/>
            <a:cxnLst/>
            <a:rect l="l" t="t" r="r" b="b"/>
            <a:pathLst>
              <a:path w="9525" h="114300">
                <a:moveTo>
                  <a:pt x="0" y="0"/>
                </a:moveTo>
                <a:lnTo>
                  <a:pt x="0" y="114300"/>
                </a:lnTo>
              </a:path>
            </a:pathLst>
          </a:custGeom>
          <a:noFill/>
          <a:ln w="19050">
            <a:solidFill>
              <a:srgbClr val="94A3B8"/>
            </a:solidFill>
          </a:ln>
        </p:spPr>
      </p:sp>
      <p:sp>
        <p:nvSpPr>
          <p:cNvPr id="22" name="Polygon 22"/>
          <p:cNvSpPr/>
          <p:nvPr/>
        </p:nvSpPr>
        <p:spPr>
          <a:xfrm>
            <a:off x="6038850" y="1924050"/>
            <a:ext cx="114300" cy="95250"/>
          </a:xfrm>
          <a:custGeom>
            <a:avLst/>
            <a:gdLst/>
            <a:ahLst/>
            <a:cxnLst/>
            <a:rect l="l" t="t" r="r" b="b"/>
            <a:pathLst>
              <a:path w="114300" h="95250">
                <a:moveTo>
                  <a:pt x="0" y="0"/>
                </a:moveTo>
                <a:lnTo>
                  <a:pt x="114300" y="0"/>
                </a:lnTo>
                <a:lnTo>
                  <a:pt x="57150" y="95250"/>
                </a:lnTo>
                <a:close/>
              </a:path>
            </a:pathLst>
          </a:custGeom>
          <a:solidFill>
            <a:srgbClr val="94A3B8"/>
          </a:solidFill>
          <a:ln>
            <a:noFill/>
          </a:ln>
        </p:spPr>
      </p:sp>
      <p:sp>
        <p:nvSpPr>
          <p:cNvPr id="23" name="Rectangle 23"/>
          <p:cNvSpPr/>
          <p:nvPr/>
        </p:nvSpPr>
        <p:spPr>
          <a:xfrm>
            <a:off x="571500" y="2047875"/>
            <a:ext cx="11049000" cy="2476500"/>
          </a:xfrm>
          <a:prstGeom prst="roundRect">
            <a:avLst>
              <a:gd name="adj" fmla="val 3077"/>
            </a:avLst>
          </a:prstGeom>
          <a:solidFill>
            <a:srgbClr val="2DD4A8">
              <a:alpha val="5000"/>
            </a:srgbClr>
          </a:solidFill>
          <a:ln w="14288">
            <a:solidFill>
              <a:srgbClr val="2DD4A8"/>
            </a:solidFill>
          </a:ln>
        </p:spPr>
      </p:sp>
      <p:sp>
        <p:nvSpPr>
          <p:cNvPr id="24" name="Rectangle 24"/>
          <p:cNvSpPr/>
          <p:nvPr/>
        </p:nvSpPr>
        <p:spPr>
          <a:xfrm>
            <a:off x="571500" y="2047875"/>
            <a:ext cx="57150" cy="2476500"/>
          </a:xfrm>
          <a:prstGeom prst="rect">
            <a:avLst/>
          </a:prstGeom>
          <a:solidFill>
            <a:srgbClr val="2DD4A8"/>
          </a:solidFill>
          <a:ln>
            <a:noFill/>
          </a:ln>
        </p:spPr>
      </p:sp>
      <p:sp>
        <p:nvSpPr>
          <p:cNvPr id="25" name="TextBox 25"/>
          <p:cNvSpPr txBox="1"/>
          <p:nvPr/>
        </p:nvSpPr>
        <p:spPr>
          <a:xfrm>
            <a:off x="794385" y="2156460"/>
            <a:ext cx="870585" cy="243840"/>
          </a:xfrm>
          <a:prstGeom prst="rect">
            <a:avLst/>
          </a:prstGeom>
          <a:noFill/>
          <a:ln>
            <a:noFill/>
          </a:ln>
        </p:spPr>
        <p:txBody>
          <a:bodyPr wrap="none" lIns="0" tIns="0" rIns="0" bIns="0" anchor="t" anchorCtr="0">
            <a:spAutoFit/>
          </a:bodyPr>
          <a:lstStyle/>
          <a:p>
            <a:pPr algn="l"/>
            <a:r>
              <a:rPr lang="zh-CN" sz="1200" b="1" dirty="0">
                <a:solidFill>
                  <a:srgbClr val="2DD4A8"/>
                </a:solidFill>
                <a:latin typeface="Segoe UI"/>
                <a:ea typeface="SimHei"/>
                <a:cs typeface="Segoe UI"/>
              </a:rPr>
              <a:t>应用服务层</a:t>
            </a:r>
          </a:p>
        </p:txBody>
      </p:sp>
      <p:sp>
        <p:nvSpPr>
          <p:cNvPr id="26" name="Rectangle 26"/>
          <p:cNvSpPr/>
          <p:nvPr/>
        </p:nvSpPr>
        <p:spPr>
          <a:xfrm>
            <a:off x="762000" y="2428875"/>
            <a:ext cx="4953000" cy="1905000"/>
          </a:xfrm>
          <a:prstGeom prst="roundRect">
            <a:avLst>
              <a:gd name="adj" fmla="val 4000"/>
            </a:avLst>
          </a:prstGeom>
          <a:solidFill>
            <a:srgbClr val="2DD4A8">
              <a:alpha val="6000"/>
            </a:srgbClr>
          </a:solidFill>
          <a:ln w="14288">
            <a:solidFill>
              <a:srgbClr val="2DD4A8"/>
            </a:solidFill>
          </a:ln>
        </p:spPr>
      </p:sp>
      <p:sp>
        <p:nvSpPr>
          <p:cNvPr id="27" name="Rectangle 27"/>
          <p:cNvSpPr/>
          <p:nvPr/>
        </p:nvSpPr>
        <p:spPr>
          <a:xfrm>
            <a:off x="762000" y="2428875"/>
            <a:ext cx="4953000" cy="304800"/>
          </a:xfrm>
          <a:prstGeom prst="roundRect">
            <a:avLst>
              <a:gd name="adj" fmla="val 25000"/>
            </a:avLst>
          </a:prstGeom>
          <a:solidFill>
            <a:srgbClr val="2DD4A8"/>
          </a:solidFill>
          <a:ln>
            <a:noFill/>
          </a:ln>
        </p:spPr>
      </p:sp>
      <p:sp>
        <p:nvSpPr>
          <p:cNvPr id="28" name="Rectangle 28"/>
          <p:cNvSpPr/>
          <p:nvPr/>
        </p:nvSpPr>
        <p:spPr>
          <a:xfrm>
            <a:off x="762000" y="2619375"/>
            <a:ext cx="4953000" cy="114300"/>
          </a:xfrm>
          <a:prstGeom prst="rect">
            <a:avLst/>
          </a:prstGeom>
          <a:solidFill>
            <a:srgbClr val="2DD4A8"/>
          </a:solidFill>
          <a:ln>
            <a:noFill/>
          </a:ln>
        </p:spPr>
      </p:sp>
      <p:sp>
        <p:nvSpPr>
          <p:cNvPr id="29" name="TextBox 29"/>
          <p:cNvSpPr txBox="1"/>
          <p:nvPr/>
        </p:nvSpPr>
        <p:spPr>
          <a:xfrm>
            <a:off x="2023290" y="2525078"/>
            <a:ext cx="243042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gaisoft-server (Spring Boot 2.x)</a:t>
            </a:r>
          </a:p>
        </p:txBody>
      </p:sp>
      <p:sp>
        <p:nvSpPr>
          <p:cNvPr id="30" name="Rectangle 30"/>
          <p:cNvSpPr/>
          <p:nvPr/>
        </p:nvSpPr>
        <p:spPr>
          <a:xfrm>
            <a:off x="904875" y="2838450"/>
            <a:ext cx="1476375" cy="361950"/>
          </a:xfrm>
          <a:prstGeom prst="roundRect">
            <a:avLst>
              <a:gd name="adj" fmla="val 13158"/>
            </a:avLst>
          </a:prstGeom>
          <a:solidFill>
            <a:srgbClr val="FFFFFF"/>
          </a:solidFill>
          <a:ln w="9525">
            <a:solidFill>
              <a:srgbClr val="2DD4A8"/>
            </a:solidFill>
          </a:ln>
        </p:spPr>
      </p:sp>
      <p:sp>
        <p:nvSpPr>
          <p:cNvPr id="31" name="TextBox 31"/>
          <p:cNvSpPr txBox="1"/>
          <p:nvPr/>
        </p:nvSpPr>
        <p:spPr>
          <a:xfrm>
            <a:off x="1229023" y="2968466"/>
            <a:ext cx="818555"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用户认证 (JWT)</a:t>
            </a:r>
          </a:p>
        </p:txBody>
      </p:sp>
      <p:sp>
        <p:nvSpPr>
          <p:cNvPr id="32" name="Rectangle 32"/>
          <p:cNvSpPr/>
          <p:nvPr/>
        </p:nvSpPr>
        <p:spPr>
          <a:xfrm>
            <a:off x="2476500" y="2838450"/>
            <a:ext cx="1476375" cy="361950"/>
          </a:xfrm>
          <a:prstGeom prst="roundRect">
            <a:avLst>
              <a:gd name="adj" fmla="val 13158"/>
            </a:avLst>
          </a:prstGeom>
          <a:solidFill>
            <a:srgbClr val="FFFFFF"/>
          </a:solidFill>
          <a:ln w="9525">
            <a:solidFill>
              <a:srgbClr val="2DD4A8"/>
            </a:solidFill>
          </a:ln>
        </p:spPr>
      </p:sp>
      <p:sp>
        <p:nvSpPr>
          <p:cNvPr id="33" name="TextBox 33"/>
          <p:cNvSpPr txBox="1"/>
          <p:nvPr/>
        </p:nvSpPr>
        <p:spPr>
          <a:xfrm>
            <a:off x="2924413" y="2968466"/>
            <a:ext cx="571024"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知识库管理</a:t>
            </a:r>
          </a:p>
        </p:txBody>
      </p:sp>
      <p:sp>
        <p:nvSpPr>
          <p:cNvPr id="34" name="Rectangle 34"/>
          <p:cNvSpPr/>
          <p:nvPr/>
        </p:nvSpPr>
        <p:spPr>
          <a:xfrm>
            <a:off x="4048125" y="2838450"/>
            <a:ext cx="1476375" cy="361950"/>
          </a:xfrm>
          <a:prstGeom prst="roundRect">
            <a:avLst>
              <a:gd name="adj" fmla="val 13158"/>
            </a:avLst>
          </a:prstGeom>
          <a:solidFill>
            <a:srgbClr val="FFFFFF"/>
          </a:solidFill>
          <a:ln w="9525">
            <a:solidFill>
              <a:srgbClr val="2DD4A8"/>
            </a:solidFill>
          </a:ln>
        </p:spPr>
      </p:sp>
      <p:sp>
        <p:nvSpPr>
          <p:cNvPr id="35" name="TextBox 35"/>
          <p:cNvSpPr txBox="1"/>
          <p:nvPr/>
        </p:nvSpPr>
        <p:spPr>
          <a:xfrm>
            <a:off x="4551045" y="2968466"/>
            <a:ext cx="461010"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对话管理</a:t>
            </a:r>
          </a:p>
        </p:txBody>
      </p:sp>
      <p:sp>
        <p:nvSpPr>
          <p:cNvPr id="36" name="Rectangle 36"/>
          <p:cNvSpPr/>
          <p:nvPr/>
        </p:nvSpPr>
        <p:spPr>
          <a:xfrm>
            <a:off x="904875" y="3295650"/>
            <a:ext cx="1476375" cy="361950"/>
          </a:xfrm>
          <a:prstGeom prst="roundRect">
            <a:avLst>
              <a:gd name="adj" fmla="val 13158"/>
            </a:avLst>
          </a:prstGeom>
          <a:solidFill>
            <a:srgbClr val="FFFFFF"/>
          </a:solidFill>
          <a:ln w="9525">
            <a:solidFill>
              <a:srgbClr val="2DD4A8"/>
            </a:solidFill>
          </a:ln>
        </p:spPr>
      </p:sp>
      <p:sp>
        <p:nvSpPr>
          <p:cNvPr id="37" name="TextBox 37"/>
          <p:cNvSpPr txBox="1"/>
          <p:nvPr/>
        </p:nvSpPr>
        <p:spPr>
          <a:xfrm>
            <a:off x="1407795" y="3425666"/>
            <a:ext cx="461010"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文件管理</a:t>
            </a:r>
          </a:p>
        </p:txBody>
      </p:sp>
      <p:sp>
        <p:nvSpPr>
          <p:cNvPr id="38" name="Rectangle 38"/>
          <p:cNvSpPr/>
          <p:nvPr/>
        </p:nvSpPr>
        <p:spPr>
          <a:xfrm>
            <a:off x="2476500" y="3295650"/>
            <a:ext cx="1476375" cy="361950"/>
          </a:xfrm>
          <a:prstGeom prst="roundRect">
            <a:avLst>
              <a:gd name="adj" fmla="val 13158"/>
            </a:avLst>
          </a:prstGeom>
          <a:solidFill>
            <a:srgbClr val="FFFFFF"/>
          </a:solidFill>
          <a:ln w="9525">
            <a:solidFill>
              <a:srgbClr val="2DD4A8"/>
            </a:solidFill>
          </a:ln>
        </p:spPr>
      </p:sp>
      <p:sp>
        <p:nvSpPr>
          <p:cNvPr id="39" name="TextBox 39"/>
          <p:cNvSpPr txBox="1"/>
          <p:nvPr/>
        </p:nvSpPr>
        <p:spPr>
          <a:xfrm>
            <a:off x="2979420" y="3425666"/>
            <a:ext cx="461010"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模型管理</a:t>
            </a:r>
          </a:p>
        </p:txBody>
      </p:sp>
      <p:sp>
        <p:nvSpPr>
          <p:cNvPr id="40" name="Rectangle 40"/>
          <p:cNvSpPr/>
          <p:nvPr/>
        </p:nvSpPr>
        <p:spPr>
          <a:xfrm>
            <a:off x="4048125" y="3295650"/>
            <a:ext cx="1476375" cy="361950"/>
          </a:xfrm>
          <a:prstGeom prst="roundRect">
            <a:avLst>
              <a:gd name="adj" fmla="val 13158"/>
            </a:avLst>
          </a:prstGeom>
          <a:solidFill>
            <a:srgbClr val="FFFFFF"/>
          </a:solidFill>
          <a:ln w="9525">
            <a:solidFill>
              <a:srgbClr val="2DD4A8"/>
            </a:solidFill>
          </a:ln>
        </p:spPr>
      </p:sp>
      <p:sp>
        <p:nvSpPr>
          <p:cNvPr id="41" name="TextBox 41"/>
          <p:cNvSpPr txBox="1"/>
          <p:nvPr/>
        </p:nvSpPr>
        <p:spPr>
          <a:xfrm>
            <a:off x="4410777" y="3425666"/>
            <a:ext cx="741545"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参数/字典管理</a:t>
            </a:r>
          </a:p>
        </p:txBody>
      </p:sp>
      <p:sp>
        <p:nvSpPr>
          <p:cNvPr id="42" name="Rectangle 42"/>
          <p:cNvSpPr/>
          <p:nvPr/>
        </p:nvSpPr>
        <p:spPr>
          <a:xfrm>
            <a:off x="904875" y="3752850"/>
            <a:ext cx="2238375" cy="361950"/>
          </a:xfrm>
          <a:prstGeom prst="roundRect">
            <a:avLst>
              <a:gd name="adj" fmla="val 13158"/>
            </a:avLst>
          </a:prstGeom>
          <a:solidFill>
            <a:srgbClr val="FFFFFF"/>
          </a:solidFill>
          <a:ln w="9525">
            <a:solidFill>
              <a:srgbClr val="2DD4A8"/>
            </a:solidFill>
          </a:ln>
        </p:spPr>
      </p:sp>
      <p:sp>
        <p:nvSpPr>
          <p:cNvPr id="43" name="TextBox 43"/>
          <p:cNvSpPr txBox="1"/>
          <p:nvPr/>
        </p:nvSpPr>
        <p:spPr>
          <a:xfrm>
            <a:off x="1147965" y="3882866"/>
            <a:ext cx="1742670"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系统管理（用户/角色/菜单/日志）</a:t>
            </a:r>
          </a:p>
        </p:txBody>
      </p:sp>
      <p:sp>
        <p:nvSpPr>
          <p:cNvPr id="44" name="Rectangle 44"/>
          <p:cNvSpPr/>
          <p:nvPr/>
        </p:nvSpPr>
        <p:spPr>
          <a:xfrm>
            <a:off x="3286125" y="3752850"/>
            <a:ext cx="2238375" cy="361950"/>
          </a:xfrm>
          <a:prstGeom prst="roundRect">
            <a:avLst>
              <a:gd name="adj" fmla="val 13158"/>
            </a:avLst>
          </a:prstGeom>
          <a:solidFill>
            <a:srgbClr val="FFFFFF"/>
          </a:solidFill>
          <a:ln w="9525">
            <a:solidFill>
              <a:srgbClr val="2DD4A8"/>
            </a:solidFill>
          </a:ln>
        </p:spPr>
      </p:sp>
      <p:sp>
        <p:nvSpPr>
          <p:cNvPr id="45" name="TextBox 45"/>
          <p:cNvSpPr txBox="1"/>
          <p:nvPr/>
        </p:nvSpPr>
        <p:spPr>
          <a:xfrm>
            <a:off x="3738241" y="3882866"/>
            <a:ext cx="1324618"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ragflow API 封装 (BFF层)</a:t>
            </a:r>
          </a:p>
        </p:txBody>
      </p:sp>
      <p:sp>
        <p:nvSpPr>
          <p:cNvPr id="46" name="Rectangle 46"/>
          <p:cNvSpPr/>
          <p:nvPr/>
        </p:nvSpPr>
        <p:spPr>
          <a:xfrm>
            <a:off x="5905500" y="2428875"/>
            <a:ext cx="5524500" cy="1905000"/>
          </a:xfrm>
          <a:prstGeom prst="roundRect">
            <a:avLst>
              <a:gd name="adj" fmla="val 4000"/>
            </a:avLst>
          </a:prstGeom>
          <a:solidFill>
            <a:srgbClr val="1E2761">
              <a:alpha val="5000"/>
            </a:srgbClr>
          </a:solidFill>
          <a:ln w="14288">
            <a:solidFill>
              <a:srgbClr val="1E2761"/>
            </a:solidFill>
          </a:ln>
        </p:spPr>
      </p:sp>
      <p:sp>
        <p:nvSpPr>
          <p:cNvPr id="47" name="Rectangle 47"/>
          <p:cNvSpPr/>
          <p:nvPr/>
        </p:nvSpPr>
        <p:spPr>
          <a:xfrm>
            <a:off x="5905500" y="2428875"/>
            <a:ext cx="5524500" cy="304800"/>
          </a:xfrm>
          <a:prstGeom prst="roundRect">
            <a:avLst>
              <a:gd name="adj" fmla="val 25000"/>
            </a:avLst>
          </a:prstGeom>
          <a:solidFill>
            <a:srgbClr val="1E2761"/>
          </a:solidFill>
          <a:ln>
            <a:noFill/>
          </a:ln>
        </p:spPr>
      </p:sp>
      <p:sp>
        <p:nvSpPr>
          <p:cNvPr id="48" name="Rectangle 48"/>
          <p:cNvSpPr/>
          <p:nvPr/>
        </p:nvSpPr>
        <p:spPr>
          <a:xfrm>
            <a:off x="5905500" y="2619375"/>
            <a:ext cx="5524500" cy="114300"/>
          </a:xfrm>
          <a:prstGeom prst="rect">
            <a:avLst/>
          </a:prstGeom>
          <a:solidFill>
            <a:srgbClr val="1E2761"/>
          </a:solidFill>
          <a:ln>
            <a:noFill/>
          </a:ln>
        </p:spPr>
      </p:sp>
      <p:sp>
        <p:nvSpPr>
          <p:cNvPr id="49" name="TextBox 49"/>
          <p:cNvSpPr txBox="1"/>
          <p:nvPr/>
        </p:nvSpPr>
        <p:spPr>
          <a:xfrm>
            <a:off x="7268767" y="2525078"/>
            <a:ext cx="279796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ragflow-server v0.18.0 (RAG核心引擎)</a:t>
            </a:r>
          </a:p>
        </p:txBody>
      </p:sp>
      <p:sp>
        <p:nvSpPr>
          <p:cNvPr id="50" name="Rectangle 50"/>
          <p:cNvSpPr/>
          <p:nvPr/>
        </p:nvSpPr>
        <p:spPr>
          <a:xfrm>
            <a:off x="6048375" y="2838450"/>
            <a:ext cx="1619250" cy="361950"/>
          </a:xfrm>
          <a:prstGeom prst="roundRect">
            <a:avLst>
              <a:gd name="adj" fmla="val 13158"/>
            </a:avLst>
          </a:prstGeom>
          <a:solidFill>
            <a:srgbClr val="FFFFFF"/>
          </a:solidFill>
          <a:ln w="9525">
            <a:solidFill>
              <a:srgbClr val="1E2761"/>
            </a:solidFill>
          </a:ln>
        </p:spPr>
      </p:sp>
      <p:sp>
        <p:nvSpPr>
          <p:cNvPr id="51" name="TextBox 51"/>
          <p:cNvSpPr txBox="1"/>
          <p:nvPr/>
        </p:nvSpPr>
        <p:spPr>
          <a:xfrm>
            <a:off x="6517481" y="2968466"/>
            <a:ext cx="681038"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文档解析引擎</a:t>
            </a:r>
          </a:p>
        </p:txBody>
      </p:sp>
      <p:sp>
        <p:nvSpPr>
          <p:cNvPr id="52" name="Rectangle 52"/>
          <p:cNvSpPr/>
          <p:nvPr/>
        </p:nvSpPr>
        <p:spPr>
          <a:xfrm>
            <a:off x="7762875" y="2838450"/>
            <a:ext cx="1619250" cy="361950"/>
          </a:xfrm>
          <a:prstGeom prst="roundRect">
            <a:avLst>
              <a:gd name="adj" fmla="val 13158"/>
            </a:avLst>
          </a:prstGeom>
          <a:solidFill>
            <a:srgbClr val="FFFFFF"/>
          </a:solidFill>
          <a:ln w="9525">
            <a:solidFill>
              <a:srgbClr val="1E2761"/>
            </a:solidFill>
          </a:ln>
        </p:spPr>
      </p:sp>
      <p:sp>
        <p:nvSpPr>
          <p:cNvPr id="53" name="TextBox 53"/>
          <p:cNvSpPr txBox="1"/>
          <p:nvPr/>
        </p:nvSpPr>
        <p:spPr>
          <a:xfrm>
            <a:off x="8231981" y="2968466"/>
            <a:ext cx="681038"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向量索引管理</a:t>
            </a:r>
          </a:p>
        </p:txBody>
      </p:sp>
      <p:sp>
        <p:nvSpPr>
          <p:cNvPr id="54" name="Rectangle 54"/>
          <p:cNvSpPr/>
          <p:nvPr/>
        </p:nvSpPr>
        <p:spPr>
          <a:xfrm>
            <a:off x="9477375" y="2838450"/>
            <a:ext cx="1809750" cy="361950"/>
          </a:xfrm>
          <a:prstGeom prst="roundRect">
            <a:avLst>
              <a:gd name="adj" fmla="val 13158"/>
            </a:avLst>
          </a:prstGeom>
          <a:solidFill>
            <a:srgbClr val="FFFFFF"/>
          </a:solidFill>
          <a:ln w="9525">
            <a:solidFill>
              <a:srgbClr val="1E2761"/>
            </a:solidFill>
          </a:ln>
        </p:spPr>
      </p:sp>
      <p:sp>
        <p:nvSpPr>
          <p:cNvPr id="55" name="TextBox 55"/>
          <p:cNvSpPr txBox="1"/>
          <p:nvPr/>
        </p:nvSpPr>
        <p:spPr>
          <a:xfrm>
            <a:off x="10041731" y="2968466"/>
            <a:ext cx="681038"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混合检索引擎</a:t>
            </a:r>
          </a:p>
        </p:txBody>
      </p:sp>
      <p:sp>
        <p:nvSpPr>
          <p:cNvPr id="56" name="Rectangle 56"/>
          <p:cNvSpPr/>
          <p:nvPr/>
        </p:nvSpPr>
        <p:spPr>
          <a:xfrm>
            <a:off x="6048375" y="3295650"/>
            <a:ext cx="1619250" cy="361950"/>
          </a:xfrm>
          <a:prstGeom prst="roundRect">
            <a:avLst>
              <a:gd name="adj" fmla="val 13158"/>
            </a:avLst>
          </a:prstGeom>
          <a:solidFill>
            <a:srgbClr val="FFFFFF"/>
          </a:solidFill>
          <a:ln w="9525">
            <a:solidFill>
              <a:srgbClr val="1E2761"/>
            </a:solidFill>
          </a:ln>
        </p:spPr>
      </p:sp>
      <p:sp>
        <p:nvSpPr>
          <p:cNvPr id="57" name="TextBox 57"/>
          <p:cNvSpPr txBox="1"/>
          <p:nvPr/>
        </p:nvSpPr>
        <p:spPr>
          <a:xfrm>
            <a:off x="6509230" y="3425666"/>
            <a:ext cx="697540"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LLM 对话管理</a:t>
            </a:r>
          </a:p>
        </p:txBody>
      </p:sp>
      <p:sp>
        <p:nvSpPr>
          <p:cNvPr id="58" name="Rectangle 58"/>
          <p:cNvSpPr/>
          <p:nvPr/>
        </p:nvSpPr>
        <p:spPr>
          <a:xfrm>
            <a:off x="7762875" y="3295650"/>
            <a:ext cx="1619250" cy="361950"/>
          </a:xfrm>
          <a:prstGeom prst="roundRect">
            <a:avLst>
              <a:gd name="adj" fmla="val 13158"/>
            </a:avLst>
          </a:prstGeom>
          <a:solidFill>
            <a:srgbClr val="FFFFFF"/>
          </a:solidFill>
          <a:ln w="9525">
            <a:solidFill>
              <a:srgbClr val="1E2761"/>
            </a:solidFill>
          </a:ln>
        </p:spPr>
      </p:sp>
      <p:sp>
        <p:nvSpPr>
          <p:cNvPr id="59" name="TextBox 59"/>
          <p:cNvSpPr txBox="1"/>
          <p:nvPr/>
        </p:nvSpPr>
        <p:spPr>
          <a:xfrm>
            <a:off x="8083463" y="3425666"/>
            <a:ext cx="978075"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知识图谱 GraphRAG</a:t>
            </a:r>
          </a:p>
        </p:txBody>
      </p:sp>
      <p:sp>
        <p:nvSpPr>
          <p:cNvPr id="60" name="Rectangle 60"/>
          <p:cNvSpPr/>
          <p:nvPr/>
        </p:nvSpPr>
        <p:spPr>
          <a:xfrm>
            <a:off x="9477375" y="3295650"/>
            <a:ext cx="1809750" cy="361950"/>
          </a:xfrm>
          <a:prstGeom prst="roundRect">
            <a:avLst>
              <a:gd name="adj" fmla="val 13158"/>
            </a:avLst>
          </a:prstGeom>
          <a:solidFill>
            <a:srgbClr val="FFFFFF"/>
          </a:solidFill>
          <a:ln w="9525">
            <a:solidFill>
              <a:srgbClr val="1E2761"/>
            </a:solidFill>
          </a:ln>
        </p:spPr>
      </p:sp>
      <p:sp>
        <p:nvSpPr>
          <p:cNvPr id="61" name="TextBox 61"/>
          <p:cNvSpPr txBox="1"/>
          <p:nvPr/>
        </p:nvSpPr>
        <p:spPr>
          <a:xfrm>
            <a:off x="10041731" y="3425666"/>
            <a:ext cx="681038"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智能分块引擎</a:t>
            </a:r>
          </a:p>
        </p:txBody>
      </p:sp>
      <p:sp>
        <p:nvSpPr>
          <p:cNvPr id="62" name="Rectangle 62"/>
          <p:cNvSpPr/>
          <p:nvPr/>
        </p:nvSpPr>
        <p:spPr>
          <a:xfrm>
            <a:off x="6048375" y="3752850"/>
            <a:ext cx="2571750" cy="361950"/>
          </a:xfrm>
          <a:prstGeom prst="roundRect">
            <a:avLst>
              <a:gd name="adj" fmla="val 13158"/>
            </a:avLst>
          </a:prstGeom>
          <a:solidFill>
            <a:srgbClr val="FFFFFF"/>
          </a:solidFill>
          <a:ln w="9525">
            <a:solidFill>
              <a:srgbClr val="1E2761"/>
            </a:solidFill>
          </a:ln>
        </p:spPr>
      </p:sp>
      <p:sp>
        <p:nvSpPr>
          <p:cNvPr id="63" name="TextBox 63"/>
          <p:cNvSpPr txBox="1"/>
          <p:nvPr/>
        </p:nvSpPr>
        <p:spPr>
          <a:xfrm>
            <a:off x="6592181" y="3882866"/>
            <a:ext cx="1484138" cy="167640"/>
          </a:xfrm>
          <a:prstGeom prst="rect">
            <a:avLst/>
          </a:prstGeom>
          <a:noFill/>
          <a:ln>
            <a:noFill/>
          </a:ln>
        </p:spPr>
        <p:txBody>
          <a:bodyPr wrap="none" lIns="0" tIns="0" rIns="0" bIns="0" anchor="t" anchorCtr="0">
            <a:spAutoFit/>
          </a:bodyPr>
          <a:lstStyle/>
          <a:p>
            <a:pPr algn="ctr"/>
            <a:r>
              <a:rPr lang="zh-CN" sz="825" dirty="0">
                <a:solidFill>
                  <a:srgbClr val="1E2761"/>
                </a:solidFill>
                <a:latin typeface="Arial"/>
                <a:ea typeface="Microsoft YaHei"/>
                <a:cs typeface="Arial"/>
              </a:rPr>
              <a:t>重排序 / 跨语言 / 相似度阈值</a:t>
            </a:r>
          </a:p>
        </p:txBody>
      </p:sp>
      <p:sp>
        <p:nvSpPr>
          <p:cNvPr id="64" name="Rectangle 64"/>
          <p:cNvSpPr/>
          <p:nvPr/>
        </p:nvSpPr>
        <p:spPr>
          <a:xfrm>
            <a:off x="8763000" y="3752850"/>
            <a:ext cx="2524125" cy="361950"/>
          </a:xfrm>
          <a:prstGeom prst="roundRect">
            <a:avLst>
              <a:gd name="adj" fmla="val 13158"/>
            </a:avLst>
          </a:prstGeom>
          <a:solidFill>
            <a:srgbClr val="1E2761"/>
          </a:solidFill>
          <a:ln>
            <a:noFill/>
          </a:ln>
        </p:spPr>
      </p:sp>
      <p:sp>
        <p:nvSpPr>
          <p:cNvPr id="65" name="TextBox 65"/>
          <p:cNvSpPr txBox="1"/>
          <p:nvPr/>
        </p:nvSpPr>
        <p:spPr>
          <a:xfrm>
            <a:off x="9454253" y="3882866"/>
            <a:ext cx="1132094"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智谱 GLM-9B 本地推理</a:t>
            </a:r>
          </a:p>
        </p:txBody>
      </p:sp>
      <p:sp>
        <p:nvSpPr>
          <p:cNvPr id="66" name="Line 66"/>
          <p:cNvSpPr/>
          <p:nvPr/>
        </p:nvSpPr>
        <p:spPr>
          <a:xfrm>
            <a:off x="6096000" y="4524375"/>
            <a:ext cx="9525" cy="171450"/>
          </a:xfrm>
          <a:custGeom>
            <a:avLst/>
            <a:gdLst/>
            <a:ahLst/>
            <a:cxnLst/>
            <a:rect l="l" t="t" r="r" b="b"/>
            <a:pathLst>
              <a:path w="9525" h="171450">
                <a:moveTo>
                  <a:pt x="0" y="0"/>
                </a:moveTo>
                <a:lnTo>
                  <a:pt x="0" y="171450"/>
                </a:lnTo>
              </a:path>
            </a:pathLst>
          </a:custGeom>
          <a:noFill/>
          <a:ln w="19050">
            <a:solidFill>
              <a:srgbClr val="94A3B8"/>
            </a:solidFill>
          </a:ln>
        </p:spPr>
      </p:sp>
      <p:sp>
        <p:nvSpPr>
          <p:cNvPr id="67" name="Polygon 67"/>
          <p:cNvSpPr/>
          <p:nvPr/>
        </p:nvSpPr>
        <p:spPr>
          <a:xfrm>
            <a:off x="6038850" y="4695825"/>
            <a:ext cx="114300" cy="95250"/>
          </a:xfrm>
          <a:custGeom>
            <a:avLst/>
            <a:gdLst/>
            <a:ahLst/>
            <a:cxnLst/>
            <a:rect l="l" t="t" r="r" b="b"/>
            <a:pathLst>
              <a:path w="114300" h="95250">
                <a:moveTo>
                  <a:pt x="0" y="0"/>
                </a:moveTo>
                <a:lnTo>
                  <a:pt x="114300" y="0"/>
                </a:lnTo>
                <a:lnTo>
                  <a:pt x="57150" y="95250"/>
                </a:lnTo>
                <a:close/>
              </a:path>
            </a:pathLst>
          </a:custGeom>
          <a:solidFill>
            <a:srgbClr val="94A3B8"/>
          </a:solidFill>
          <a:ln>
            <a:noFill/>
          </a:ln>
        </p:spPr>
      </p:sp>
      <p:sp>
        <p:nvSpPr>
          <p:cNvPr id="68" name="Rectangle 68"/>
          <p:cNvSpPr/>
          <p:nvPr/>
        </p:nvSpPr>
        <p:spPr>
          <a:xfrm>
            <a:off x="571500" y="4810125"/>
            <a:ext cx="11049000" cy="904875"/>
          </a:xfrm>
          <a:prstGeom prst="roundRect">
            <a:avLst>
              <a:gd name="adj" fmla="val 8421"/>
            </a:avLst>
          </a:prstGeom>
          <a:solidFill>
            <a:srgbClr val="1E2761">
              <a:alpha val="5000"/>
            </a:srgbClr>
          </a:solidFill>
          <a:ln w="14288">
            <a:solidFill>
              <a:srgbClr val="1E2761"/>
            </a:solidFill>
          </a:ln>
        </p:spPr>
      </p:sp>
      <p:sp>
        <p:nvSpPr>
          <p:cNvPr id="69" name="Rectangle 69"/>
          <p:cNvSpPr/>
          <p:nvPr/>
        </p:nvSpPr>
        <p:spPr>
          <a:xfrm>
            <a:off x="571500" y="4810125"/>
            <a:ext cx="57150" cy="904875"/>
          </a:xfrm>
          <a:prstGeom prst="rect">
            <a:avLst/>
          </a:prstGeom>
          <a:solidFill>
            <a:srgbClr val="1E2761"/>
          </a:solidFill>
          <a:ln>
            <a:noFill/>
          </a:ln>
        </p:spPr>
      </p:sp>
      <p:sp>
        <p:nvSpPr>
          <p:cNvPr id="70" name="TextBox 70"/>
          <p:cNvSpPr txBox="1"/>
          <p:nvPr/>
        </p:nvSpPr>
        <p:spPr>
          <a:xfrm>
            <a:off x="794385" y="4918710"/>
            <a:ext cx="870585" cy="243840"/>
          </a:xfrm>
          <a:prstGeom prst="rect">
            <a:avLst/>
          </a:prstGeom>
          <a:noFill/>
          <a:ln>
            <a:noFill/>
          </a:ln>
        </p:spPr>
        <p:txBody>
          <a:bodyPr wrap="none" lIns="0" tIns="0" rIns="0" bIns="0" anchor="t" anchorCtr="0">
            <a:spAutoFit/>
          </a:bodyPr>
          <a:lstStyle/>
          <a:p>
            <a:pPr algn="l"/>
            <a:r>
              <a:rPr lang="zh-CN" sz="1200" b="1" dirty="0">
                <a:solidFill>
                  <a:srgbClr val="1E2761"/>
                </a:solidFill>
                <a:latin typeface="Segoe UI"/>
                <a:ea typeface="SimHei"/>
                <a:cs typeface="Segoe UI"/>
              </a:rPr>
              <a:t>数据存储层</a:t>
            </a:r>
          </a:p>
        </p:txBody>
      </p:sp>
      <p:sp>
        <p:nvSpPr>
          <p:cNvPr id="71" name="Rectangle 71"/>
          <p:cNvSpPr/>
          <p:nvPr/>
        </p:nvSpPr>
        <p:spPr>
          <a:xfrm>
            <a:off x="809625" y="5162550"/>
            <a:ext cx="1905000" cy="400050"/>
          </a:xfrm>
          <a:prstGeom prst="roundRect">
            <a:avLst>
              <a:gd name="adj" fmla="val 14286"/>
            </a:avLst>
          </a:prstGeom>
          <a:solidFill>
            <a:srgbClr val="FFFFFF"/>
          </a:solidFill>
          <a:ln w="9525">
            <a:solidFill>
              <a:srgbClr val="1E2761"/>
            </a:solidFill>
          </a:ln>
        </p:spPr>
      </p:sp>
      <p:sp>
        <p:nvSpPr>
          <p:cNvPr id="72" name="TextBox 72"/>
          <p:cNvSpPr txBox="1"/>
          <p:nvPr/>
        </p:nvSpPr>
        <p:spPr>
          <a:xfrm>
            <a:off x="1401624" y="5247799"/>
            <a:ext cx="721002" cy="198120"/>
          </a:xfrm>
          <a:prstGeom prst="rect">
            <a:avLst/>
          </a:prstGeom>
          <a:noFill/>
          <a:ln>
            <a:noFill/>
          </a:ln>
        </p:spPr>
        <p:txBody>
          <a:bodyPr wrap="none" lIns="0" tIns="0" rIns="0" bIns="0" anchor="t" anchorCtr="0">
            <a:spAutoFit/>
          </a:bodyPr>
          <a:lstStyle/>
          <a:p>
            <a:pPr algn="ctr"/>
            <a:r>
              <a:rPr lang="zh-CN" sz="975" b="1" dirty="0">
                <a:solidFill>
                  <a:srgbClr val="1E2761"/>
                </a:solidFill>
                <a:latin typeface="Segoe UI"/>
                <a:ea typeface="SimHei"/>
                <a:cs typeface="Segoe UI"/>
              </a:rPr>
              <a:t>MySQL 8.0</a:t>
            </a:r>
          </a:p>
        </p:txBody>
      </p:sp>
      <p:sp>
        <p:nvSpPr>
          <p:cNvPr id="73" name="TextBox 73"/>
          <p:cNvSpPr txBox="1"/>
          <p:nvPr/>
        </p:nvSpPr>
        <p:spPr>
          <a:xfrm>
            <a:off x="1502569" y="5424488"/>
            <a:ext cx="519112" cy="152400"/>
          </a:xfrm>
          <a:prstGeom prst="rect">
            <a:avLst/>
          </a:prstGeom>
          <a:noFill/>
          <a:ln>
            <a:noFill/>
          </a:ln>
        </p:spPr>
        <p:txBody>
          <a:bodyPr wrap="none" lIns="0" tIns="0" rIns="0" bIns="0" anchor="t" anchorCtr="0">
            <a:spAutoFit/>
          </a:bodyPr>
          <a:lstStyle/>
          <a:p>
            <a:pPr algn="ctr"/>
            <a:r>
              <a:rPr lang="zh-CN" sz="750" dirty="0">
                <a:solidFill>
                  <a:srgbClr val="64748B"/>
                </a:solidFill>
                <a:latin typeface="Arial"/>
                <a:ea typeface="Microsoft YaHei"/>
                <a:cs typeface="Arial"/>
              </a:rPr>
              <a:t>结构化数据</a:t>
            </a:r>
          </a:p>
        </p:txBody>
      </p:sp>
      <p:sp>
        <p:nvSpPr>
          <p:cNvPr id="74" name="Rectangle 74"/>
          <p:cNvSpPr/>
          <p:nvPr/>
        </p:nvSpPr>
        <p:spPr>
          <a:xfrm>
            <a:off x="2905125" y="5162550"/>
            <a:ext cx="1905000" cy="400050"/>
          </a:xfrm>
          <a:prstGeom prst="roundRect">
            <a:avLst>
              <a:gd name="adj" fmla="val 14286"/>
            </a:avLst>
          </a:prstGeom>
          <a:solidFill>
            <a:srgbClr val="FFFFFF"/>
          </a:solidFill>
          <a:ln w="9525">
            <a:solidFill>
              <a:srgbClr val="1E2761"/>
            </a:solidFill>
          </a:ln>
        </p:spPr>
      </p:sp>
      <p:sp>
        <p:nvSpPr>
          <p:cNvPr id="75" name="TextBox 75"/>
          <p:cNvSpPr txBox="1"/>
          <p:nvPr/>
        </p:nvSpPr>
        <p:spPr>
          <a:xfrm>
            <a:off x="3220677" y="5247799"/>
            <a:ext cx="1273896" cy="198120"/>
          </a:xfrm>
          <a:prstGeom prst="rect">
            <a:avLst/>
          </a:prstGeom>
          <a:noFill/>
          <a:ln>
            <a:noFill/>
          </a:ln>
        </p:spPr>
        <p:txBody>
          <a:bodyPr wrap="none" lIns="0" tIns="0" rIns="0" bIns="0" anchor="t" anchorCtr="0">
            <a:spAutoFit/>
          </a:bodyPr>
          <a:lstStyle/>
          <a:p>
            <a:pPr algn="ctr"/>
            <a:r>
              <a:rPr lang="zh-CN" sz="975" b="1" dirty="0">
                <a:solidFill>
                  <a:srgbClr val="1E2761"/>
                </a:solidFill>
                <a:latin typeface="Segoe UI"/>
                <a:ea typeface="SimHei"/>
                <a:cs typeface="Segoe UI"/>
              </a:rPr>
              <a:t>Elasticsearch 8.11</a:t>
            </a:r>
          </a:p>
        </p:txBody>
      </p:sp>
      <p:sp>
        <p:nvSpPr>
          <p:cNvPr id="76" name="TextBox 76"/>
          <p:cNvSpPr txBox="1"/>
          <p:nvPr/>
        </p:nvSpPr>
        <p:spPr>
          <a:xfrm>
            <a:off x="3520559" y="5424488"/>
            <a:ext cx="674132" cy="152400"/>
          </a:xfrm>
          <a:prstGeom prst="rect">
            <a:avLst/>
          </a:prstGeom>
          <a:noFill/>
          <a:ln>
            <a:noFill/>
          </a:ln>
        </p:spPr>
        <p:txBody>
          <a:bodyPr wrap="none" lIns="0" tIns="0" rIns="0" bIns="0" anchor="t" anchorCtr="0">
            <a:spAutoFit/>
          </a:bodyPr>
          <a:lstStyle/>
          <a:p>
            <a:pPr algn="ctr"/>
            <a:r>
              <a:rPr lang="zh-CN" sz="750" dirty="0">
                <a:solidFill>
                  <a:srgbClr val="64748B"/>
                </a:solidFill>
                <a:latin typeface="Arial"/>
                <a:ea typeface="Microsoft YaHei"/>
                <a:cs typeface="Arial"/>
              </a:rPr>
              <a:t>向量+全文检索</a:t>
            </a:r>
          </a:p>
        </p:txBody>
      </p:sp>
      <p:sp>
        <p:nvSpPr>
          <p:cNvPr id="77" name="Rectangle 77"/>
          <p:cNvSpPr/>
          <p:nvPr/>
        </p:nvSpPr>
        <p:spPr>
          <a:xfrm>
            <a:off x="5000625" y="5162550"/>
            <a:ext cx="1905000" cy="400050"/>
          </a:xfrm>
          <a:prstGeom prst="roundRect">
            <a:avLst>
              <a:gd name="adj" fmla="val 14286"/>
            </a:avLst>
          </a:prstGeom>
          <a:solidFill>
            <a:srgbClr val="FFFFFF"/>
          </a:solidFill>
          <a:ln w="9525">
            <a:solidFill>
              <a:srgbClr val="1E2761"/>
            </a:solidFill>
          </a:ln>
        </p:spPr>
      </p:sp>
      <p:sp>
        <p:nvSpPr>
          <p:cNvPr id="78" name="TextBox 78"/>
          <p:cNvSpPr txBox="1"/>
          <p:nvPr/>
        </p:nvSpPr>
        <p:spPr>
          <a:xfrm>
            <a:off x="5466346" y="5247799"/>
            <a:ext cx="973559" cy="198120"/>
          </a:xfrm>
          <a:prstGeom prst="rect">
            <a:avLst/>
          </a:prstGeom>
          <a:noFill/>
          <a:ln>
            <a:noFill/>
          </a:ln>
        </p:spPr>
        <p:txBody>
          <a:bodyPr wrap="none" lIns="0" tIns="0" rIns="0" bIns="0" anchor="t" anchorCtr="0">
            <a:spAutoFit/>
          </a:bodyPr>
          <a:lstStyle/>
          <a:p>
            <a:pPr algn="ctr"/>
            <a:r>
              <a:rPr lang="zh-CN" sz="975" b="1" dirty="0">
                <a:solidFill>
                  <a:srgbClr val="1E2761"/>
                </a:solidFill>
                <a:latin typeface="Segoe UI"/>
                <a:ea typeface="SimHei"/>
                <a:cs typeface="Segoe UI"/>
              </a:rPr>
              <a:t>Valkey/Redis 8</a:t>
            </a:r>
          </a:p>
        </p:txBody>
      </p:sp>
      <p:sp>
        <p:nvSpPr>
          <p:cNvPr id="79" name="TextBox 79"/>
          <p:cNvSpPr txBox="1"/>
          <p:nvPr/>
        </p:nvSpPr>
        <p:spPr>
          <a:xfrm>
            <a:off x="5743575" y="5424488"/>
            <a:ext cx="419100" cy="152400"/>
          </a:xfrm>
          <a:prstGeom prst="rect">
            <a:avLst/>
          </a:prstGeom>
          <a:noFill/>
          <a:ln>
            <a:noFill/>
          </a:ln>
        </p:spPr>
        <p:txBody>
          <a:bodyPr wrap="none" lIns="0" tIns="0" rIns="0" bIns="0" anchor="t" anchorCtr="0">
            <a:spAutoFit/>
          </a:bodyPr>
          <a:lstStyle/>
          <a:p>
            <a:pPr algn="ctr"/>
            <a:r>
              <a:rPr lang="zh-CN" sz="750" dirty="0">
                <a:solidFill>
                  <a:srgbClr val="64748B"/>
                </a:solidFill>
                <a:latin typeface="Arial"/>
                <a:ea typeface="Microsoft YaHei"/>
                <a:cs typeface="Arial"/>
              </a:rPr>
              <a:t>会话缓存</a:t>
            </a:r>
          </a:p>
        </p:txBody>
      </p:sp>
      <p:sp>
        <p:nvSpPr>
          <p:cNvPr id="80" name="Rectangle 80"/>
          <p:cNvSpPr/>
          <p:nvPr/>
        </p:nvSpPr>
        <p:spPr>
          <a:xfrm>
            <a:off x="7096125" y="5162550"/>
            <a:ext cx="1905000" cy="400050"/>
          </a:xfrm>
          <a:prstGeom prst="roundRect">
            <a:avLst>
              <a:gd name="adj" fmla="val 14286"/>
            </a:avLst>
          </a:prstGeom>
          <a:solidFill>
            <a:srgbClr val="FFFFFF"/>
          </a:solidFill>
          <a:ln w="9525">
            <a:solidFill>
              <a:srgbClr val="1E2761"/>
            </a:solidFill>
          </a:ln>
        </p:spPr>
      </p:sp>
      <p:sp>
        <p:nvSpPr>
          <p:cNvPr id="81" name="TextBox 81"/>
          <p:cNvSpPr txBox="1"/>
          <p:nvPr/>
        </p:nvSpPr>
        <p:spPr>
          <a:xfrm>
            <a:off x="7855357" y="5247799"/>
            <a:ext cx="386535" cy="198120"/>
          </a:xfrm>
          <a:prstGeom prst="rect">
            <a:avLst/>
          </a:prstGeom>
          <a:noFill/>
          <a:ln>
            <a:noFill/>
          </a:ln>
        </p:spPr>
        <p:txBody>
          <a:bodyPr wrap="none" lIns="0" tIns="0" rIns="0" bIns="0" anchor="t" anchorCtr="0">
            <a:spAutoFit/>
          </a:bodyPr>
          <a:lstStyle/>
          <a:p>
            <a:pPr algn="ctr"/>
            <a:r>
              <a:rPr lang="zh-CN" sz="975" b="1" dirty="0">
                <a:solidFill>
                  <a:srgbClr val="1E2761"/>
                </a:solidFill>
                <a:latin typeface="Segoe UI"/>
                <a:ea typeface="SimHei"/>
                <a:cs typeface="Segoe UI"/>
              </a:rPr>
              <a:t>MinIO</a:t>
            </a:r>
          </a:p>
        </p:txBody>
      </p:sp>
      <p:sp>
        <p:nvSpPr>
          <p:cNvPr id="82" name="TextBox 82"/>
          <p:cNvSpPr txBox="1"/>
          <p:nvPr/>
        </p:nvSpPr>
        <p:spPr>
          <a:xfrm>
            <a:off x="7739062" y="5424488"/>
            <a:ext cx="619125" cy="152400"/>
          </a:xfrm>
          <a:prstGeom prst="rect">
            <a:avLst/>
          </a:prstGeom>
          <a:noFill/>
          <a:ln>
            <a:noFill/>
          </a:ln>
        </p:spPr>
        <p:txBody>
          <a:bodyPr wrap="none" lIns="0" tIns="0" rIns="0" bIns="0" anchor="t" anchorCtr="0">
            <a:spAutoFit/>
          </a:bodyPr>
          <a:lstStyle/>
          <a:p>
            <a:pPr algn="ctr"/>
            <a:r>
              <a:rPr lang="zh-CN" sz="750" dirty="0">
                <a:solidFill>
                  <a:srgbClr val="64748B"/>
                </a:solidFill>
                <a:latin typeface="Arial"/>
                <a:ea typeface="Microsoft YaHei"/>
                <a:cs typeface="Arial"/>
              </a:rPr>
              <a:t>文档文件存储</a:t>
            </a:r>
          </a:p>
        </p:txBody>
      </p:sp>
      <p:sp>
        <p:nvSpPr>
          <p:cNvPr id="83" name="Line 83"/>
          <p:cNvSpPr/>
          <p:nvPr/>
        </p:nvSpPr>
        <p:spPr>
          <a:xfrm>
            <a:off x="6096000" y="5715000"/>
            <a:ext cx="9525" cy="95250"/>
          </a:xfrm>
          <a:custGeom>
            <a:avLst/>
            <a:gdLst/>
            <a:ahLst/>
            <a:cxnLst/>
            <a:rect l="l" t="t" r="r" b="b"/>
            <a:pathLst>
              <a:path w="9525" h="95250">
                <a:moveTo>
                  <a:pt x="0" y="0"/>
                </a:moveTo>
                <a:lnTo>
                  <a:pt x="0" y="95250"/>
                </a:lnTo>
              </a:path>
            </a:pathLst>
          </a:custGeom>
          <a:noFill/>
          <a:ln w="19050">
            <a:solidFill>
              <a:srgbClr val="94A3B8"/>
            </a:solidFill>
          </a:ln>
        </p:spPr>
      </p:sp>
      <p:sp>
        <p:nvSpPr>
          <p:cNvPr id="84" name="Polygon 84"/>
          <p:cNvSpPr/>
          <p:nvPr/>
        </p:nvSpPr>
        <p:spPr>
          <a:xfrm>
            <a:off x="6038850" y="5810250"/>
            <a:ext cx="114300" cy="76200"/>
          </a:xfrm>
          <a:custGeom>
            <a:avLst/>
            <a:gdLst/>
            <a:ahLst/>
            <a:cxnLst/>
            <a:rect l="l" t="t" r="r" b="b"/>
            <a:pathLst>
              <a:path w="114300" h="76200">
                <a:moveTo>
                  <a:pt x="0" y="0"/>
                </a:moveTo>
                <a:lnTo>
                  <a:pt x="114300" y="0"/>
                </a:lnTo>
                <a:lnTo>
                  <a:pt x="57150" y="76200"/>
                </a:lnTo>
                <a:close/>
              </a:path>
            </a:pathLst>
          </a:custGeom>
          <a:solidFill>
            <a:srgbClr val="94A3B8"/>
          </a:solidFill>
          <a:ln>
            <a:noFill/>
          </a:ln>
        </p:spPr>
      </p:sp>
      <p:sp>
        <p:nvSpPr>
          <p:cNvPr id="85" name="Rectangle 85"/>
          <p:cNvSpPr/>
          <p:nvPr/>
        </p:nvSpPr>
        <p:spPr>
          <a:xfrm>
            <a:off x="571500" y="5905500"/>
            <a:ext cx="11049000" cy="619125"/>
          </a:xfrm>
          <a:prstGeom prst="roundRect">
            <a:avLst>
              <a:gd name="adj" fmla="val 12308"/>
            </a:avLst>
          </a:prstGeom>
          <a:solidFill>
            <a:srgbClr val="94A3B8">
              <a:alpha val="8000"/>
            </a:srgbClr>
          </a:solidFill>
          <a:ln w="14288">
            <a:solidFill>
              <a:srgbClr val="94A3B8"/>
            </a:solidFill>
          </a:ln>
        </p:spPr>
      </p:sp>
      <p:sp>
        <p:nvSpPr>
          <p:cNvPr id="86" name="Rectangle 86"/>
          <p:cNvSpPr/>
          <p:nvPr/>
        </p:nvSpPr>
        <p:spPr>
          <a:xfrm>
            <a:off x="571500" y="5905500"/>
            <a:ext cx="57150" cy="619125"/>
          </a:xfrm>
          <a:prstGeom prst="rect">
            <a:avLst/>
          </a:prstGeom>
          <a:solidFill>
            <a:srgbClr val="94A3B8"/>
          </a:solidFill>
          <a:ln>
            <a:noFill/>
          </a:ln>
        </p:spPr>
      </p:sp>
      <p:sp>
        <p:nvSpPr>
          <p:cNvPr id="87" name="TextBox 87"/>
          <p:cNvSpPr txBox="1"/>
          <p:nvPr/>
        </p:nvSpPr>
        <p:spPr>
          <a:xfrm>
            <a:off x="796290" y="6030278"/>
            <a:ext cx="761762"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Segoe UI"/>
                <a:ea typeface="SimHei"/>
                <a:cs typeface="Segoe UI"/>
              </a:rPr>
              <a:t>基础设施层</a:t>
            </a:r>
          </a:p>
        </p:txBody>
      </p:sp>
      <p:sp>
        <p:nvSpPr>
          <p:cNvPr id="88" name="Rectangle 88"/>
          <p:cNvSpPr/>
          <p:nvPr/>
        </p:nvSpPr>
        <p:spPr>
          <a:xfrm>
            <a:off x="2286000" y="6048375"/>
            <a:ext cx="2095500" cy="304800"/>
          </a:xfrm>
          <a:prstGeom prst="roundRect">
            <a:avLst>
              <a:gd name="adj" fmla="val 18750"/>
            </a:avLst>
          </a:prstGeom>
          <a:solidFill>
            <a:srgbClr val="FFFFFF"/>
          </a:solidFill>
          <a:ln w="9525">
            <a:solidFill>
              <a:srgbClr val="94A3B8"/>
            </a:solidFill>
          </a:ln>
        </p:spPr>
      </p:sp>
      <p:sp>
        <p:nvSpPr>
          <p:cNvPr id="89" name="TextBox 89"/>
          <p:cNvSpPr txBox="1"/>
          <p:nvPr/>
        </p:nvSpPr>
        <p:spPr>
          <a:xfrm>
            <a:off x="2605230" y="6151245"/>
            <a:ext cx="1457039"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Docker Compose 容器编排</a:t>
            </a:r>
          </a:p>
        </p:txBody>
      </p:sp>
      <p:sp>
        <p:nvSpPr>
          <p:cNvPr id="90" name="Rectangle 90"/>
          <p:cNvSpPr/>
          <p:nvPr/>
        </p:nvSpPr>
        <p:spPr>
          <a:xfrm>
            <a:off x="4572000" y="6048375"/>
            <a:ext cx="2095500" cy="304800"/>
          </a:xfrm>
          <a:prstGeom prst="roundRect">
            <a:avLst>
              <a:gd name="adj" fmla="val 18750"/>
            </a:avLst>
          </a:prstGeom>
          <a:solidFill>
            <a:srgbClr val="FFFFFF"/>
          </a:solidFill>
          <a:ln w="9525">
            <a:solidFill>
              <a:srgbClr val="94A3B8"/>
            </a:solidFill>
          </a:ln>
        </p:spPr>
      </p:sp>
      <p:sp>
        <p:nvSpPr>
          <p:cNvPr id="91" name="TextBox 91"/>
          <p:cNvSpPr txBox="1"/>
          <p:nvPr/>
        </p:nvSpPr>
        <p:spPr>
          <a:xfrm>
            <a:off x="5122259" y="6151245"/>
            <a:ext cx="994982"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ragflow 桥接网络</a:t>
            </a:r>
          </a:p>
        </p:txBody>
      </p:sp>
      <p:sp>
        <p:nvSpPr>
          <p:cNvPr id="92" name="Rectangle 92"/>
          <p:cNvSpPr/>
          <p:nvPr/>
        </p:nvSpPr>
        <p:spPr>
          <a:xfrm>
            <a:off x="6858000" y="6048375"/>
            <a:ext cx="2095500" cy="304800"/>
          </a:xfrm>
          <a:prstGeom prst="roundRect">
            <a:avLst>
              <a:gd name="adj" fmla="val 18750"/>
            </a:avLst>
          </a:prstGeom>
          <a:solidFill>
            <a:srgbClr val="FFFFFF"/>
          </a:solidFill>
          <a:ln w="9525">
            <a:solidFill>
              <a:srgbClr val="94A3B8"/>
            </a:solidFill>
          </a:ln>
        </p:spPr>
      </p:sp>
      <p:sp>
        <p:nvSpPr>
          <p:cNvPr id="93" name="TextBox 93"/>
          <p:cNvSpPr txBox="1"/>
          <p:nvPr/>
        </p:nvSpPr>
        <p:spPr>
          <a:xfrm>
            <a:off x="7165229" y="6151245"/>
            <a:ext cx="1481042"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Docker Volume 数据持久化</a:t>
            </a:r>
          </a:p>
        </p:txBody>
      </p:sp>
      <p:sp>
        <p:nvSpPr>
          <p:cNvPr id="94" name="Rectangle 94"/>
          <p:cNvSpPr/>
          <p:nvPr/>
        </p:nvSpPr>
        <p:spPr>
          <a:xfrm>
            <a:off x="9144000" y="6048375"/>
            <a:ext cx="2095500" cy="304800"/>
          </a:xfrm>
          <a:prstGeom prst="roundRect">
            <a:avLst>
              <a:gd name="adj" fmla="val 18750"/>
            </a:avLst>
          </a:prstGeom>
          <a:solidFill>
            <a:srgbClr val="FFFFFF"/>
          </a:solidFill>
          <a:ln w="9525">
            <a:solidFill>
              <a:srgbClr val="94A3B8"/>
            </a:solidFill>
          </a:ln>
        </p:spPr>
      </p:sp>
      <p:sp>
        <p:nvSpPr>
          <p:cNvPr id="95" name="TextBox 95"/>
          <p:cNvSpPr txBox="1"/>
          <p:nvPr/>
        </p:nvSpPr>
        <p:spPr>
          <a:xfrm>
            <a:off x="9760268" y="6151245"/>
            <a:ext cx="862965"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离线镜像包交付</a:t>
            </a:r>
          </a:p>
        </p:txBody>
      </p:sp>
      <p:sp>
        <p:nvSpPr>
          <p:cNvPr id="96" name="TextBox 96"/>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4 / 14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817561"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系统部署架构</a:t>
            </a:r>
          </a:p>
        </p:txBody>
      </p:sp>
      <p:sp>
        <p:nvSpPr>
          <p:cNvPr id="5" name="TextBox 5"/>
          <p:cNvSpPr txBox="1"/>
          <p:nvPr/>
        </p:nvSpPr>
        <p:spPr>
          <a:xfrm>
            <a:off x="2844165" y="286702"/>
            <a:ext cx="3457099"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Docker Compose容器化编排 · 离线部署 · 7个服务容器</a:t>
            </a:r>
          </a:p>
        </p:txBody>
      </p:sp>
      <p:sp>
        <p:nvSpPr>
          <p:cNvPr id="6" name="Rectangle 6"/>
          <p:cNvSpPr/>
          <p:nvPr/>
        </p:nvSpPr>
        <p:spPr>
          <a:xfrm>
            <a:off x="381000" y="762000"/>
            <a:ext cx="11430000" cy="5715000"/>
          </a:xfrm>
          <a:prstGeom prst="roundRect">
            <a:avLst>
              <a:gd name="adj" fmla="val 2000"/>
            </a:avLst>
          </a:prstGeom>
          <a:noFill/>
          <a:ln w="19050">
            <a:solidFill>
              <a:srgbClr val="1E2761"/>
            </a:solidFill>
            <a:prstDash val="lgDash"/>
          </a:ln>
        </p:spPr>
      </p:sp>
      <p:sp>
        <p:nvSpPr>
          <p:cNvPr id="7" name="TextBox 7"/>
          <p:cNvSpPr txBox="1"/>
          <p:nvPr/>
        </p:nvSpPr>
        <p:spPr>
          <a:xfrm>
            <a:off x="746760" y="870585"/>
            <a:ext cx="2038331" cy="243840"/>
          </a:xfrm>
          <a:prstGeom prst="rect">
            <a:avLst/>
          </a:prstGeom>
          <a:noFill/>
          <a:ln>
            <a:noFill/>
          </a:ln>
        </p:spPr>
        <p:txBody>
          <a:bodyPr wrap="none" lIns="0" tIns="0" rIns="0" bIns="0" anchor="t" anchorCtr="0">
            <a:spAutoFit/>
          </a:bodyPr>
          <a:lstStyle/>
          <a:p>
            <a:pPr algn="l"/>
            <a:r>
              <a:rPr lang="zh-CN" sz="1200" b="1" dirty="0">
                <a:solidFill>
                  <a:srgbClr val="1E2761"/>
                </a:solidFill>
                <a:latin typeface="Segoe UI"/>
                <a:ea typeface="SimHei"/>
                <a:cs typeface="Segoe UI"/>
              </a:rPr>
              <a:t>Docker Compose 容器编排</a:t>
            </a:r>
          </a:p>
        </p:txBody>
      </p:sp>
      <p:sp>
        <p:nvSpPr>
          <p:cNvPr id="8" name="Rectangle 8"/>
          <p:cNvSpPr/>
          <p:nvPr/>
        </p:nvSpPr>
        <p:spPr>
          <a:xfrm>
            <a:off x="666750" y="1190625"/>
            <a:ext cx="3238500" cy="952500"/>
          </a:xfrm>
          <a:prstGeom prst="roundRect">
            <a:avLst>
              <a:gd name="adj" fmla="val 8000"/>
            </a:avLst>
          </a:prstGeom>
          <a:solidFill>
            <a:srgbClr val="4A7BF7">
              <a:alpha val="12000"/>
            </a:srgbClr>
          </a:solidFill>
          <a:ln w="14288">
            <a:solidFill>
              <a:srgbClr val="4A7BF7"/>
            </a:solidFill>
          </a:ln>
        </p:spPr>
      </p:sp>
      <p:sp>
        <p:nvSpPr>
          <p:cNvPr id="9" name="TextBox 9"/>
          <p:cNvSpPr txBox="1"/>
          <p:nvPr/>
        </p:nvSpPr>
        <p:spPr>
          <a:xfrm>
            <a:off x="1552470" y="1394460"/>
            <a:ext cx="1467060" cy="243840"/>
          </a:xfrm>
          <a:prstGeom prst="rect">
            <a:avLst/>
          </a:prstGeom>
          <a:noFill/>
          <a:ln>
            <a:noFill/>
          </a:ln>
        </p:spPr>
        <p:txBody>
          <a:bodyPr wrap="none" lIns="0" tIns="0" rIns="0" bIns="0" anchor="t" anchorCtr="0">
            <a:spAutoFit/>
          </a:bodyPr>
          <a:lstStyle/>
          <a:p>
            <a:pPr algn="ctr"/>
            <a:r>
              <a:rPr lang="zh-CN" sz="1200" b="1" dirty="0">
                <a:solidFill>
                  <a:srgbClr val="1E2761"/>
                </a:solidFill>
                <a:latin typeface="Segoe UI"/>
                <a:ea typeface="SimHei"/>
                <a:cs typeface="Segoe UI"/>
              </a:rPr>
              <a:t>gaisoft-frontend</a:t>
            </a:r>
          </a:p>
        </p:txBody>
      </p:sp>
      <p:sp>
        <p:nvSpPr>
          <p:cNvPr id="10" name="TextBox 10"/>
          <p:cNvSpPr txBox="1"/>
          <p:nvPr/>
        </p:nvSpPr>
        <p:spPr>
          <a:xfrm>
            <a:off x="1461016" y="1628299"/>
            <a:ext cx="1649968"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nginx:1.27-alpine · :8899</a:t>
            </a:r>
          </a:p>
        </p:txBody>
      </p:sp>
      <p:sp>
        <p:nvSpPr>
          <p:cNvPr id="11" name="TextBox 11"/>
          <p:cNvSpPr txBox="1"/>
          <p:nvPr/>
        </p:nvSpPr>
        <p:spPr>
          <a:xfrm>
            <a:off x="1626489" y="1807845"/>
            <a:ext cx="1319022"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Vue 3 前端静态资源托管</a:t>
            </a:r>
          </a:p>
        </p:txBody>
      </p:sp>
      <p:sp>
        <p:nvSpPr>
          <p:cNvPr id="12" name="Rectangle 12"/>
          <p:cNvSpPr/>
          <p:nvPr/>
        </p:nvSpPr>
        <p:spPr>
          <a:xfrm>
            <a:off x="4191000" y="1190625"/>
            <a:ext cx="3238500" cy="952500"/>
          </a:xfrm>
          <a:prstGeom prst="roundRect">
            <a:avLst>
              <a:gd name="adj" fmla="val 8000"/>
            </a:avLst>
          </a:prstGeom>
          <a:solidFill>
            <a:srgbClr val="2DD4A8">
              <a:alpha val="12000"/>
            </a:srgbClr>
          </a:solidFill>
          <a:ln w="14288">
            <a:solidFill>
              <a:srgbClr val="2DD4A8"/>
            </a:solidFill>
          </a:ln>
        </p:spPr>
      </p:sp>
      <p:sp>
        <p:nvSpPr>
          <p:cNvPr id="13" name="TextBox 13"/>
          <p:cNvSpPr txBox="1"/>
          <p:nvPr/>
        </p:nvSpPr>
        <p:spPr>
          <a:xfrm>
            <a:off x="5169132" y="1394460"/>
            <a:ext cx="1282236" cy="243840"/>
          </a:xfrm>
          <a:prstGeom prst="rect">
            <a:avLst/>
          </a:prstGeom>
          <a:noFill/>
          <a:ln>
            <a:noFill/>
          </a:ln>
        </p:spPr>
        <p:txBody>
          <a:bodyPr wrap="none" lIns="0" tIns="0" rIns="0" bIns="0" anchor="t" anchorCtr="0">
            <a:spAutoFit/>
          </a:bodyPr>
          <a:lstStyle/>
          <a:p>
            <a:pPr algn="ctr"/>
            <a:r>
              <a:rPr lang="zh-CN" sz="1200" b="1" dirty="0">
                <a:solidFill>
                  <a:srgbClr val="1E2761"/>
                </a:solidFill>
                <a:latin typeface="Segoe UI"/>
                <a:ea typeface="SimHei"/>
                <a:cs typeface="Segoe UI"/>
              </a:rPr>
              <a:t>gaisoft-server</a:t>
            </a:r>
          </a:p>
        </p:txBody>
      </p:sp>
      <p:sp>
        <p:nvSpPr>
          <p:cNvPr id="14" name="TextBox 14"/>
          <p:cNvSpPr txBox="1"/>
          <p:nvPr/>
        </p:nvSpPr>
        <p:spPr>
          <a:xfrm>
            <a:off x="5183541" y="1628299"/>
            <a:ext cx="1253419"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Spring Boot · :8088</a:t>
            </a:r>
          </a:p>
        </p:txBody>
      </p:sp>
      <p:sp>
        <p:nvSpPr>
          <p:cNvPr id="15" name="TextBox 15"/>
          <p:cNvSpPr txBox="1"/>
          <p:nvPr/>
        </p:nvSpPr>
        <p:spPr>
          <a:xfrm>
            <a:off x="5294757" y="1807845"/>
            <a:ext cx="1030986"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业务逻辑与API服务</a:t>
            </a:r>
          </a:p>
        </p:txBody>
      </p:sp>
      <p:sp>
        <p:nvSpPr>
          <p:cNvPr id="16" name="Rectangle 16"/>
          <p:cNvSpPr/>
          <p:nvPr/>
        </p:nvSpPr>
        <p:spPr>
          <a:xfrm>
            <a:off x="7715250" y="1190625"/>
            <a:ext cx="3810000" cy="952500"/>
          </a:xfrm>
          <a:prstGeom prst="roundRect">
            <a:avLst>
              <a:gd name="adj" fmla="val 8000"/>
            </a:avLst>
          </a:prstGeom>
          <a:solidFill>
            <a:srgbClr val="1E2761">
              <a:alpha val="10000"/>
            </a:srgbClr>
          </a:solidFill>
          <a:ln w="14288">
            <a:solidFill>
              <a:srgbClr val="1E2761"/>
            </a:solidFill>
          </a:ln>
        </p:spPr>
      </p:sp>
      <p:sp>
        <p:nvSpPr>
          <p:cNvPr id="17" name="TextBox 17"/>
          <p:cNvSpPr txBox="1"/>
          <p:nvPr/>
        </p:nvSpPr>
        <p:spPr>
          <a:xfrm>
            <a:off x="8613686" y="1394460"/>
            <a:ext cx="2013128" cy="243840"/>
          </a:xfrm>
          <a:prstGeom prst="rect">
            <a:avLst/>
          </a:prstGeom>
          <a:noFill/>
          <a:ln>
            <a:noFill/>
          </a:ln>
        </p:spPr>
        <p:txBody>
          <a:bodyPr wrap="none" lIns="0" tIns="0" rIns="0" bIns="0" anchor="t" anchorCtr="0">
            <a:spAutoFit/>
          </a:bodyPr>
          <a:lstStyle/>
          <a:p>
            <a:pPr algn="ctr"/>
            <a:r>
              <a:rPr lang="zh-CN" sz="1200" b="1" dirty="0">
                <a:solidFill>
                  <a:srgbClr val="1E2761"/>
                </a:solidFill>
                <a:latin typeface="Segoe UI"/>
                <a:ea typeface="SimHei"/>
                <a:cs typeface="Segoe UI"/>
              </a:rPr>
              <a:t>ragflow-server v0.18.0</a:t>
            </a:r>
          </a:p>
        </p:txBody>
      </p:sp>
      <p:sp>
        <p:nvSpPr>
          <p:cNvPr id="18" name="TextBox 18"/>
          <p:cNvSpPr txBox="1"/>
          <p:nvPr/>
        </p:nvSpPr>
        <p:spPr>
          <a:xfrm>
            <a:off x="8772513" y="1628299"/>
            <a:ext cx="1695474"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RAG核心引擎 · :9380/:8070</a:t>
            </a:r>
          </a:p>
        </p:txBody>
      </p:sp>
      <p:sp>
        <p:nvSpPr>
          <p:cNvPr id="19" name="TextBox 19"/>
          <p:cNvSpPr txBox="1"/>
          <p:nvPr/>
        </p:nvSpPr>
        <p:spPr>
          <a:xfrm>
            <a:off x="8558689" y="1807845"/>
            <a:ext cx="2123122"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文档解析/向量索引/混合检索/LLM对话</a:t>
            </a:r>
          </a:p>
        </p:txBody>
      </p:sp>
      <p:sp>
        <p:nvSpPr>
          <p:cNvPr id="20" name="Rectangle 20"/>
          <p:cNvSpPr/>
          <p:nvPr/>
        </p:nvSpPr>
        <p:spPr>
          <a:xfrm>
            <a:off x="666750" y="2333625"/>
            <a:ext cx="10858500" cy="333375"/>
          </a:xfrm>
          <a:prstGeom prst="roundRect">
            <a:avLst>
              <a:gd name="adj" fmla="val 17143"/>
            </a:avLst>
          </a:prstGeom>
          <a:solidFill>
            <a:srgbClr val="E0E7FF"/>
          </a:solidFill>
          <a:ln>
            <a:noFill/>
          </a:ln>
        </p:spPr>
      </p:sp>
      <p:sp>
        <p:nvSpPr>
          <p:cNvPr id="21" name="TextBox 21"/>
          <p:cNvSpPr txBox="1"/>
          <p:nvPr/>
        </p:nvSpPr>
        <p:spPr>
          <a:xfrm>
            <a:off x="4634534" y="2439352"/>
            <a:ext cx="2922932"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ragflow 桥接网络 (bridge) — 所有服务共享</a:t>
            </a:r>
          </a:p>
        </p:txBody>
      </p:sp>
      <p:sp>
        <p:nvSpPr>
          <p:cNvPr id="22" name="Line 22"/>
          <p:cNvSpPr/>
          <p:nvPr/>
        </p:nvSpPr>
        <p:spPr>
          <a:xfrm>
            <a:off x="2286000" y="2143125"/>
            <a:ext cx="9525" cy="190500"/>
          </a:xfrm>
          <a:custGeom>
            <a:avLst/>
            <a:gdLst/>
            <a:ahLst/>
            <a:cxnLst/>
            <a:rect l="l" t="t" r="r" b="b"/>
            <a:pathLst>
              <a:path w="9525" h="190500">
                <a:moveTo>
                  <a:pt x="0" y="0"/>
                </a:moveTo>
                <a:lnTo>
                  <a:pt x="0" y="190500"/>
                </a:lnTo>
              </a:path>
            </a:pathLst>
          </a:custGeom>
          <a:noFill/>
          <a:ln w="14288">
            <a:solidFill>
              <a:srgbClr val="4A7BF7"/>
            </a:solidFill>
          </a:ln>
        </p:spPr>
      </p:sp>
      <p:sp>
        <p:nvSpPr>
          <p:cNvPr id="23" name="Line 23"/>
          <p:cNvSpPr/>
          <p:nvPr/>
        </p:nvSpPr>
        <p:spPr>
          <a:xfrm>
            <a:off x="5810250" y="2143125"/>
            <a:ext cx="9525" cy="190500"/>
          </a:xfrm>
          <a:custGeom>
            <a:avLst/>
            <a:gdLst/>
            <a:ahLst/>
            <a:cxnLst/>
            <a:rect l="l" t="t" r="r" b="b"/>
            <a:pathLst>
              <a:path w="9525" h="190500">
                <a:moveTo>
                  <a:pt x="0" y="0"/>
                </a:moveTo>
                <a:lnTo>
                  <a:pt x="0" y="190500"/>
                </a:lnTo>
              </a:path>
            </a:pathLst>
          </a:custGeom>
          <a:noFill/>
          <a:ln w="14288">
            <a:solidFill>
              <a:srgbClr val="2DD4A8"/>
            </a:solidFill>
          </a:ln>
        </p:spPr>
      </p:sp>
      <p:sp>
        <p:nvSpPr>
          <p:cNvPr id="24" name="Line 24"/>
          <p:cNvSpPr/>
          <p:nvPr/>
        </p:nvSpPr>
        <p:spPr>
          <a:xfrm>
            <a:off x="9620250" y="2143125"/>
            <a:ext cx="9525" cy="190500"/>
          </a:xfrm>
          <a:custGeom>
            <a:avLst/>
            <a:gdLst/>
            <a:ahLst/>
            <a:cxnLst/>
            <a:rect l="l" t="t" r="r" b="b"/>
            <a:pathLst>
              <a:path w="9525" h="190500">
                <a:moveTo>
                  <a:pt x="0" y="0"/>
                </a:moveTo>
                <a:lnTo>
                  <a:pt x="0" y="190500"/>
                </a:lnTo>
              </a:path>
            </a:pathLst>
          </a:custGeom>
          <a:noFill/>
          <a:ln w="14288">
            <a:solidFill>
              <a:srgbClr val="1E2761"/>
            </a:solidFill>
          </a:ln>
        </p:spPr>
      </p:sp>
      <p:sp>
        <p:nvSpPr>
          <p:cNvPr id="25" name="Line 25"/>
          <p:cNvSpPr/>
          <p:nvPr/>
        </p:nvSpPr>
        <p:spPr>
          <a:xfrm>
            <a:off x="2286000" y="2667000"/>
            <a:ext cx="9525" cy="190500"/>
          </a:xfrm>
          <a:custGeom>
            <a:avLst/>
            <a:gdLst/>
            <a:ahLst/>
            <a:cxnLst/>
            <a:rect l="l" t="t" r="r" b="b"/>
            <a:pathLst>
              <a:path w="9525" h="190500">
                <a:moveTo>
                  <a:pt x="0" y="0"/>
                </a:moveTo>
                <a:lnTo>
                  <a:pt x="0" y="190500"/>
                </a:lnTo>
              </a:path>
            </a:pathLst>
          </a:custGeom>
          <a:noFill/>
          <a:ln w="14288">
            <a:solidFill>
              <a:srgbClr val="4A7BF7"/>
            </a:solidFill>
          </a:ln>
        </p:spPr>
      </p:sp>
      <p:sp>
        <p:nvSpPr>
          <p:cNvPr id="26" name="Line 26"/>
          <p:cNvSpPr/>
          <p:nvPr/>
        </p:nvSpPr>
        <p:spPr>
          <a:xfrm>
            <a:off x="5810250" y="2667000"/>
            <a:ext cx="9525" cy="190500"/>
          </a:xfrm>
          <a:custGeom>
            <a:avLst/>
            <a:gdLst/>
            <a:ahLst/>
            <a:cxnLst/>
            <a:rect l="l" t="t" r="r" b="b"/>
            <a:pathLst>
              <a:path w="9525" h="190500">
                <a:moveTo>
                  <a:pt x="0" y="0"/>
                </a:moveTo>
                <a:lnTo>
                  <a:pt x="0" y="190500"/>
                </a:lnTo>
              </a:path>
            </a:pathLst>
          </a:custGeom>
          <a:noFill/>
          <a:ln w="14288">
            <a:solidFill>
              <a:srgbClr val="2DD4A8"/>
            </a:solidFill>
          </a:ln>
        </p:spPr>
      </p:sp>
      <p:sp>
        <p:nvSpPr>
          <p:cNvPr id="27" name="Line 27"/>
          <p:cNvSpPr/>
          <p:nvPr/>
        </p:nvSpPr>
        <p:spPr>
          <a:xfrm>
            <a:off x="9620250" y="2667000"/>
            <a:ext cx="9525" cy="190500"/>
          </a:xfrm>
          <a:custGeom>
            <a:avLst/>
            <a:gdLst/>
            <a:ahLst/>
            <a:cxnLst/>
            <a:rect l="l" t="t" r="r" b="b"/>
            <a:pathLst>
              <a:path w="9525" h="190500">
                <a:moveTo>
                  <a:pt x="0" y="0"/>
                </a:moveTo>
                <a:lnTo>
                  <a:pt x="0" y="190500"/>
                </a:lnTo>
              </a:path>
            </a:pathLst>
          </a:custGeom>
          <a:noFill/>
          <a:ln w="14288">
            <a:solidFill>
              <a:srgbClr val="1E2761"/>
            </a:solidFill>
          </a:ln>
        </p:spPr>
      </p:sp>
      <p:sp>
        <p:nvSpPr>
          <p:cNvPr id="28" name="Rectangle 28"/>
          <p:cNvSpPr/>
          <p:nvPr/>
        </p:nvSpPr>
        <p:spPr>
          <a:xfrm>
            <a:off x="666750" y="2857500"/>
            <a:ext cx="2476500" cy="1047750"/>
          </a:xfrm>
          <a:prstGeom prst="roundRect">
            <a:avLst>
              <a:gd name="adj" fmla="val 7273"/>
            </a:avLst>
          </a:prstGeom>
          <a:solidFill>
            <a:srgbClr val="FFFFFF"/>
          </a:solidFill>
          <a:ln w="14288">
            <a:solidFill>
              <a:srgbClr val="1E2761"/>
            </a:solidFill>
          </a:ln>
        </p:spPr>
      </p:sp>
      <p:sp>
        <p:nvSpPr>
          <p:cNvPr id="29" name="Rectangle 29"/>
          <p:cNvSpPr/>
          <p:nvPr/>
        </p:nvSpPr>
        <p:spPr>
          <a:xfrm>
            <a:off x="666750" y="2857500"/>
            <a:ext cx="2476500" cy="285750"/>
          </a:xfrm>
          <a:prstGeom prst="roundRect">
            <a:avLst>
              <a:gd name="adj" fmla="val 26667"/>
            </a:avLst>
          </a:prstGeom>
          <a:solidFill>
            <a:srgbClr val="1E2761"/>
          </a:solidFill>
          <a:ln>
            <a:noFill/>
          </a:ln>
        </p:spPr>
      </p:sp>
      <p:sp>
        <p:nvSpPr>
          <p:cNvPr id="30" name="Rectangle 30"/>
          <p:cNvSpPr/>
          <p:nvPr/>
        </p:nvSpPr>
        <p:spPr>
          <a:xfrm>
            <a:off x="666750" y="3028950"/>
            <a:ext cx="2476500" cy="114300"/>
          </a:xfrm>
          <a:prstGeom prst="rect">
            <a:avLst/>
          </a:prstGeom>
          <a:solidFill>
            <a:srgbClr val="1E2761"/>
          </a:solidFill>
          <a:ln>
            <a:noFill/>
          </a:ln>
        </p:spPr>
      </p:sp>
      <p:sp>
        <p:nvSpPr>
          <p:cNvPr id="31" name="TextBox 31"/>
          <p:cNvSpPr txBox="1"/>
          <p:nvPr/>
        </p:nvSpPr>
        <p:spPr>
          <a:xfrm>
            <a:off x="1516768" y="2934652"/>
            <a:ext cx="77646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MySQL 8.0</a:t>
            </a:r>
          </a:p>
        </p:txBody>
      </p:sp>
      <p:sp>
        <p:nvSpPr>
          <p:cNvPr id="32" name="TextBox 32"/>
          <p:cNvSpPr txBox="1"/>
          <p:nvPr/>
        </p:nvSpPr>
        <p:spPr>
          <a:xfrm>
            <a:off x="1728549" y="3284220"/>
            <a:ext cx="352901" cy="182880"/>
          </a:xfrm>
          <a:prstGeom prst="rect">
            <a:avLst/>
          </a:prstGeom>
          <a:noFill/>
          <a:ln>
            <a:noFill/>
          </a:ln>
        </p:spPr>
        <p:txBody>
          <a:bodyPr wrap="none" lIns="0" tIns="0" rIns="0" bIns="0" anchor="t" anchorCtr="0">
            <a:spAutoFit/>
          </a:bodyPr>
          <a:lstStyle/>
          <a:p>
            <a:pPr algn="ctr"/>
            <a:r>
              <a:rPr lang="zh-CN" sz="900" dirty="0">
                <a:solidFill>
                  <a:srgbClr val="1E293B"/>
                </a:solidFill>
                <a:latin typeface="Arial"/>
                <a:ea typeface="Microsoft YaHei"/>
                <a:cs typeface="Arial"/>
              </a:rPr>
              <a:t>:5455</a:t>
            </a:r>
          </a:p>
        </p:txBody>
      </p:sp>
      <p:sp>
        <p:nvSpPr>
          <p:cNvPr id="33" name="TextBox 33"/>
          <p:cNvSpPr txBox="1"/>
          <p:nvPr/>
        </p:nvSpPr>
        <p:spPr>
          <a:xfrm>
            <a:off x="1119473" y="3474720"/>
            <a:ext cx="1571053"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rag_flow + equipment_iqas</a:t>
            </a:r>
          </a:p>
        </p:txBody>
      </p:sp>
      <p:sp>
        <p:nvSpPr>
          <p:cNvPr id="34" name="TextBox 34"/>
          <p:cNvSpPr txBox="1"/>
          <p:nvPr/>
        </p:nvSpPr>
        <p:spPr>
          <a:xfrm>
            <a:off x="1281196" y="3673316"/>
            <a:ext cx="1247608"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结构化数据 + 初始化脚本</a:t>
            </a:r>
          </a:p>
        </p:txBody>
      </p:sp>
      <p:sp>
        <p:nvSpPr>
          <p:cNvPr id="35" name="Rectangle 35"/>
          <p:cNvSpPr/>
          <p:nvPr/>
        </p:nvSpPr>
        <p:spPr>
          <a:xfrm>
            <a:off x="3429000" y="2857500"/>
            <a:ext cx="2476500" cy="1047750"/>
          </a:xfrm>
          <a:prstGeom prst="roundRect">
            <a:avLst>
              <a:gd name="adj" fmla="val 7273"/>
            </a:avLst>
          </a:prstGeom>
          <a:solidFill>
            <a:srgbClr val="FFFFFF"/>
          </a:solidFill>
          <a:ln w="14288">
            <a:solidFill>
              <a:srgbClr val="2DD4A8"/>
            </a:solidFill>
          </a:ln>
        </p:spPr>
      </p:sp>
      <p:sp>
        <p:nvSpPr>
          <p:cNvPr id="36" name="Rectangle 36"/>
          <p:cNvSpPr/>
          <p:nvPr/>
        </p:nvSpPr>
        <p:spPr>
          <a:xfrm>
            <a:off x="3429000" y="2857500"/>
            <a:ext cx="2476500" cy="285750"/>
          </a:xfrm>
          <a:prstGeom prst="roundRect">
            <a:avLst>
              <a:gd name="adj" fmla="val 26667"/>
            </a:avLst>
          </a:prstGeom>
          <a:solidFill>
            <a:srgbClr val="2DD4A8"/>
          </a:solidFill>
          <a:ln>
            <a:noFill/>
          </a:ln>
        </p:spPr>
      </p:sp>
      <p:sp>
        <p:nvSpPr>
          <p:cNvPr id="37" name="Rectangle 37"/>
          <p:cNvSpPr/>
          <p:nvPr/>
        </p:nvSpPr>
        <p:spPr>
          <a:xfrm>
            <a:off x="3429000" y="3028950"/>
            <a:ext cx="2476500" cy="114300"/>
          </a:xfrm>
          <a:prstGeom prst="rect">
            <a:avLst/>
          </a:prstGeom>
          <a:solidFill>
            <a:srgbClr val="2DD4A8"/>
          </a:solidFill>
          <a:ln>
            <a:noFill/>
          </a:ln>
        </p:spPr>
      </p:sp>
      <p:sp>
        <p:nvSpPr>
          <p:cNvPr id="38" name="TextBox 38"/>
          <p:cNvSpPr txBox="1"/>
          <p:nvPr/>
        </p:nvSpPr>
        <p:spPr>
          <a:xfrm>
            <a:off x="3981306" y="2934652"/>
            <a:ext cx="137188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Elasticsearch 8.11</a:t>
            </a:r>
          </a:p>
        </p:txBody>
      </p:sp>
      <p:sp>
        <p:nvSpPr>
          <p:cNvPr id="39" name="TextBox 39"/>
          <p:cNvSpPr txBox="1"/>
          <p:nvPr/>
        </p:nvSpPr>
        <p:spPr>
          <a:xfrm>
            <a:off x="4490799" y="3284220"/>
            <a:ext cx="352901" cy="182880"/>
          </a:xfrm>
          <a:prstGeom prst="rect">
            <a:avLst/>
          </a:prstGeom>
          <a:noFill/>
          <a:ln>
            <a:noFill/>
          </a:ln>
        </p:spPr>
        <p:txBody>
          <a:bodyPr wrap="none" lIns="0" tIns="0" rIns="0" bIns="0" anchor="t" anchorCtr="0">
            <a:spAutoFit/>
          </a:bodyPr>
          <a:lstStyle/>
          <a:p>
            <a:pPr algn="ctr"/>
            <a:r>
              <a:rPr lang="zh-CN" sz="900" dirty="0">
                <a:solidFill>
                  <a:srgbClr val="1E293B"/>
                </a:solidFill>
                <a:latin typeface="Arial"/>
                <a:ea typeface="Microsoft YaHei"/>
                <a:cs typeface="Arial"/>
              </a:rPr>
              <a:t>:1200</a:t>
            </a:r>
          </a:p>
        </p:txBody>
      </p:sp>
      <p:sp>
        <p:nvSpPr>
          <p:cNvPr id="40" name="TextBox 40"/>
          <p:cNvSpPr txBox="1"/>
          <p:nvPr/>
        </p:nvSpPr>
        <p:spPr>
          <a:xfrm>
            <a:off x="4106751" y="3474720"/>
            <a:ext cx="1120997"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向量索引 + 全文检索</a:t>
            </a:r>
          </a:p>
        </p:txBody>
      </p:sp>
      <p:sp>
        <p:nvSpPr>
          <p:cNvPr id="41" name="TextBox 41"/>
          <p:cNvSpPr txBox="1"/>
          <p:nvPr/>
        </p:nvSpPr>
        <p:spPr>
          <a:xfrm>
            <a:off x="4310229" y="3673316"/>
            <a:ext cx="714042"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8GB JVM Heap</a:t>
            </a:r>
          </a:p>
        </p:txBody>
      </p:sp>
      <p:sp>
        <p:nvSpPr>
          <p:cNvPr id="42" name="Rectangle 42"/>
          <p:cNvSpPr/>
          <p:nvPr/>
        </p:nvSpPr>
        <p:spPr>
          <a:xfrm>
            <a:off x="6191250" y="2857500"/>
            <a:ext cx="2476500" cy="1047750"/>
          </a:xfrm>
          <a:prstGeom prst="roundRect">
            <a:avLst>
              <a:gd name="adj" fmla="val 7273"/>
            </a:avLst>
          </a:prstGeom>
          <a:solidFill>
            <a:srgbClr val="FFFFFF"/>
          </a:solidFill>
          <a:ln w="14288">
            <a:solidFill>
              <a:srgbClr val="4A7BF7"/>
            </a:solidFill>
          </a:ln>
        </p:spPr>
      </p:sp>
      <p:sp>
        <p:nvSpPr>
          <p:cNvPr id="43" name="Rectangle 43"/>
          <p:cNvSpPr/>
          <p:nvPr/>
        </p:nvSpPr>
        <p:spPr>
          <a:xfrm>
            <a:off x="6191250" y="2857500"/>
            <a:ext cx="2476500" cy="285750"/>
          </a:xfrm>
          <a:prstGeom prst="roundRect">
            <a:avLst>
              <a:gd name="adj" fmla="val 26667"/>
            </a:avLst>
          </a:prstGeom>
          <a:solidFill>
            <a:srgbClr val="4A7BF7"/>
          </a:solidFill>
          <a:ln>
            <a:noFill/>
          </a:ln>
        </p:spPr>
      </p:sp>
      <p:sp>
        <p:nvSpPr>
          <p:cNvPr id="44" name="Rectangle 44"/>
          <p:cNvSpPr/>
          <p:nvPr/>
        </p:nvSpPr>
        <p:spPr>
          <a:xfrm>
            <a:off x="6191250" y="3028950"/>
            <a:ext cx="2476500" cy="114300"/>
          </a:xfrm>
          <a:prstGeom prst="rect">
            <a:avLst/>
          </a:prstGeom>
          <a:solidFill>
            <a:srgbClr val="4A7BF7"/>
          </a:solidFill>
          <a:ln>
            <a:noFill/>
          </a:ln>
        </p:spPr>
      </p:sp>
      <p:sp>
        <p:nvSpPr>
          <p:cNvPr id="45" name="TextBox 45"/>
          <p:cNvSpPr txBox="1"/>
          <p:nvPr/>
        </p:nvSpPr>
        <p:spPr>
          <a:xfrm>
            <a:off x="6905276" y="2934652"/>
            <a:ext cx="104844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Valkey/Redis 8</a:t>
            </a:r>
          </a:p>
        </p:txBody>
      </p:sp>
      <p:sp>
        <p:nvSpPr>
          <p:cNvPr id="46" name="TextBox 46"/>
          <p:cNvSpPr txBox="1"/>
          <p:nvPr/>
        </p:nvSpPr>
        <p:spPr>
          <a:xfrm>
            <a:off x="7253049" y="3284220"/>
            <a:ext cx="352901" cy="182880"/>
          </a:xfrm>
          <a:prstGeom prst="rect">
            <a:avLst/>
          </a:prstGeom>
          <a:noFill/>
          <a:ln>
            <a:noFill/>
          </a:ln>
        </p:spPr>
        <p:txBody>
          <a:bodyPr wrap="none" lIns="0" tIns="0" rIns="0" bIns="0" anchor="t" anchorCtr="0">
            <a:spAutoFit/>
          </a:bodyPr>
          <a:lstStyle/>
          <a:p>
            <a:pPr algn="ctr"/>
            <a:r>
              <a:rPr lang="zh-CN" sz="900" dirty="0">
                <a:solidFill>
                  <a:srgbClr val="1E293B"/>
                </a:solidFill>
                <a:latin typeface="Arial"/>
                <a:ea typeface="Microsoft YaHei"/>
                <a:cs typeface="Arial"/>
              </a:rPr>
              <a:t>:6380</a:t>
            </a:r>
          </a:p>
        </p:txBody>
      </p:sp>
      <p:sp>
        <p:nvSpPr>
          <p:cNvPr id="47" name="TextBox 47"/>
          <p:cNvSpPr txBox="1"/>
          <p:nvPr/>
        </p:nvSpPr>
        <p:spPr>
          <a:xfrm>
            <a:off x="6869001" y="3474720"/>
            <a:ext cx="1120997"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会话缓存 + 检索缓存</a:t>
            </a:r>
          </a:p>
        </p:txBody>
      </p:sp>
      <p:sp>
        <p:nvSpPr>
          <p:cNvPr id="48" name="TextBox 48"/>
          <p:cNvSpPr txBox="1"/>
          <p:nvPr/>
        </p:nvSpPr>
        <p:spPr>
          <a:xfrm>
            <a:off x="7006471" y="3673316"/>
            <a:ext cx="846058"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DB8 for gaisoft</a:t>
            </a:r>
          </a:p>
        </p:txBody>
      </p:sp>
      <p:sp>
        <p:nvSpPr>
          <p:cNvPr id="49" name="Rectangle 49"/>
          <p:cNvSpPr/>
          <p:nvPr/>
        </p:nvSpPr>
        <p:spPr>
          <a:xfrm>
            <a:off x="8953500" y="2857500"/>
            <a:ext cx="2667000" cy="1047750"/>
          </a:xfrm>
          <a:prstGeom prst="roundRect">
            <a:avLst>
              <a:gd name="adj" fmla="val 7273"/>
            </a:avLst>
          </a:prstGeom>
          <a:solidFill>
            <a:srgbClr val="FFFFFF"/>
          </a:solidFill>
          <a:ln w="14288">
            <a:solidFill>
              <a:srgbClr val="94A3B8"/>
            </a:solidFill>
          </a:ln>
        </p:spPr>
      </p:sp>
      <p:sp>
        <p:nvSpPr>
          <p:cNvPr id="50" name="Rectangle 50"/>
          <p:cNvSpPr/>
          <p:nvPr/>
        </p:nvSpPr>
        <p:spPr>
          <a:xfrm>
            <a:off x="8953500" y="2857500"/>
            <a:ext cx="2667000" cy="285750"/>
          </a:xfrm>
          <a:prstGeom prst="roundRect">
            <a:avLst>
              <a:gd name="adj" fmla="val 26667"/>
            </a:avLst>
          </a:prstGeom>
          <a:solidFill>
            <a:srgbClr val="94A3B8"/>
          </a:solidFill>
          <a:ln>
            <a:noFill/>
          </a:ln>
        </p:spPr>
      </p:sp>
      <p:sp>
        <p:nvSpPr>
          <p:cNvPr id="51" name="Rectangle 51"/>
          <p:cNvSpPr/>
          <p:nvPr/>
        </p:nvSpPr>
        <p:spPr>
          <a:xfrm>
            <a:off x="8953500" y="3028950"/>
            <a:ext cx="2667000" cy="114300"/>
          </a:xfrm>
          <a:prstGeom prst="rect">
            <a:avLst/>
          </a:prstGeom>
          <a:solidFill>
            <a:srgbClr val="94A3B8"/>
          </a:solidFill>
          <a:ln>
            <a:noFill/>
          </a:ln>
        </p:spPr>
      </p:sp>
      <p:sp>
        <p:nvSpPr>
          <p:cNvPr id="52" name="TextBox 52"/>
          <p:cNvSpPr txBox="1"/>
          <p:nvPr/>
        </p:nvSpPr>
        <p:spPr>
          <a:xfrm>
            <a:off x="10078866" y="2934652"/>
            <a:ext cx="41626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MinIO</a:t>
            </a:r>
          </a:p>
        </p:txBody>
      </p:sp>
      <p:sp>
        <p:nvSpPr>
          <p:cNvPr id="53" name="TextBox 53"/>
          <p:cNvSpPr txBox="1"/>
          <p:nvPr/>
        </p:nvSpPr>
        <p:spPr>
          <a:xfrm>
            <a:off x="10110549" y="3284220"/>
            <a:ext cx="352901" cy="182880"/>
          </a:xfrm>
          <a:prstGeom prst="rect">
            <a:avLst/>
          </a:prstGeom>
          <a:noFill/>
          <a:ln>
            <a:noFill/>
          </a:ln>
        </p:spPr>
        <p:txBody>
          <a:bodyPr wrap="none" lIns="0" tIns="0" rIns="0" bIns="0" anchor="t" anchorCtr="0">
            <a:spAutoFit/>
          </a:bodyPr>
          <a:lstStyle/>
          <a:p>
            <a:pPr algn="ctr"/>
            <a:r>
              <a:rPr lang="zh-CN" sz="900" dirty="0">
                <a:solidFill>
                  <a:srgbClr val="1E293B"/>
                </a:solidFill>
                <a:latin typeface="Arial"/>
                <a:ea typeface="Microsoft YaHei"/>
                <a:cs typeface="Arial"/>
              </a:rPr>
              <a:t>:9100</a:t>
            </a:r>
          </a:p>
        </p:txBody>
      </p:sp>
      <p:sp>
        <p:nvSpPr>
          <p:cNvPr id="54" name="TextBox 54"/>
          <p:cNvSpPr txBox="1"/>
          <p:nvPr/>
        </p:nvSpPr>
        <p:spPr>
          <a:xfrm>
            <a:off x="9795510" y="3474720"/>
            <a:ext cx="982980"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文档文件对象存储</a:t>
            </a:r>
          </a:p>
        </p:txBody>
      </p:sp>
      <p:sp>
        <p:nvSpPr>
          <p:cNvPr id="55" name="TextBox 55"/>
          <p:cNvSpPr txBox="1"/>
          <p:nvPr/>
        </p:nvSpPr>
        <p:spPr>
          <a:xfrm>
            <a:off x="9643943" y="3673316"/>
            <a:ext cx="1286113"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PDF/Word/Excel/TXT...</a:t>
            </a:r>
          </a:p>
        </p:txBody>
      </p:sp>
      <p:sp>
        <p:nvSpPr>
          <p:cNvPr id="56" name="Rectangle 56"/>
          <p:cNvSpPr/>
          <p:nvPr/>
        </p:nvSpPr>
        <p:spPr>
          <a:xfrm>
            <a:off x="666750" y="4095750"/>
            <a:ext cx="10858500" cy="285750"/>
          </a:xfrm>
          <a:prstGeom prst="roundRect">
            <a:avLst>
              <a:gd name="adj" fmla="val 20000"/>
            </a:avLst>
          </a:prstGeom>
          <a:solidFill>
            <a:srgbClr val="F8FAFC"/>
          </a:solidFill>
          <a:ln w="9525">
            <a:solidFill>
              <a:srgbClr val="E2E8F0"/>
            </a:solidFill>
          </a:ln>
        </p:spPr>
      </p:sp>
      <p:sp>
        <p:nvSpPr>
          <p:cNvPr id="57" name="TextBox 57"/>
          <p:cNvSpPr txBox="1"/>
          <p:nvPr/>
        </p:nvSpPr>
        <p:spPr>
          <a:xfrm>
            <a:off x="3710821" y="4180999"/>
            <a:ext cx="4770358"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Docker Volume 数据持久化 — mysql_data / es_data / minio_data / redis_data</a:t>
            </a:r>
          </a:p>
        </p:txBody>
      </p:sp>
      <p:sp>
        <p:nvSpPr>
          <p:cNvPr id="58" name="Rectangle 58"/>
          <p:cNvSpPr/>
          <p:nvPr/>
        </p:nvSpPr>
        <p:spPr>
          <a:xfrm>
            <a:off x="666750" y="4572000"/>
            <a:ext cx="10858500" cy="857250"/>
          </a:xfrm>
          <a:prstGeom prst="roundRect">
            <a:avLst>
              <a:gd name="adj" fmla="val 8889"/>
            </a:avLst>
          </a:prstGeom>
          <a:solidFill>
            <a:srgbClr val="1E2761">
              <a:alpha val="5000"/>
            </a:srgbClr>
          </a:solidFill>
          <a:ln w="9525">
            <a:solidFill>
              <a:srgbClr val="1E2761"/>
            </a:solidFill>
            <a:prstDash val="dash"/>
          </a:ln>
        </p:spPr>
      </p:sp>
      <p:sp>
        <p:nvSpPr>
          <p:cNvPr id="59" name="TextBox 59"/>
          <p:cNvSpPr txBox="1"/>
          <p:nvPr/>
        </p:nvSpPr>
        <p:spPr>
          <a:xfrm>
            <a:off x="842962" y="4717256"/>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离线部署链路</a:t>
            </a:r>
          </a:p>
        </p:txBody>
      </p:sp>
      <p:sp>
        <p:nvSpPr>
          <p:cNvPr id="60" name="Rectangle 60"/>
          <p:cNvSpPr/>
          <p:nvPr/>
        </p:nvSpPr>
        <p:spPr>
          <a:xfrm>
            <a:off x="857250" y="4953000"/>
            <a:ext cx="1714500" cy="333375"/>
          </a:xfrm>
          <a:prstGeom prst="roundRect">
            <a:avLst>
              <a:gd name="adj" fmla="val 17143"/>
            </a:avLst>
          </a:prstGeom>
          <a:solidFill>
            <a:srgbClr val="FFFFFF"/>
          </a:solidFill>
          <a:ln w="9525">
            <a:solidFill>
              <a:srgbClr val="4A7BF7"/>
            </a:solidFill>
          </a:ln>
        </p:spPr>
      </p:sp>
      <p:sp>
        <p:nvSpPr>
          <p:cNvPr id="61" name="TextBox 61"/>
          <p:cNvSpPr txBox="1"/>
          <p:nvPr/>
        </p:nvSpPr>
        <p:spPr>
          <a:xfrm>
            <a:off x="1078039" y="5057299"/>
            <a:ext cx="1272921"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联网环境 docker pull</a:t>
            </a:r>
          </a:p>
        </p:txBody>
      </p:sp>
      <p:sp>
        <p:nvSpPr>
          <p:cNvPr id="62" name="TextBox 62"/>
          <p:cNvSpPr txBox="1"/>
          <p:nvPr/>
        </p:nvSpPr>
        <p:spPr>
          <a:xfrm>
            <a:off x="2745105" y="5016818"/>
            <a:ext cx="133302" cy="274320"/>
          </a:xfrm>
          <a:prstGeom prst="rect">
            <a:avLst/>
          </a:prstGeom>
          <a:noFill/>
          <a:ln>
            <a:noFill/>
          </a:ln>
        </p:spPr>
        <p:txBody>
          <a:bodyPr wrap="none" lIns="0" tIns="0" rIns="0" bIns="0" anchor="t" anchorCtr="0">
            <a:spAutoFit/>
          </a:bodyPr>
          <a:lstStyle/>
          <a:p>
            <a:pPr algn="l"/>
            <a:r>
              <a:rPr lang="zh-CN" sz="1350" dirty="0">
                <a:solidFill>
                  <a:srgbClr val="4A7BF7"/>
                </a:solidFill>
                <a:latin typeface="Arial"/>
                <a:ea typeface="Microsoft YaHei"/>
                <a:cs typeface="Arial"/>
              </a:rPr>
              <a:t>→</a:t>
            </a:r>
          </a:p>
        </p:txBody>
      </p:sp>
      <p:sp>
        <p:nvSpPr>
          <p:cNvPr id="63" name="Rectangle 63"/>
          <p:cNvSpPr/>
          <p:nvPr/>
        </p:nvSpPr>
        <p:spPr>
          <a:xfrm>
            <a:off x="3048000" y="4953000"/>
            <a:ext cx="1714500" cy="333375"/>
          </a:xfrm>
          <a:prstGeom prst="roundRect">
            <a:avLst>
              <a:gd name="adj" fmla="val 17143"/>
            </a:avLst>
          </a:prstGeom>
          <a:solidFill>
            <a:srgbClr val="FFFFFF"/>
          </a:solidFill>
          <a:ln w="9525">
            <a:solidFill>
              <a:srgbClr val="2DD4A8"/>
            </a:solidFill>
          </a:ln>
        </p:spPr>
      </p:sp>
      <p:sp>
        <p:nvSpPr>
          <p:cNvPr id="64" name="TextBox 64"/>
          <p:cNvSpPr txBox="1"/>
          <p:nvPr/>
        </p:nvSpPr>
        <p:spPr>
          <a:xfrm>
            <a:off x="3239536" y="5057299"/>
            <a:ext cx="1331428"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offline-save 导出tar</a:t>
            </a:r>
          </a:p>
        </p:txBody>
      </p:sp>
      <p:sp>
        <p:nvSpPr>
          <p:cNvPr id="65" name="TextBox 65"/>
          <p:cNvSpPr txBox="1"/>
          <p:nvPr/>
        </p:nvSpPr>
        <p:spPr>
          <a:xfrm>
            <a:off x="4935855" y="5016818"/>
            <a:ext cx="133302" cy="274320"/>
          </a:xfrm>
          <a:prstGeom prst="rect">
            <a:avLst/>
          </a:prstGeom>
          <a:noFill/>
          <a:ln>
            <a:noFill/>
          </a:ln>
        </p:spPr>
        <p:txBody>
          <a:bodyPr wrap="none" lIns="0" tIns="0" rIns="0" bIns="0" anchor="t" anchorCtr="0">
            <a:spAutoFit/>
          </a:bodyPr>
          <a:lstStyle/>
          <a:p>
            <a:pPr algn="l"/>
            <a:r>
              <a:rPr lang="zh-CN" sz="1350" dirty="0">
                <a:solidFill>
                  <a:srgbClr val="2DD4A8"/>
                </a:solidFill>
                <a:latin typeface="Arial"/>
                <a:ea typeface="Microsoft YaHei"/>
                <a:cs typeface="Arial"/>
              </a:rPr>
              <a:t>→</a:t>
            </a:r>
          </a:p>
        </p:txBody>
      </p:sp>
      <p:sp>
        <p:nvSpPr>
          <p:cNvPr id="66" name="Rectangle 66"/>
          <p:cNvSpPr/>
          <p:nvPr/>
        </p:nvSpPr>
        <p:spPr>
          <a:xfrm>
            <a:off x="5238750" y="4953000"/>
            <a:ext cx="1143000" cy="333375"/>
          </a:xfrm>
          <a:prstGeom prst="roundRect">
            <a:avLst>
              <a:gd name="adj" fmla="val 17143"/>
            </a:avLst>
          </a:prstGeom>
          <a:solidFill>
            <a:srgbClr val="1E2761"/>
          </a:solidFill>
          <a:ln>
            <a:noFill/>
          </a:ln>
        </p:spPr>
      </p:sp>
      <p:sp>
        <p:nvSpPr>
          <p:cNvPr id="67" name="TextBox 67"/>
          <p:cNvSpPr txBox="1"/>
          <p:nvPr/>
        </p:nvSpPr>
        <p:spPr>
          <a:xfrm>
            <a:off x="5560588" y="5057299"/>
            <a:ext cx="499324"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USB传输</a:t>
            </a:r>
          </a:p>
        </p:txBody>
      </p:sp>
      <p:sp>
        <p:nvSpPr>
          <p:cNvPr id="68" name="TextBox 68"/>
          <p:cNvSpPr txBox="1"/>
          <p:nvPr/>
        </p:nvSpPr>
        <p:spPr>
          <a:xfrm>
            <a:off x="6555105" y="5016818"/>
            <a:ext cx="133302" cy="274320"/>
          </a:xfrm>
          <a:prstGeom prst="rect">
            <a:avLst/>
          </a:prstGeom>
          <a:noFill/>
          <a:ln>
            <a:noFill/>
          </a:ln>
        </p:spPr>
        <p:txBody>
          <a:bodyPr wrap="none" lIns="0" tIns="0" rIns="0" bIns="0" anchor="t" anchorCtr="0">
            <a:spAutoFit/>
          </a:bodyPr>
          <a:lstStyle/>
          <a:p>
            <a:pPr algn="l"/>
            <a:r>
              <a:rPr lang="zh-CN" sz="1350" dirty="0">
                <a:solidFill>
                  <a:srgbClr val="1E2761"/>
                </a:solidFill>
                <a:latin typeface="Arial"/>
                <a:ea typeface="Microsoft YaHei"/>
                <a:cs typeface="Arial"/>
              </a:rPr>
              <a:t>→</a:t>
            </a:r>
          </a:p>
        </p:txBody>
      </p:sp>
      <p:sp>
        <p:nvSpPr>
          <p:cNvPr id="69" name="Rectangle 69"/>
          <p:cNvSpPr/>
          <p:nvPr/>
        </p:nvSpPr>
        <p:spPr>
          <a:xfrm>
            <a:off x="6858000" y="4953000"/>
            <a:ext cx="1714500" cy="333375"/>
          </a:xfrm>
          <a:prstGeom prst="roundRect">
            <a:avLst>
              <a:gd name="adj" fmla="val 17143"/>
            </a:avLst>
          </a:prstGeom>
          <a:solidFill>
            <a:srgbClr val="FFFFFF"/>
          </a:solidFill>
          <a:ln w="9525">
            <a:solidFill>
              <a:srgbClr val="1E2761"/>
            </a:solidFill>
          </a:ln>
        </p:spPr>
      </p:sp>
      <p:sp>
        <p:nvSpPr>
          <p:cNvPr id="70" name="TextBox 70"/>
          <p:cNvSpPr txBox="1"/>
          <p:nvPr/>
        </p:nvSpPr>
        <p:spPr>
          <a:xfrm>
            <a:off x="7173051" y="5057299"/>
            <a:ext cx="1084397"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offline-load 加载</a:t>
            </a:r>
          </a:p>
        </p:txBody>
      </p:sp>
      <p:sp>
        <p:nvSpPr>
          <p:cNvPr id="71" name="TextBox 71"/>
          <p:cNvSpPr txBox="1"/>
          <p:nvPr/>
        </p:nvSpPr>
        <p:spPr>
          <a:xfrm>
            <a:off x="8745855" y="5016818"/>
            <a:ext cx="133302" cy="274320"/>
          </a:xfrm>
          <a:prstGeom prst="rect">
            <a:avLst/>
          </a:prstGeom>
          <a:noFill/>
          <a:ln>
            <a:noFill/>
          </a:ln>
        </p:spPr>
        <p:txBody>
          <a:bodyPr wrap="none" lIns="0" tIns="0" rIns="0" bIns="0" anchor="t" anchorCtr="0">
            <a:spAutoFit/>
          </a:bodyPr>
          <a:lstStyle/>
          <a:p>
            <a:pPr algn="l"/>
            <a:r>
              <a:rPr lang="zh-CN" sz="1350" dirty="0">
                <a:solidFill>
                  <a:srgbClr val="1E2761"/>
                </a:solidFill>
                <a:latin typeface="Arial"/>
                <a:ea typeface="Microsoft YaHei"/>
                <a:cs typeface="Arial"/>
              </a:rPr>
              <a:t>→</a:t>
            </a:r>
          </a:p>
        </p:txBody>
      </p:sp>
      <p:sp>
        <p:nvSpPr>
          <p:cNvPr id="72" name="Rectangle 72"/>
          <p:cNvSpPr/>
          <p:nvPr/>
        </p:nvSpPr>
        <p:spPr>
          <a:xfrm>
            <a:off x="9048750" y="4953000"/>
            <a:ext cx="1714500" cy="333375"/>
          </a:xfrm>
          <a:prstGeom prst="roundRect">
            <a:avLst>
              <a:gd name="adj" fmla="val 17143"/>
            </a:avLst>
          </a:prstGeom>
          <a:solidFill>
            <a:srgbClr val="FFFFFF"/>
          </a:solidFill>
          <a:ln w="9525">
            <a:solidFill>
              <a:srgbClr val="1E2761"/>
            </a:solidFill>
          </a:ln>
        </p:spPr>
      </p:sp>
      <p:sp>
        <p:nvSpPr>
          <p:cNvPr id="73" name="TextBox 73"/>
          <p:cNvSpPr txBox="1"/>
          <p:nvPr/>
        </p:nvSpPr>
        <p:spPr>
          <a:xfrm>
            <a:off x="9305294" y="5057299"/>
            <a:ext cx="1201412"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start 启动全部服务</a:t>
            </a:r>
          </a:p>
        </p:txBody>
      </p:sp>
      <p:sp>
        <p:nvSpPr>
          <p:cNvPr id="74" name="TextBox 74"/>
          <p:cNvSpPr txBox="1"/>
          <p:nvPr/>
        </p:nvSpPr>
        <p:spPr>
          <a:xfrm>
            <a:off x="845820" y="5427345"/>
            <a:ext cx="3215259"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所有服务 restart: unless-stopped — 主机重启后自动恢复</a:t>
            </a:r>
          </a:p>
        </p:txBody>
      </p:sp>
      <p:sp>
        <p:nvSpPr>
          <p:cNvPr id="75" name="TextBox 75"/>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5 / 14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229487"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功能组成</a:t>
            </a:r>
          </a:p>
        </p:txBody>
      </p:sp>
      <p:sp>
        <p:nvSpPr>
          <p:cNvPr id="5" name="TextBox 5"/>
          <p:cNvSpPr txBox="1"/>
          <p:nvPr/>
        </p:nvSpPr>
        <p:spPr>
          <a:xfrm>
            <a:off x="2177415" y="286702"/>
            <a:ext cx="2147935"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三大核心模块 + 集成部署基础设施</a:t>
            </a:r>
          </a:p>
        </p:txBody>
      </p:sp>
      <p:sp>
        <p:nvSpPr>
          <p:cNvPr id="6" name="Rectangle 6"/>
          <p:cNvSpPr/>
          <p:nvPr/>
        </p:nvSpPr>
        <p:spPr>
          <a:xfrm>
            <a:off x="381000" y="809625"/>
            <a:ext cx="3524250" cy="4095750"/>
          </a:xfrm>
          <a:prstGeom prst="roundRect">
            <a:avLst>
              <a:gd name="adj" fmla="val 2703"/>
            </a:avLst>
          </a:prstGeom>
          <a:solidFill>
            <a:srgbClr val="1E2761">
              <a:alpha val="4000"/>
            </a:srgbClr>
          </a:solidFill>
          <a:ln w="19050">
            <a:solidFill>
              <a:srgbClr val="1E2761"/>
            </a:solidFill>
          </a:ln>
        </p:spPr>
      </p:sp>
      <p:sp>
        <p:nvSpPr>
          <p:cNvPr id="7" name="Rectangle 7"/>
          <p:cNvSpPr/>
          <p:nvPr/>
        </p:nvSpPr>
        <p:spPr>
          <a:xfrm>
            <a:off x="381000" y="809625"/>
            <a:ext cx="3524250" cy="476250"/>
          </a:xfrm>
          <a:prstGeom prst="roundRect">
            <a:avLst>
              <a:gd name="adj" fmla="val 20000"/>
            </a:avLst>
          </a:prstGeom>
          <a:solidFill>
            <a:srgbClr val="1E2761"/>
          </a:solidFill>
          <a:ln>
            <a:noFill/>
          </a:ln>
        </p:spPr>
      </p:sp>
      <p:sp>
        <p:nvSpPr>
          <p:cNvPr id="8" name="Rectangle 8"/>
          <p:cNvSpPr/>
          <p:nvPr/>
        </p:nvSpPr>
        <p:spPr>
          <a:xfrm>
            <a:off x="381000" y="1095375"/>
            <a:ext cx="3524250" cy="190500"/>
          </a:xfrm>
          <a:prstGeom prst="rect">
            <a:avLst/>
          </a:prstGeom>
          <a:solidFill>
            <a:srgbClr val="1E2761"/>
          </a:solidFill>
          <a:ln>
            <a:noFill/>
          </a:ln>
        </p:spPr>
      </p:sp>
      <p:sp>
        <p:nvSpPr>
          <p:cNvPr id="9" name="TextBox 9"/>
          <p:cNvSpPr txBox="1"/>
          <p:nvPr/>
        </p:nvSpPr>
        <p:spPr>
          <a:xfrm>
            <a:off x="1313178" y="959168"/>
            <a:ext cx="165989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SimHei"/>
                <a:cs typeface="Segoe UI"/>
              </a:rPr>
              <a:t>M1 外挂知识库模块</a:t>
            </a:r>
          </a:p>
        </p:txBody>
      </p:sp>
      <p:sp>
        <p:nvSpPr>
          <p:cNvPr id="10" name="Rectangle 10"/>
          <p:cNvSpPr/>
          <p:nvPr/>
        </p:nvSpPr>
        <p:spPr>
          <a:xfrm>
            <a:off x="571500" y="1476375"/>
            <a:ext cx="3143250" cy="419100"/>
          </a:xfrm>
          <a:prstGeom prst="roundRect">
            <a:avLst>
              <a:gd name="adj" fmla="val 13636"/>
            </a:avLst>
          </a:prstGeom>
          <a:solidFill>
            <a:srgbClr val="FFFFFF"/>
          </a:solidFill>
          <a:ln w="9525">
            <a:solidFill>
              <a:srgbClr val="1E2761"/>
            </a:solidFill>
          </a:ln>
        </p:spPr>
      </p:sp>
      <p:sp>
        <p:nvSpPr>
          <p:cNvPr id="11" name="TextBox 11"/>
          <p:cNvSpPr txBox="1"/>
          <p:nvPr/>
        </p:nvSpPr>
        <p:spPr>
          <a:xfrm>
            <a:off x="1583722" y="1620202"/>
            <a:ext cx="1118807"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知识库 CRUD 管理</a:t>
            </a:r>
          </a:p>
        </p:txBody>
      </p:sp>
      <p:sp>
        <p:nvSpPr>
          <p:cNvPr id="12" name="Rectangle 12"/>
          <p:cNvSpPr/>
          <p:nvPr/>
        </p:nvSpPr>
        <p:spPr>
          <a:xfrm>
            <a:off x="571500" y="2047875"/>
            <a:ext cx="3143250" cy="419100"/>
          </a:xfrm>
          <a:prstGeom prst="roundRect">
            <a:avLst>
              <a:gd name="adj" fmla="val 13636"/>
            </a:avLst>
          </a:prstGeom>
          <a:solidFill>
            <a:srgbClr val="FFFFFF"/>
          </a:solidFill>
          <a:ln w="9525">
            <a:solidFill>
              <a:srgbClr val="1E2761"/>
            </a:solidFill>
          </a:ln>
        </p:spPr>
      </p:sp>
      <p:sp>
        <p:nvSpPr>
          <p:cNvPr id="13" name="TextBox 13"/>
          <p:cNvSpPr txBox="1"/>
          <p:nvPr/>
        </p:nvSpPr>
        <p:spPr>
          <a:xfrm>
            <a:off x="841629" y="2191702"/>
            <a:ext cx="26029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文档上传（PDF/Word/Excel/TXT/图片）</a:t>
            </a:r>
          </a:p>
        </p:txBody>
      </p:sp>
      <p:sp>
        <p:nvSpPr>
          <p:cNvPr id="14" name="Rectangle 14"/>
          <p:cNvSpPr/>
          <p:nvPr/>
        </p:nvSpPr>
        <p:spPr>
          <a:xfrm>
            <a:off x="571500" y="2619375"/>
            <a:ext cx="3143250" cy="419100"/>
          </a:xfrm>
          <a:prstGeom prst="roundRect">
            <a:avLst>
              <a:gd name="adj" fmla="val 13636"/>
            </a:avLst>
          </a:prstGeom>
          <a:solidFill>
            <a:srgbClr val="FFFFFF"/>
          </a:solidFill>
          <a:ln w="9525">
            <a:solidFill>
              <a:srgbClr val="1E2761"/>
            </a:solidFill>
          </a:ln>
        </p:spPr>
      </p:sp>
      <p:sp>
        <p:nvSpPr>
          <p:cNvPr id="15" name="TextBox 15"/>
          <p:cNvSpPr txBox="1"/>
          <p:nvPr/>
        </p:nvSpPr>
        <p:spPr>
          <a:xfrm>
            <a:off x="943142" y="2763202"/>
            <a:ext cx="2399967"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文档解析（版面分析/表格提取/OCR）</a:t>
            </a:r>
          </a:p>
        </p:txBody>
      </p:sp>
      <p:sp>
        <p:nvSpPr>
          <p:cNvPr id="16" name="Rectangle 16"/>
          <p:cNvSpPr/>
          <p:nvPr/>
        </p:nvSpPr>
        <p:spPr>
          <a:xfrm>
            <a:off x="571500" y="3190875"/>
            <a:ext cx="3143250" cy="419100"/>
          </a:xfrm>
          <a:prstGeom prst="roundRect">
            <a:avLst>
              <a:gd name="adj" fmla="val 13636"/>
            </a:avLst>
          </a:prstGeom>
          <a:solidFill>
            <a:srgbClr val="FFFFFF"/>
          </a:solidFill>
          <a:ln w="9525">
            <a:solidFill>
              <a:srgbClr val="1E2761"/>
            </a:solidFill>
          </a:ln>
        </p:spPr>
      </p:sp>
      <p:sp>
        <p:nvSpPr>
          <p:cNvPr id="17" name="TextBox 17"/>
          <p:cNvSpPr txBox="1"/>
          <p:nvPr/>
        </p:nvSpPr>
        <p:spPr>
          <a:xfrm>
            <a:off x="866132" y="3334702"/>
            <a:ext cx="2553986"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智能分块（通用/手册/Q&amp;A/论文/法律）</a:t>
            </a:r>
          </a:p>
        </p:txBody>
      </p:sp>
      <p:sp>
        <p:nvSpPr>
          <p:cNvPr id="18" name="Rectangle 18"/>
          <p:cNvSpPr/>
          <p:nvPr/>
        </p:nvSpPr>
        <p:spPr>
          <a:xfrm>
            <a:off x="571500" y="3762375"/>
            <a:ext cx="3143250" cy="419100"/>
          </a:xfrm>
          <a:prstGeom prst="roundRect">
            <a:avLst>
              <a:gd name="adj" fmla="val 13636"/>
            </a:avLst>
          </a:prstGeom>
          <a:solidFill>
            <a:srgbClr val="FFFFFF"/>
          </a:solidFill>
          <a:ln w="9525">
            <a:solidFill>
              <a:srgbClr val="1E2761"/>
            </a:solidFill>
          </a:ln>
        </p:spPr>
      </p:sp>
      <p:sp>
        <p:nvSpPr>
          <p:cNvPr id="19" name="TextBox 19"/>
          <p:cNvSpPr txBox="1"/>
          <p:nvPr/>
        </p:nvSpPr>
        <p:spPr>
          <a:xfrm>
            <a:off x="1419201" y="3906202"/>
            <a:ext cx="1447848"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元数据标注 · 分块预览</a:t>
            </a:r>
          </a:p>
        </p:txBody>
      </p:sp>
      <p:sp>
        <p:nvSpPr>
          <p:cNvPr id="20" name="Rectangle 20"/>
          <p:cNvSpPr/>
          <p:nvPr/>
        </p:nvSpPr>
        <p:spPr>
          <a:xfrm>
            <a:off x="571500" y="4333875"/>
            <a:ext cx="3143250" cy="419100"/>
          </a:xfrm>
          <a:prstGeom prst="roundRect">
            <a:avLst>
              <a:gd name="adj" fmla="val 13636"/>
            </a:avLst>
          </a:prstGeom>
          <a:solidFill>
            <a:srgbClr val="FFFFFF"/>
          </a:solidFill>
          <a:ln w="9525">
            <a:solidFill>
              <a:srgbClr val="1E2761"/>
            </a:solidFill>
          </a:ln>
        </p:spPr>
      </p:sp>
      <p:sp>
        <p:nvSpPr>
          <p:cNvPr id="21" name="TextBox 21"/>
          <p:cNvSpPr txBox="1"/>
          <p:nvPr/>
        </p:nvSpPr>
        <p:spPr>
          <a:xfrm>
            <a:off x="1569720" y="4477702"/>
            <a:ext cx="1146810"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多源异构数据整合</a:t>
            </a:r>
          </a:p>
        </p:txBody>
      </p:sp>
      <p:sp>
        <p:nvSpPr>
          <p:cNvPr id="22" name="Rectangle 22"/>
          <p:cNvSpPr/>
          <p:nvPr/>
        </p:nvSpPr>
        <p:spPr>
          <a:xfrm>
            <a:off x="4095750" y="809625"/>
            <a:ext cx="3524250" cy="4095750"/>
          </a:xfrm>
          <a:prstGeom prst="roundRect">
            <a:avLst>
              <a:gd name="adj" fmla="val 2703"/>
            </a:avLst>
          </a:prstGeom>
          <a:solidFill>
            <a:srgbClr val="2DD4A8">
              <a:alpha val="4000"/>
            </a:srgbClr>
          </a:solidFill>
          <a:ln w="19050">
            <a:solidFill>
              <a:srgbClr val="2DD4A8"/>
            </a:solidFill>
          </a:ln>
        </p:spPr>
      </p:sp>
      <p:sp>
        <p:nvSpPr>
          <p:cNvPr id="23" name="Rectangle 23"/>
          <p:cNvSpPr/>
          <p:nvPr/>
        </p:nvSpPr>
        <p:spPr>
          <a:xfrm>
            <a:off x="4095750" y="809625"/>
            <a:ext cx="3524250" cy="476250"/>
          </a:xfrm>
          <a:prstGeom prst="roundRect">
            <a:avLst>
              <a:gd name="adj" fmla="val 20000"/>
            </a:avLst>
          </a:prstGeom>
          <a:solidFill>
            <a:srgbClr val="2DD4A8"/>
          </a:solidFill>
          <a:ln>
            <a:noFill/>
          </a:ln>
        </p:spPr>
      </p:sp>
      <p:sp>
        <p:nvSpPr>
          <p:cNvPr id="24" name="Rectangle 24"/>
          <p:cNvSpPr/>
          <p:nvPr/>
        </p:nvSpPr>
        <p:spPr>
          <a:xfrm>
            <a:off x="4095750" y="1095375"/>
            <a:ext cx="3524250" cy="190500"/>
          </a:xfrm>
          <a:prstGeom prst="rect">
            <a:avLst/>
          </a:prstGeom>
          <a:solidFill>
            <a:srgbClr val="2DD4A8"/>
          </a:solidFill>
          <a:ln>
            <a:noFill/>
          </a:ln>
        </p:spPr>
      </p:sp>
      <p:sp>
        <p:nvSpPr>
          <p:cNvPr id="25" name="TextBox 25"/>
          <p:cNvSpPr txBox="1"/>
          <p:nvPr/>
        </p:nvSpPr>
        <p:spPr>
          <a:xfrm>
            <a:off x="4966496" y="959168"/>
            <a:ext cx="178275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SimHei"/>
                <a:cs typeface="Segoe UI"/>
              </a:rPr>
              <a:t>M2 RAG检索增强模块</a:t>
            </a:r>
          </a:p>
        </p:txBody>
      </p:sp>
      <p:sp>
        <p:nvSpPr>
          <p:cNvPr id="26" name="Rectangle 26"/>
          <p:cNvSpPr/>
          <p:nvPr/>
        </p:nvSpPr>
        <p:spPr>
          <a:xfrm>
            <a:off x="4286250" y="1476375"/>
            <a:ext cx="3143250" cy="419100"/>
          </a:xfrm>
          <a:prstGeom prst="roundRect">
            <a:avLst>
              <a:gd name="adj" fmla="val 13636"/>
            </a:avLst>
          </a:prstGeom>
          <a:solidFill>
            <a:srgbClr val="FFFFFF"/>
          </a:solidFill>
          <a:ln w="9525">
            <a:solidFill>
              <a:srgbClr val="2DD4A8"/>
            </a:solidFill>
          </a:ln>
        </p:spPr>
      </p:sp>
      <p:sp>
        <p:nvSpPr>
          <p:cNvPr id="27" name="TextBox 27"/>
          <p:cNvSpPr txBox="1"/>
          <p:nvPr/>
        </p:nvSpPr>
        <p:spPr>
          <a:xfrm>
            <a:off x="5424488" y="1620202"/>
            <a:ext cx="866775"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向量语义检索</a:t>
            </a:r>
          </a:p>
        </p:txBody>
      </p:sp>
      <p:sp>
        <p:nvSpPr>
          <p:cNvPr id="28" name="Rectangle 28"/>
          <p:cNvSpPr/>
          <p:nvPr/>
        </p:nvSpPr>
        <p:spPr>
          <a:xfrm>
            <a:off x="4286250" y="2047875"/>
            <a:ext cx="3143250" cy="419100"/>
          </a:xfrm>
          <a:prstGeom prst="roundRect">
            <a:avLst>
              <a:gd name="adj" fmla="val 13636"/>
            </a:avLst>
          </a:prstGeom>
          <a:solidFill>
            <a:srgbClr val="FFFFFF"/>
          </a:solidFill>
          <a:ln w="9525">
            <a:solidFill>
              <a:srgbClr val="2DD4A8"/>
            </a:solidFill>
          </a:ln>
        </p:spPr>
      </p:sp>
      <p:sp>
        <p:nvSpPr>
          <p:cNvPr id="29" name="TextBox 29"/>
          <p:cNvSpPr txBox="1"/>
          <p:nvPr/>
        </p:nvSpPr>
        <p:spPr>
          <a:xfrm>
            <a:off x="4713899" y="2191702"/>
            <a:ext cx="2287953"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混合检索（向量 + 关键词双路召回）</a:t>
            </a:r>
          </a:p>
        </p:txBody>
      </p:sp>
      <p:sp>
        <p:nvSpPr>
          <p:cNvPr id="30" name="Rectangle 30"/>
          <p:cNvSpPr/>
          <p:nvPr/>
        </p:nvSpPr>
        <p:spPr>
          <a:xfrm>
            <a:off x="4286250" y="2619375"/>
            <a:ext cx="3143250" cy="419100"/>
          </a:xfrm>
          <a:prstGeom prst="roundRect">
            <a:avLst>
              <a:gd name="adj" fmla="val 13636"/>
            </a:avLst>
          </a:prstGeom>
          <a:solidFill>
            <a:srgbClr val="FFFFFF"/>
          </a:solidFill>
          <a:ln w="9525">
            <a:solidFill>
              <a:srgbClr val="2DD4A8"/>
            </a:solidFill>
          </a:ln>
        </p:spPr>
      </p:sp>
      <p:sp>
        <p:nvSpPr>
          <p:cNvPr id="31" name="TextBox 31"/>
          <p:cNvSpPr txBox="1"/>
          <p:nvPr/>
        </p:nvSpPr>
        <p:spPr>
          <a:xfrm>
            <a:off x="5214461" y="2763202"/>
            <a:ext cx="1286828"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相似度阈值动态调节</a:t>
            </a:r>
          </a:p>
        </p:txBody>
      </p:sp>
      <p:sp>
        <p:nvSpPr>
          <p:cNvPr id="32" name="Rectangle 32"/>
          <p:cNvSpPr/>
          <p:nvPr/>
        </p:nvSpPr>
        <p:spPr>
          <a:xfrm>
            <a:off x="4286250" y="3190875"/>
            <a:ext cx="3143250" cy="419100"/>
          </a:xfrm>
          <a:prstGeom prst="roundRect">
            <a:avLst>
              <a:gd name="adj" fmla="val 13636"/>
            </a:avLst>
          </a:prstGeom>
          <a:solidFill>
            <a:srgbClr val="FFFFFF"/>
          </a:solidFill>
          <a:ln w="9525">
            <a:solidFill>
              <a:srgbClr val="2DD4A8"/>
            </a:solidFill>
          </a:ln>
        </p:spPr>
      </p:sp>
      <p:sp>
        <p:nvSpPr>
          <p:cNvPr id="33" name="TextBox 33"/>
          <p:cNvSpPr txBox="1"/>
          <p:nvPr/>
        </p:nvSpPr>
        <p:spPr>
          <a:xfrm>
            <a:off x="5214461" y="3334702"/>
            <a:ext cx="1286828"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检索结果语义重排序</a:t>
            </a:r>
          </a:p>
        </p:txBody>
      </p:sp>
      <p:sp>
        <p:nvSpPr>
          <p:cNvPr id="34" name="Rectangle 34"/>
          <p:cNvSpPr/>
          <p:nvPr/>
        </p:nvSpPr>
        <p:spPr>
          <a:xfrm>
            <a:off x="4286250" y="3762375"/>
            <a:ext cx="3143250" cy="419100"/>
          </a:xfrm>
          <a:prstGeom prst="roundRect">
            <a:avLst>
              <a:gd name="adj" fmla="val 13636"/>
            </a:avLst>
          </a:prstGeom>
          <a:solidFill>
            <a:srgbClr val="FFFFFF"/>
          </a:solidFill>
          <a:ln w="9525">
            <a:solidFill>
              <a:srgbClr val="2DD4A8"/>
            </a:solidFill>
          </a:ln>
        </p:spPr>
      </p:sp>
      <p:sp>
        <p:nvSpPr>
          <p:cNvPr id="35" name="TextBox 35"/>
          <p:cNvSpPr txBox="1"/>
          <p:nvPr/>
        </p:nvSpPr>
        <p:spPr>
          <a:xfrm>
            <a:off x="4836414" y="3906202"/>
            <a:ext cx="204292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知识图谱辅助检索（GraphRAG）</a:t>
            </a:r>
          </a:p>
        </p:txBody>
      </p:sp>
      <p:sp>
        <p:nvSpPr>
          <p:cNvPr id="36" name="Rectangle 36"/>
          <p:cNvSpPr/>
          <p:nvPr/>
        </p:nvSpPr>
        <p:spPr>
          <a:xfrm>
            <a:off x="4286250" y="4333875"/>
            <a:ext cx="3143250" cy="419100"/>
          </a:xfrm>
          <a:prstGeom prst="roundRect">
            <a:avLst>
              <a:gd name="adj" fmla="val 13636"/>
            </a:avLst>
          </a:prstGeom>
          <a:solidFill>
            <a:srgbClr val="FFFFFF"/>
          </a:solidFill>
          <a:ln w="9525">
            <a:solidFill>
              <a:srgbClr val="2DD4A8"/>
            </a:solidFill>
          </a:ln>
        </p:spPr>
      </p:sp>
      <p:sp>
        <p:nvSpPr>
          <p:cNvPr id="37" name="TextBox 37"/>
          <p:cNvSpPr txBox="1"/>
          <p:nvPr/>
        </p:nvSpPr>
        <p:spPr>
          <a:xfrm>
            <a:off x="5004435" y="4477702"/>
            <a:ext cx="1706880"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跨语言检索（中英文混合）</a:t>
            </a:r>
          </a:p>
        </p:txBody>
      </p:sp>
      <p:sp>
        <p:nvSpPr>
          <p:cNvPr id="38" name="Rectangle 38"/>
          <p:cNvSpPr/>
          <p:nvPr/>
        </p:nvSpPr>
        <p:spPr>
          <a:xfrm>
            <a:off x="7810500" y="809625"/>
            <a:ext cx="4000500" cy="4095750"/>
          </a:xfrm>
          <a:prstGeom prst="roundRect">
            <a:avLst>
              <a:gd name="adj" fmla="val 2381"/>
            </a:avLst>
          </a:prstGeom>
          <a:solidFill>
            <a:srgbClr val="4A7BF7">
              <a:alpha val="4000"/>
            </a:srgbClr>
          </a:solidFill>
          <a:ln w="19050">
            <a:solidFill>
              <a:srgbClr val="4A7BF7"/>
            </a:solidFill>
          </a:ln>
        </p:spPr>
      </p:sp>
      <p:sp>
        <p:nvSpPr>
          <p:cNvPr id="39" name="Rectangle 39"/>
          <p:cNvSpPr/>
          <p:nvPr/>
        </p:nvSpPr>
        <p:spPr>
          <a:xfrm>
            <a:off x="7810500" y="809625"/>
            <a:ext cx="4000500" cy="476250"/>
          </a:xfrm>
          <a:prstGeom prst="roundRect">
            <a:avLst>
              <a:gd name="adj" fmla="val 20000"/>
            </a:avLst>
          </a:prstGeom>
          <a:solidFill>
            <a:srgbClr val="4A7BF7"/>
          </a:solidFill>
          <a:ln>
            <a:noFill/>
          </a:ln>
        </p:spPr>
      </p:sp>
      <p:sp>
        <p:nvSpPr>
          <p:cNvPr id="40" name="Rectangle 40"/>
          <p:cNvSpPr/>
          <p:nvPr/>
        </p:nvSpPr>
        <p:spPr>
          <a:xfrm>
            <a:off x="7810500" y="1095375"/>
            <a:ext cx="4000500" cy="190500"/>
          </a:xfrm>
          <a:prstGeom prst="rect">
            <a:avLst/>
          </a:prstGeom>
          <a:solidFill>
            <a:srgbClr val="4A7BF7"/>
          </a:solidFill>
          <a:ln>
            <a:noFill/>
          </a:ln>
        </p:spPr>
      </p:sp>
      <p:sp>
        <p:nvSpPr>
          <p:cNvPr id="41" name="TextBox 41"/>
          <p:cNvSpPr txBox="1"/>
          <p:nvPr/>
        </p:nvSpPr>
        <p:spPr>
          <a:xfrm>
            <a:off x="8697268" y="959168"/>
            <a:ext cx="222696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SimHei"/>
                <a:cs typeface="Segoe UI"/>
              </a:rPr>
              <a:t>M3 交互式提示词工程模块</a:t>
            </a:r>
          </a:p>
        </p:txBody>
      </p:sp>
      <p:sp>
        <p:nvSpPr>
          <p:cNvPr id="42" name="Rectangle 42"/>
          <p:cNvSpPr/>
          <p:nvPr/>
        </p:nvSpPr>
        <p:spPr>
          <a:xfrm>
            <a:off x="8001000" y="1476375"/>
            <a:ext cx="3619500" cy="419100"/>
          </a:xfrm>
          <a:prstGeom prst="roundRect">
            <a:avLst>
              <a:gd name="adj" fmla="val 13636"/>
            </a:avLst>
          </a:prstGeom>
          <a:solidFill>
            <a:srgbClr val="FFFFFF"/>
          </a:solidFill>
          <a:ln w="9525">
            <a:solidFill>
              <a:srgbClr val="4A7BF7"/>
            </a:solidFill>
          </a:ln>
        </p:spPr>
      </p:sp>
      <p:sp>
        <p:nvSpPr>
          <p:cNvPr id="43" name="TextBox 43"/>
          <p:cNvSpPr txBox="1"/>
          <p:nvPr/>
        </p:nvSpPr>
        <p:spPr>
          <a:xfrm>
            <a:off x="9167336" y="1620202"/>
            <a:ext cx="1286828"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聊天助手创建与管理</a:t>
            </a:r>
          </a:p>
        </p:txBody>
      </p:sp>
      <p:sp>
        <p:nvSpPr>
          <p:cNvPr id="44" name="Rectangle 44"/>
          <p:cNvSpPr/>
          <p:nvPr/>
        </p:nvSpPr>
        <p:spPr>
          <a:xfrm>
            <a:off x="8001000" y="2047875"/>
            <a:ext cx="3619500" cy="419100"/>
          </a:xfrm>
          <a:prstGeom prst="roundRect">
            <a:avLst>
              <a:gd name="adj" fmla="val 13636"/>
            </a:avLst>
          </a:prstGeom>
          <a:solidFill>
            <a:srgbClr val="FFFFFF"/>
          </a:solidFill>
          <a:ln w="9525">
            <a:solidFill>
              <a:srgbClr val="4A7BF7"/>
            </a:solidFill>
          </a:ln>
        </p:spPr>
      </p:sp>
      <p:sp>
        <p:nvSpPr>
          <p:cNvPr id="45" name="TextBox 45"/>
          <p:cNvSpPr txBox="1"/>
          <p:nvPr/>
        </p:nvSpPr>
        <p:spPr>
          <a:xfrm>
            <a:off x="8946809" y="2191702"/>
            <a:ext cx="1727883"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系统提示词配置 · 角色定制</a:t>
            </a:r>
          </a:p>
        </p:txBody>
      </p:sp>
      <p:sp>
        <p:nvSpPr>
          <p:cNvPr id="46" name="Rectangle 46"/>
          <p:cNvSpPr/>
          <p:nvPr/>
        </p:nvSpPr>
        <p:spPr>
          <a:xfrm>
            <a:off x="8001000" y="2619375"/>
            <a:ext cx="3619500" cy="419100"/>
          </a:xfrm>
          <a:prstGeom prst="roundRect">
            <a:avLst>
              <a:gd name="adj" fmla="val 13636"/>
            </a:avLst>
          </a:prstGeom>
          <a:solidFill>
            <a:srgbClr val="FFFFFF"/>
          </a:solidFill>
          <a:ln w="9525">
            <a:solidFill>
              <a:srgbClr val="4A7BF7"/>
            </a:solidFill>
          </a:ln>
        </p:spPr>
      </p:sp>
      <p:sp>
        <p:nvSpPr>
          <p:cNvPr id="47" name="TextBox 47"/>
          <p:cNvSpPr txBox="1"/>
          <p:nvPr/>
        </p:nvSpPr>
        <p:spPr>
          <a:xfrm>
            <a:off x="9307354" y="2763202"/>
            <a:ext cx="1006792"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多轮上下文对话</a:t>
            </a:r>
          </a:p>
        </p:txBody>
      </p:sp>
      <p:sp>
        <p:nvSpPr>
          <p:cNvPr id="48" name="Rectangle 48"/>
          <p:cNvSpPr/>
          <p:nvPr/>
        </p:nvSpPr>
        <p:spPr>
          <a:xfrm>
            <a:off x="8001000" y="3190875"/>
            <a:ext cx="3619500" cy="419100"/>
          </a:xfrm>
          <a:prstGeom prst="roundRect">
            <a:avLst>
              <a:gd name="adj" fmla="val 13636"/>
            </a:avLst>
          </a:prstGeom>
          <a:solidFill>
            <a:srgbClr val="FFFFFF"/>
          </a:solidFill>
          <a:ln w="9525">
            <a:solidFill>
              <a:srgbClr val="4A7BF7"/>
            </a:solidFill>
          </a:ln>
        </p:spPr>
      </p:sp>
      <p:sp>
        <p:nvSpPr>
          <p:cNvPr id="49" name="TextBox 49"/>
          <p:cNvSpPr txBox="1"/>
          <p:nvPr/>
        </p:nvSpPr>
        <p:spPr>
          <a:xfrm>
            <a:off x="9121831" y="3334702"/>
            <a:ext cx="1377839"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流式响应输出（SSE）</a:t>
            </a:r>
          </a:p>
        </p:txBody>
      </p:sp>
      <p:sp>
        <p:nvSpPr>
          <p:cNvPr id="50" name="Rectangle 50"/>
          <p:cNvSpPr/>
          <p:nvPr/>
        </p:nvSpPr>
        <p:spPr>
          <a:xfrm>
            <a:off x="8001000" y="3762375"/>
            <a:ext cx="3619500" cy="419100"/>
          </a:xfrm>
          <a:prstGeom prst="roundRect">
            <a:avLst>
              <a:gd name="adj" fmla="val 13636"/>
            </a:avLst>
          </a:prstGeom>
          <a:solidFill>
            <a:srgbClr val="FFFFFF"/>
          </a:solidFill>
          <a:ln w="9525">
            <a:solidFill>
              <a:srgbClr val="4A7BF7"/>
            </a:solidFill>
          </a:ln>
        </p:spPr>
      </p:sp>
      <p:sp>
        <p:nvSpPr>
          <p:cNvPr id="51" name="TextBox 51"/>
          <p:cNvSpPr txBox="1"/>
          <p:nvPr/>
        </p:nvSpPr>
        <p:spPr>
          <a:xfrm>
            <a:off x="8946809" y="3906202"/>
            <a:ext cx="1727883"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引用溯源 · 来源文档可追溯</a:t>
            </a:r>
          </a:p>
        </p:txBody>
      </p:sp>
      <p:sp>
        <p:nvSpPr>
          <p:cNvPr id="52" name="Rectangle 52"/>
          <p:cNvSpPr/>
          <p:nvPr/>
        </p:nvSpPr>
        <p:spPr>
          <a:xfrm>
            <a:off x="8001000" y="4333875"/>
            <a:ext cx="3619500" cy="419100"/>
          </a:xfrm>
          <a:prstGeom prst="roundRect">
            <a:avLst>
              <a:gd name="adj" fmla="val 13636"/>
            </a:avLst>
          </a:prstGeom>
          <a:solidFill>
            <a:srgbClr val="FFFFFF"/>
          </a:solidFill>
          <a:ln w="9525">
            <a:solidFill>
              <a:srgbClr val="4A7BF7"/>
            </a:solidFill>
          </a:ln>
        </p:spPr>
      </p:sp>
      <p:sp>
        <p:nvSpPr>
          <p:cNvPr id="53" name="TextBox 53"/>
          <p:cNvSpPr txBox="1"/>
          <p:nvPr/>
        </p:nvSpPr>
        <p:spPr>
          <a:xfrm>
            <a:off x="8946809" y="4477702"/>
            <a:ext cx="1727883" cy="213360"/>
          </a:xfrm>
          <a:prstGeom prst="rect">
            <a:avLst/>
          </a:prstGeom>
          <a:noFill/>
          <a:ln>
            <a:noFill/>
          </a:ln>
        </p:spPr>
        <p:txBody>
          <a:bodyPr wrap="none" lIns="0" tIns="0" rIns="0" bIns="0" anchor="t" anchorCtr="0">
            <a:spAutoFit/>
          </a:bodyPr>
          <a:lstStyle/>
          <a:p>
            <a:pPr algn="ctr"/>
            <a:r>
              <a:rPr lang="zh-CN" sz="1050" dirty="0">
                <a:solidFill>
                  <a:srgbClr val="1E2761"/>
                </a:solidFill>
                <a:latin typeface="Arial"/>
                <a:ea typeface="Microsoft YaHei"/>
                <a:cs typeface="Arial"/>
              </a:rPr>
              <a:t>动态提示模板 · 结构化约束</a:t>
            </a:r>
          </a:p>
        </p:txBody>
      </p:sp>
      <p:sp>
        <p:nvSpPr>
          <p:cNvPr id="54" name="Rectangle 54"/>
          <p:cNvSpPr/>
          <p:nvPr/>
        </p:nvSpPr>
        <p:spPr>
          <a:xfrm>
            <a:off x="381000" y="5143500"/>
            <a:ext cx="11430000" cy="762000"/>
          </a:xfrm>
          <a:prstGeom prst="roundRect">
            <a:avLst>
              <a:gd name="adj" fmla="val 10000"/>
            </a:avLst>
          </a:prstGeom>
          <a:solidFill>
            <a:srgbClr val="94A3B8">
              <a:alpha val="8000"/>
            </a:srgbClr>
          </a:solidFill>
          <a:ln w="9525">
            <a:solidFill>
              <a:srgbClr val="94A3B8"/>
            </a:solidFill>
          </a:ln>
        </p:spPr>
      </p:sp>
      <p:sp>
        <p:nvSpPr>
          <p:cNvPr id="55" name="TextBox 55"/>
          <p:cNvSpPr txBox="1"/>
          <p:nvPr/>
        </p:nvSpPr>
        <p:spPr>
          <a:xfrm>
            <a:off x="556260" y="5299710"/>
            <a:ext cx="1374648" cy="243840"/>
          </a:xfrm>
          <a:prstGeom prst="rect">
            <a:avLst/>
          </a:prstGeom>
          <a:noFill/>
          <a:ln>
            <a:noFill/>
          </a:ln>
        </p:spPr>
        <p:txBody>
          <a:bodyPr wrap="none" lIns="0" tIns="0" rIns="0" bIns="0" anchor="t" anchorCtr="0">
            <a:spAutoFit/>
          </a:bodyPr>
          <a:lstStyle/>
          <a:p>
            <a:pPr algn="l"/>
            <a:r>
              <a:rPr lang="zh-CN" sz="1200" b="1" dirty="0">
                <a:solidFill>
                  <a:srgbClr val="64748B"/>
                </a:solidFill>
                <a:latin typeface="Segoe UI"/>
                <a:ea typeface="SimHei"/>
                <a:cs typeface="Segoe UI"/>
              </a:rPr>
              <a:t>集成部署基础设施</a:t>
            </a:r>
          </a:p>
        </p:txBody>
      </p:sp>
      <p:sp>
        <p:nvSpPr>
          <p:cNvPr id="56" name="Rectangle 56"/>
          <p:cNvSpPr/>
          <p:nvPr/>
        </p:nvSpPr>
        <p:spPr>
          <a:xfrm>
            <a:off x="571500" y="5572125"/>
            <a:ext cx="1714500" cy="247650"/>
          </a:xfrm>
          <a:prstGeom prst="roundRect">
            <a:avLst>
              <a:gd name="adj" fmla="val 50000"/>
            </a:avLst>
          </a:prstGeom>
          <a:solidFill>
            <a:srgbClr val="E0E7FF"/>
          </a:solidFill>
          <a:ln>
            <a:noFill/>
          </a:ln>
        </p:spPr>
      </p:sp>
      <p:sp>
        <p:nvSpPr>
          <p:cNvPr id="57" name="TextBox 57"/>
          <p:cNvSpPr txBox="1"/>
          <p:nvPr/>
        </p:nvSpPr>
        <p:spPr>
          <a:xfrm>
            <a:off x="982266" y="5646420"/>
            <a:ext cx="892969"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用户认证 (JWT)</a:t>
            </a:r>
          </a:p>
        </p:txBody>
      </p:sp>
      <p:sp>
        <p:nvSpPr>
          <p:cNvPr id="58" name="Rectangle 58"/>
          <p:cNvSpPr/>
          <p:nvPr/>
        </p:nvSpPr>
        <p:spPr>
          <a:xfrm>
            <a:off x="2476500" y="5572125"/>
            <a:ext cx="1714500" cy="247650"/>
          </a:xfrm>
          <a:prstGeom prst="roundRect">
            <a:avLst>
              <a:gd name="adj" fmla="val 50000"/>
            </a:avLst>
          </a:prstGeom>
          <a:solidFill>
            <a:srgbClr val="E0E7FF"/>
          </a:solidFill>
          <a:ln>
            <a:noFill/>
          </a:ln>
        </p:spPr>
      </p:sp>
      <p:sp>
        <p:nvSpPr>
          <p:cNvPr id="59" name="TextBox 59"/>
          <p:cNvSpPr txBox="1"/>
          <p:nvPr/>
        </p:nvSpPr>
        <p:spPr>
          <a:xfrm>
            <a:off x="2884265" y="5646420"/>
            <a:ext cx="898970"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离线Docker部署</a:t>
            </a:r>
          </a:p>
        </p:txBody>
      </p:sp>
      <p:sp>
        <p:nvSpPr>
          <p:cNvPr id="60" name="Rectangle 60"/>
          <p:cNvSpPr/>
          <p:nvPr/>
        </p:nvSpPr>
        <p:spPr>
          <a:xfrm>
            <a:off x="4381500" y="5572125"/>
            <a:ext cx="1714500" cy="247650"/>
          </a:xfrm>
          <a:prstGeom prst="roundRect">
            <a:avLst>
              <a:gd name="adj" fmla="val 50000"/>
            </a:avLst>
          </a:prstGeom>
          <a:solidFill>
            <a:srgbClr val="E0E7FF"/>
          </a:solidFill>
          <a:ln>
            <a:noFill/>
          </a:ln>
        </p:spPr>
      </p:sp>
      <p:sp>
        <p:nvSpPr>
          <p:cNvPr id="61" name="TextBox 61"/>
          <p:cNvSpPr txBox="1"/>
          <p:nvPr/>
        </p:nvSpPr>
        <p:spPr>
          <a:xfrm>
            <a:off x="4807268" y="5646420"/>
            <a:ext cx="862965"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多客户环境隔离</a:t>
            </a:r>
          </a:p>
        </p:txBody>
      </p:sp>
      <p:sp>
        <p:nvSpPr>
          <p:cNvPr id="62" name="Rectangle 62"/>
          <p:cNvSpPr/>
          <p:nvPr/>
        </p:nvSpPr>
        <p:spPr>
          <a:xfrm>
            <a:off x="6286500" y="5572125"/>
            <a:ext cx="1714500" cy="247650"/>
          </a:xfrm>
          <a:prstGeom prst="roundRect">
            <a:avLst>
              <a:gd name="adj" fmla="val 50000"/>
            </a:avLst>
          </a:prstGeom>
          <a:solidFill>
            <a:srgbClr val="D1FAE5"/>
          </a:solidFill>
          <a:ln>
            <a:noFill/>
          </a:ln>
        </p:spPr>
      </p:sp>
      <p:sp>
        <p:nvSpPr>
          <p:cNvPr id="63" name="TextBox 63"/>
          <p:cNvSpPr txBox="1"/>
          <p:nvPr/>
        </p:nvSpPr>
        <p:spPr>
          <a:xfrm>
            <a:off x="6772275" y="5646420"/>
            <a:ext cx="742950" cy="182880"/>
          </a:xfrm>
          <a:prstGeom prst="rect">
            <a:avLst/>
          </a:prstGeom>
          <a:noFill/>
          <a:ln>
            <a:noFill/>
          </a:ln>
        </p:spPr>
        <p:txBody>
          <a:bodyPr wrap="none" lIns="0" tIns="0" rIns="0" bIns="0" anchor="t" anchorCtr="0">
            <a:spAutoFit/>
          </a:bodyPr>
          <a:lstStyle/>
          <a:p>
            <a:pPr algn="ctr"/>
            <a:r>
              <a:rPr lang="zh-CN" sz="900" dirty="0">
                <a:solidFill>
                  <a:srgbClr val="059669"/>
                </a:solidFill>
                <a:latin typeface="Arial"/>
                <a:ea typeface="Microsoft YaHei"/>
                <a:cs typeface="Arial"/>
              </a:rPr>
              <a:t>数据安全保障</a:t>
            </a:r>
          </a:p>
        </p:txBody>
      </p:sp>
      <p:sp>
        <p:nvSpPr>
          <p:cNvPr id="64" name="Rectangle 64"/>
          <p:cNvSpPr/>
          <p:nvPr/>
        </p:nvSpPr>
        <p:spPr>
          <a:xfrm>
            <a:off x="8191500" y="5572125"/>
            <a:ext cx="1714500" cy="247650"/>
          </a:xfrm>
          <a:prstGeom prst="roundRect">
            <a:avLst>
              <a:gd name="adj" fmla="val 50000"/>
            </a:avLst>
          </a:prstGeom>
          <a:solidFill>
            <a:srgbClr val="D1FAE5"/>
          </a:solidFill>
          <a:ln>
            <a:noFill/>
          </a:ln>
        </p:spPr>
      </p:sp>
      <p:sp>
        <p:nvSpPr>
          <p:cNvPr id="65" name="TextBox 65"/>
          <p:cNvSpPr txBox="1"/>
          <p:nvPr/>
        </p:nvSpPr>
        <p:spPr>
          <a:xfrm>
            <a:off x="8677275" y="5646420"/>
            <a:ext cx="742950" cy="182880"/>
          </a:xfrm>
          <a:prstGeom prst="rect">
            <a:avLst/>
          </a:prstGeom>
          <a:noFill/>
          <a:ln>
            <a:noFill/>
          </a:ln>
        </p:spPr>
        <p:txBody>
          <a:bodyPr wrap="none" lIns="0" tIns="0" rIns="0" bIns="0" anchor="t" anchorCtr="0">
            <a:spAutoFit/>
          </a:bodyPr>
          <a:lstStyle/>
          <a:p>
            <a:pPr algn="ctr"/>
            <a:r>
              <a:rPr lang="zh-CN" sz="900" dirty="0">
                <a:solidFill>
                  <a:srgbClr val="059669"/>
                </a:solidFill>
                <a:latin typeface="Arial"/>
                <a:ea typeface="Microsoft YaHei"/>
                <a:cs typeface="Arial"/>
              </a:rPr>
              <a:t>服务自动恢复</a:t>
            </a:r>
          </a:p>
        </p:txBody>
      </p:sp>
      <p:sp>
        <p:nvSpPr>
          <p:cNvPr id="66" name="Line 66"/>
          <p:cNvSpPr/>
          <p:nvPr/>
        </p:nvSpPr>
        <p:spPr>
          <a:xfrm>
            <a:off x="3905250" y="2857500"/>
            <a:ext cx="190500" cy="9525"/>
          </a:xfrm>
          <a:custGeom>
            <a:avLst/>
            <a:gdLst/>
            <a:ahLst/>
            <a:cxnLst/>
            <a:rect l="l" t="t" r="r" b="b"/>
            <a:pathLst>
              <a:path w="190500" h="9525">
                <a:moveTo>
                  <a:pt x="0" y="0"/>
                </a:moveTo>
                <a:lnTo>
                  <a:pt x="190500" y="0"/>
                </a:lnTo>
              </a:path>
            </a:pathLst>
          </a:custGeom>
          <a:noFill/>
          <a:ln w="19050">
            <a:solidFill>
              <a:srgbClr val="2DD4A8"/>
            </a:solidFill>
          </a:ln>
        </p:spPr>
      </p:sp>
      <p:sp>
        <p:nvSpPr>
          <p:cNvPr id="67" name="Polygon 67"/>
          <p:cNvSpPr/>
          <p:nvPr/>
        </p:nvSpPr>
        <p:spPr>
          <a:xfrm>
            <a:off x="4048125" y="2809875"/>
            <a:ext cx="95250" cy="95250"/>
          </a:xfrm>
          <a:custGeom>
            <a:avLst/>
            <a:gdLst/>
            <a:ahLst/>
            <a:cxnLst/>
            <a:rect l="l" t="t" r="r" b="b"/>
            <a:pathLst>
              <a:path w="95250" h="95250">
                <a:moveTo>
                  <a:pt x="0" y="0"/>
                </a:moveTo>
                <a:lnTo>
                  <a:pt x="95250" y="47625"/>
                </a:lnTo>
                <a:lnTo>
                  <a:pt x="0" y="95250"/>
                </a:lnTo>
                <a:close/>
              </a:path>
            </a:pathLst>
          </a:custGeom>
          <a:solidFill>
            <a:srgbClr val="2DD4A8"/>
          </a:solidFill>
          <a:ln>
            <a:noFill/>
          </a:ln>
        </p:spPr>
      </p:sp>
      <p:sp>
        <p:nvSpPr>
          <p:cNvPr id="68" name="Line 68"/>
          <p:cNvSpPr/>
          <p:nvPr/>
        </p:nvSpPr>
        <p:spPr>
          <a:xfrm>
            <a:off x="7620000" y="2857500"/>
            <a:ext cx="190500" cy="9525"/>
          </a:xfrm>
          <a:custGeom>
            <a:avLst/>
            <a:gdLst/>
            <a:ahLst/>
            <a:cxnLst/>
            <a:rect l="l" t="t" r="r" b="b"/>
            <a:pathLst>
              <a:path w="190500" h="9525">
                <a:moveTo>
                  <a:pt x="0" y="0"/>
                </a:moveTo>
                <a:lnTo>
                  <a:pt x="190500" y="0"/>
                </a:lnTo>
              </a:path>
            </a:pathLst>
          </a:custGeom>
          <a:noFill/>
          <a:ln w="19050">
            <a:solidFill>
              <a:srgbClr val="4A7BF7"/>
            </a:solidFill>
          </a:ln>
        </p:spPr>
      </p:sp>
      <p:sp>
        <p:nvSpPr>
          <p:cNvPr id="69" name="Polygon 69"/>
          <p:cNvSpPr/>
          <p:nvPr/>
        </p:nvSpPr>
        <p:spPr>
          <a:xfrm>
            <a:off x="7762875" y="2809875"/>
            <a:ext cx="95250" cy="95250"/>
          </a:xfrm>
          <a:custGeom>
            <a:avLst/>
            <a:gdLst/>
            <a:ahLst/>
            <a:cxnLst/>
            <a:rect l="l" t="t" r="r" b="b"/>
            <a:pathLst>
              <a:path w="95250" h="95250">
                <a:moveTo>
                  <a:pt x="0" y="0"/>
                </a:moveTo>
                <a:lnTo>
                  <a:pt x="95250" y="47625"/>
                </a:lnTo>
                <a:lnTo>
                  <a:pt x="0" y="95250"/>
                </a:lnTo>
                <a:close/>
              </a:path>
            </a:pathLst>
          </a:custGeom>
          <a:solidFill>
            <a:srgbClr val="4A7BF7"/>
          </a:solidFill>
          <a:ln>
            <a:noFill/>
          </a:ln>
        </p:spPr>
      </p:sp>
      <p:sp>
        <p:nvSpPr>
          <p:cNvPr id="70" name="TextBox 70"/>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6 / 14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2449740"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信息流程 / 数据流</a:t>
            </a:r>
          </a:p>
        </p:txBody>
      </p:sp>
      <p:sp>
        <p:nvSpPr>
          <p:cNvPr id="5" name="TextBox 5"/>
          <p:cNvSpPr txBox="1"/>
          <p:nvPr/>
        </p:nvSpPr>
        <p:spPr>
          <a:xfrm>
            <a:off x="3320415" y="286702"/>
            <a:ext cx="2406968"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从文档上传到智能问答的完整数据链路</a:t>
            </a:r>
          </a:p>
        </p:txBody>
      </p:sp>
      <p:sp>
        <p:nvSpPr>
          <p:cNvPr id="6" name="Rectangle 6"/>
          <p:cNvSpPr/>
          <p:nvPr/>
        </p:nvSpPr>
        <p:spPr>
          <a:xfrm>
            <a:off x="381000" y="952500"/>
            <a:ext cx="1619250" cy="857250"/>
          </a:xfrm>
          <a:prstGeom prst="roundRect">
            <a:avLst>
              <a:gd name="adj" fmla="val 8889"/>
            </a:avLst>
          </a:prstGeom>
          <a:solidFill>
            <a:srgbClr val="1E2761"/>
          </a:solidFill>
          <a:ln>
            <a:noFill/>
          </a:ln>
        </p:spPr>
      </p:sp>
      <p:sp>
        <p:nvSpPr>
          <p:cNvPr id="7" name="TextBox 7"/>
          <p:cNvSpPr txBox="1"/>
          <p:nvPr/>
        </p:nvSpPr>
        <p:spPr>
          <a:xfrm>
            <a:off x="883253" y="11725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文档上传</a:t>
            </a:r>
          </a:p>
        </p:txBody>
      </p:sp>
      <p:sp>
        <p:nvSpPr>
          <p:cNvPr id="8" name="TextBox 8"/>
          <p:cNvSpPr txBox="1"/>
          <p:nvPr/>
        </p:nvSpPr>
        <p:spPr>
          <a:xfrm>
            <a:off x="759345" y="1415891"/>
            <a:ext cx="862560"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PDF/Word/Excel</a:t>
            </a:r>
          </a:p>
        </p:txBody>
      </p:sp>
      <p:sp>
        <p:nvSpPr>
          <p:cNvPr id="9" name="TextBox 9"/>
          <p:cNvSpPr txBox="1"/>
          <p:nvPr/>
        </p:nvSpPr>
        <p:spPr>
          <a:xfrm>
            <a:off x="654832" y="1577816"/>
            <a:ext cx="1071586"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TXT/Markdown/图片</a:t>
            </a:r>
          </a:p>
        </p:txBody>
      </p:sp>
      <p:sp>
        <p:nvSpPr>
          <p:cNvPr id="10" name="Line 10"/>
          <p:cNvSpPr/>
          <p:nvPr/>
        </p:nvSpPr>
        <p:spPr>
          <a:xfrm>
            <a:off x="2000250" y="1381125"/>
            <a:ext cx="285750" cy="1"/>
          </a:xfrm>
          <a:prstGeom prst="line">
            <a:avLst/>
          </a:prstGeom>
          <a:noFill/>
          <a:ln w="19050">
            <a:solidFill>
              <a:srgbClr val="2DD4A8"/>
            </a:solidFill>
            <a:tailEnd type="triangle" w="lg" len="lg"/>
          </a:ln>
        </p:spPr>
      </p:sp>
      <p:sp>
        <p:nvSpPr>
          <p:cNvPr id="11" name="Rectangle 11"/>
          <p:cNvSpPr/>
          <p:nvPr/>
        </p:nvSpPr>
        <p:spPr>
          <a:xfrm>
            <a:off x="2333625" y="952500"/>
            <a:ext cx="1619250" cy="857250"/>
          </a:xfrm>
          <a:prstGeom prst="roundRect">
            <a:avLst>
              <a:gd name="adj" fmla="val 8889"/>
            </a:avLst>
          </a:prstGeom>
          <a:solidFill>
            <a:srgbClr val="1E2761">
              <a:alpha val="85000"/>
            </a:srgbClr>
          </a:solidFill>
          <a:ln>
            <a:noFill/>
          </a:ln>
        </p:spPr>
      </p:sp>
      <p:sp>
        <p:nvSpPr>
          <p:cNvPr id="12" name="TextBox 12"/>
          <p:cNvSpPr txBox="1"/>
          <p:nvPr/>
        </p:nvSpPr>
        <p:spPr>
          <a:xfrm>
            <a:off x="2835878" y="11725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文档解析</a:t>
            </a:r>
          </a:p>
        </p:txBody>
      </p:sp>
      <p:sp>
        <p:nvSpPr>
          <p:cNvPr id="13" name="TextBox 13"/>
          <p:cNvSpPr txBox="1"/>
          <p:nvPr/>
        </p:nvSpPr>
        <p:spPr>
          <a:xfrm>
            <a:off x="2912745" y="1415891"/>
            <a:ext cx="461010"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版面分析</a:t>
            </a:r>
          </a:p>
        </p:txBody>
      </p:sp>
      <p:sp>
        <p:nvSpPr>
          <p:cNvPr id="14" name="TextBox 14"/>
          <p:cNvSpPr txBox="1"/>
          <p:nvPr/>
        </p:nvSpPr>
        <p:spPr>
          <a:xfrm>
            <a:off x="2629460" y="1577816"/>
            <a:ext cx="1027581"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表格提取 · 图文识别</a:t>
            </a:r>
          </a:p>
        </p:txBody>
      </p:sp>
      <p:sp>
        <p:nvSpPr>
          <p:cNvPr id="15" name="Line 15"/>
          <p:cNvSpPr/>
          <p:nvPr/>
        </p:nvSpPr>
        <p:spPr>
          <a:xfrm>
            <a:off x="3952875" y="1381125"/>
            <a:ext cx="285750" cy="1"/>
          </a:xfrm>
          <a:prstGeom prst="line">
            <a:avLst/>
          </a:prstGeom>
          <a:noFill/>
          <a:ln w="19050">
            <a:solidFill>
              <a:srgbClr val="2DD4A8"/>
            </a:solidFill>
            <a:tailEnd type="triangle" w="lg" len="lg"/>
          </a:ln>
        </p:spPr>
      </p:sp>
      <p:sp>
        <p:nvSpPr>
          <p:cNvPr id="16" name="Rectangle 16"/>
          <p:cNvSpPr/>
          <p:nvPr/>
        </p:nvSpPr>
        <p:spPr>
          <a:xfrm>
            <a:off x="4286250" y="952500"/>
            <a:ext cx="1619250" cy="857250"/>
          </a:xfrm>
          <a:prstGeom prst="roundRect">
            <a:avLst>
              <a:gd name="adj" fmla="val 8889"/>
            </a:avLst>
          </a:prstGeom>
          <a:solidFill>
            <a:srgbClr val="1E2761">
              <a:alpha val="70000"/>
            </a:srgbClr>
          </a:solidFill>
          <a:ln>
            <a:noFill/>
          </a:ln>
        </p:spPr>
      </p:sp>
      <p:sp>
        <p:nvSpPr>
          <p:cNvPr id="17" name="TextBox 17"/>
          <p:cNvSpPr txBox="1"/>
          <p:nvPr/>
        </p:nvSpPr>
        <p:spPr>
          <a:xfrm>
            <a:off x="4788503" y="11725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智能分块</a:t>
            </a:r>
          </a:p>
        </p:txBody>
      </p:sp>
      <p:sp>
        <p:nvSpPr>
          <p:cNvPr id="18" name="TextBox 18"/>
          <p:cNvSpPr txBox="1"/>
          <p:nvPr/>
        </p:nvSpPr>
        <p:spPr>
          <a:xfrm>
            <a:off x="4810363" y="1415891"/>
            <a:ext cx="571024"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多策略分块</a:t>
            </a:r>
          </a:p>
        </p:txBody>
      </p:sp>
      <p:sp>
        <p:nvSpPr>
          <p:cNvPr id="19" name="TextBox 19"/>
          <p:cNvSpPr txBox="1"/>
          <p:nvPr/>
        </p:nvSpPr>
        <p:spPr>
          <a:xfrm>
            <a:off x="4700349" y="1577816"/>
            <a:ext cx="791051" cy="167640"/>
          </a:xfrm>
          <a:prstGeom prst="rect">
            <a:avLst/>
          </a:prstGeom>
          <a:noFill/>
          <a:ln>
            <a:noFill/>
          </a:ln>
        </p:spPr>
        <p:txBody>
          <a:bodyPr wrap="none" lIns="0" tIns="0" rIns="0" bIns="0" anchor="t" anchorCtr="0">
            <a:spAutoFit/>
          </a:bodyPr>
          <a:lstStyle/>
          <a:p>
            <a:pPr algn="ctr"/>
            <a:r>
              <a:rPr lang="zh-CN" sz="825" dirty="0">
                <a:solidFill>
                  <a:srgbClr val="CADCFC"/>
                </a:solidFill>
                <a:latin typeface="Arial"/>
                <a:ea typeface="Microsoft YaHei"/>
                <a:cs typeface="Arial"/>
              </a:rPr>
              <a:t>元数据自动标注</a:t>
            </a:r>
          </a:p>
        </p:txBody>
      </p:sp>
      <p:sp>
        <p:nvSpPr>
          <p:cNvPr id="20" name="Line 20"/>
          <p:cNvSpPr/>
          <p:nvPr/>
        </p:nvSpPr>
        <p:spPr>
          <a:xfrm>
            <a:off x="5905500" y="1381125"/>
            <a:ext cx="285750" cy="1"/>
          </a:xfrm>
          <a:prstGeom prst="line">
            <a:avLst/>
          </a:prstGeom>
          <a:noFill/>
          <a:ln w="19050">
            <a:solidFill>
              <a:srgbClr val="2DD4A8"/>
            </a:solidFill>
            <a:tailEnd type="triangle" w="lg" len="lg"/>
          </a:ln>
        </p:spPr>
      </p:sp>
      <p:sp>
        <p:nvSpPr>
          <p:cNvPr id="21" name="Rectangle 21"/>
          <p:cNvSpPr/>
          <p:nvPr/>
        </p:nvSpPr>
        <p:spPr>
          <a:xfrm>
            <a:off x="6238875" y="952500"/>
            <a:ext cx="1619250" cy="857250"/>
          </a:xfrm>
          <a:prstGeom prst="roundRect">
            <a:avLst>
              <a:gd name="adj" fmla="val 8889"/>
            </a:avLst>
          </a:prstGeom>
          <a:solidFill>
            <a:srgbClr val="2DD4A8">
              <a:alpha val="85000"/>
            </a:srgbClr>
          </a:solidFill>
          <a:ln>
            <a:noFill/>
          </a:ln>
        </p:spPr>
      </p:sp>
      <p:sp>
        <p:nvSpPr>
          <p:cNvPr id="22" name="TextBox 22"/>
          <p:cNvSpPr txBox="1"/>
          <p:nvPr/>
        </p:nvSpPr>
        <p:spPr>
          <a:xfrm>
            <a:off x="6741128" y="11725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向量索引</a:t>
            </a:r>
          </a:p>
        </p:txBody>
      </p:sp>
      <p:sp>
        <p:nvSpPr>
          <p:cNvPr id="23" name="TextBox 23"/>
          <p:cNvSpPr txBox="1"/>
          <p:nvPr/>
        </p:nvSpPr>
        <p:spPr>
          <a:xfrm>
            <a:off x="6658475" y="1415891"/>
            <a:ext cx="780050"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Embedding编码</a:t>
            </a:r>
          </a:p>
        </p:txBody>
      </p:sp>
      <p:sp>
        <p:nvSpPr>
          <p:cNvPr id="24" name="TextBox 24"/>
          <p:cNvSpPr txBox="1"/>
          <p:nvPr/>
        </p:nvSpPr>
        <p:spPr>
          <a:xfrm>
            <a:off x="6562213" y="1577816"/>
            <a:ext cx="972574"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Elasticsearch存储</a:t>
            </a:r>
          </a:p>
        </p:txBody>
      </p:sp>
      <p:sp>
        <p:nvSpPr>
          <p:cNvPr id="25" name="Line 25"/>
          <p:cNvSpPr/>
          <p:nvPr/>
        </p:nvSpPr>
        <p:spPr>
          <a:xfrm>
            <a:off x="7858125" y="1381125"/>
            <a:ext cx="285750" cy="1"/>
          </a:xfrm>
          <a:prstGeom prst="line">
            <a:avLst/>
          </a:prstGeom>
          <a:noFill/>
          <a:ln w="19050">
            <a:solidFill>
              <a:srgbClr val="2DD4A8"/>
            </a:solidFill>
            <a:tailEnd type="triangle" w="lg" len="lg"/>
          </a:ln>
        </p:spPr>
      </p:sp>
      <p:sp>
        <p:nvSpPr>
          <p:cNvPr id="26" name="Rectangle 26"/>
          <p:cNvSpPr/>
          <p:nvPr/>
        </p:nvSpPr>
        <p:spPr>
          <a:xfrm>
            <a:off x="8191500" y="952500"/>
            <a:ext cx="1619250" cy="857250"/>
          </a:xfrm>
          <a:prstGeom prst="roundRect">
            <a:avLst>
              <a:gd name="adj" fmla="val 8889"/>
            </a:avLst>
          </a:prstGeom>
          <a:solidFill>
            <a:srgbClr val="2DD4A8"/>
          </a:solidFill>
          <a:ln>
            <a:noFill/>
          </a:ln>
        </p:spPr>
      </p:sp>
      <p:sp>
        <p:nvSpPr>
          <p:cNvPr id="27" name="TextBox 27"/>
          <p:cNvSpPr txBox="1"/>
          <p:nvPr/>
        </p:nvSpPr>
        <p:spPr>
          <a:xfrm>
            <a:off x="8620244" y="1172528"/>
            <a:ext cx="76176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知识库就绪</a:t>
            </a:r>
          </a:p>
        </p:txBody>
      </p:sp>
      <p:sp>
        <p:nvSpPr>
          <p:cNvPr id="28" name="TextBox 28"/>
          <p:cNvSpPr txBox="1"/>
          <p:nvPr/>
        </p:nvSpPr>
        <p:spPr>
          <a:xfrm>
            <a:off x="8660606" y="1415891"/>
            <a:ext cx="681038"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结构化知识块</a:t>
            </a:r>
          </a:p>
        </p:txBody>
      </p:sp>
      <p:sp>
        <p:nvSpPr>
          <p:cNvPr id="29" name="TextBox 29"/>
          <p:cNvSpPr txBox="1"/>
          <p:nvPr/>
        </p:nvSpPr>
        <p:spPr>
          <a:xfrm>
            <a:off x="8685359" y="1577816"/>
            <a:ext cx="631531"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向量+元数据</a:t>
            </a:r>
          </a:p>
        </p:txBody>
      </p:sp>
      <p:sp>
        <p:nvSpPr>
          <p:cNvPr id="30" name="Rectangle 30"/>
          <p:cNvSpPr/>
          <p:nvPr/>
        </p:nvSpPr>
        <p:spPr>
          <a:xfrm>
            <a:off x="381000" y="809625"/>
            <a:ext cx="476250" cy="171450"/>
          </a:xfrm>
          <a:prstGeom prst="roundRect">
            <a:avLst>
              <a:gd name="adj" fmla="val 50000"/>
            </a:avLst>
          </a:prstGeom>
          <a:solidFill>
            <a:srgbClr val="1E2761"/>
          </a:solidFill>
          <a:ln>
            <a:noFill/>
          </a:ln>
        </p:spPr>
      </p:sp>
      <p:sp>
        <p:nvSpPr>
          <p:cNvPr id="31" name="TextBox 31"/>
          <p:cNvSpPr txBox="1"/>
          <p:nvPr/>
        </p:nvSpPr>
        <p:spPr>
          <a:xfrm>
            <a:off x="544592" y="852488"/>
            <a:ext cx="14906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SimHei"/>
                <a:cs typeface="Segoe UI"/>
              </a:rPr>
              <a:t>M1</a:t>
            </a:r>
          </a:p>
        </p:txBody>
      </p:sp>
      <p:sp>
        <p:nvSpPr>
          <p:cNvPr id="32" name="Line 32"/>
          <p:cNvSpPr/>
          <p:nvPr/>
        </p:nvSpPr>
        <p:spPr>
          <a:xfrm>
            <a:off x="381000" y="2047875"/>
            <a:ext cx="11430000" cy="9525"/>
          </a:xfrm>
          <a:custGeom>
            <a:avLst/>
            <a:gdLst/>
            <a:ahLst/>
            <a:cxnLst/>
            <a:rect l="l" t="t" r="r" b="b"/>
            <a:pathLst>
              <a:path w="11430000" h="9525">
                <a:moveTo>
                  <a:pt x="0" y="0"/>
                </a:moveTo>
                <a:lnTo>
                  <a:pt x="11430000" y="0"/>
                </a:lnTo>
              </a:path>
            </a:pathLst>
          </a:custGeom>
          <a:noFill/>
          <a:ln w="9525">
            <a:solidFill>
              <a:srgbClr val="E2E8F0"/>
            </a:solidFill>
            <a:prstDash val="dash"/>
          </a:ln>
        </p:spPr>
      </p:sp>
      <p:sp>
        <p:nvSpPr>
          <p:cNvPr id="33" name="TextBox 33"/>
          <p:cNvSpPr txBox="1"/>
          <p:nvPr/>
        </p:nvSpPr>
        <p:spPr>
          <a:xfrm>
            <a:off x="556260" y="2156460"/>
            <a:ext cx="702564" cy="243840"/>
          </a:xfrm>
          <a:prstGeom prst="rect">
            <a:avLst/>
          </a:prstGeom>
          <a:noFill/>
          <a:ln>
            <a:noFill/>
          </a:ln>
        </p:spPr>
        <p:txBody>
          <a:bodyPr wrap="none" lIns="0" tIns="0" rIns="0" bIns="0" anchor="t" anchorCtr="0">
            <a:spAutoFit/>
          </a:bodyPr>
          <a:lstStyle/>
          <a:p>
            <a:pPr algn="l"/>
            <a:r>
              <a:rPr lang="zh-CN" sz="1200" b="1" dirty="0">
                <a:solidFill>
                  <a:srgbClr val="64748B"/>
                </a:solidFill>
                <a:latin typeface="Segoe UI"/>
                <a:ea typeface="SimHei"/>
                <a:cs typeface="Segoe UI"/>
              </a:rPr>
              <a:t>查询流程</a:t>
            </a:r>
          </a:p>
        </p:txBody>
      </p:sp>
      <p:sp>
        <p:nvSpPr>
          <p:cNvPr id="34" name="Rectangle 34"/>
          <p:cNvSpPr/>
          <p:nvPr/>
        </p:nvSpPr>
        <p:spPr>
          <a:xfrm>
            <a:off x="571500" y="2476500"/>
            <a:ext cx="1333500" cy="571500"/>
          </a:xfrm>
          <a:prstGeom prst="roundRect">
            <a:avLst>
              <a:gd name="adj" fmla="val 50000"/>
            </a:avLst>
          </a:prstGeom>
          <a:solidFill>
            <a:srgbClr val="4A7BF7"/>
          </a:solidFill>
          <a:ln>
            <a:noFill/>
          </a:ln>
        </p:spPr>
      </p:sp>
      <p:sp>
        <p:nvSpPr>
          <p:cNvPr id="35" name="TextBox 35"/>
          <p:cNvSpPr txBox="1"/>
          <p:nvPr/>
        </p:nvSpPr>
        <p:spPr>
          <a:xfrm>
            <a:off x="908923" y="2688431"/>
            <a:ext cx="65865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SimHei"/>
                <a:cs typeface="Segoe UI"/>
              </a:rPr>
              <a:t>用户提问</a:t>
            </a:r>
          </a:p>
        </p:txBody>
      </p:sp>
      <p:sp>
        <p:nvSpPr>
          <p:cNvPr id="36" name="Line 36"/>
          <p:cNvSpPr/>
          <p:nvPr/>
        </p:nvSpPr>
        <p:spPr>
          <a:xfrm>
            <a:off x="1905000" y="2762250"/>
            <a:ext cx="476250" cy="1"/>
          </a:xfrm>
          <a:prstGeom prst="line">
            <a:avLst/>
          </a:prstGeom>
          <a:noFill/>
          <a:ln w="19050">
            <a:solidFill>
              <a:srgbClr val="4A7BF7"/>
            </a:solidFill>
            <a:tailEnd type="triangle" w="lg" len="lg"/>
          </a:ln>
        </p:spPr>
      </p:sp>
      <p:sp>
        <p:nvSpPr>
          <p:cNvPr id="37" name="Rectangle 37"/>
          <p:cNvSpPr/>
          <p:nvPr/>
        </p:nvSpPr>
        <p:spPr>
          <a:xfrm>
            <a:off x="2428875" y="2476500"/>
            <a:ext cx="1714500" cy="571500"/>
          </a:xfrm>
          <a:prstGeom prst="roundRect">
            <a:avLst>
              <a:gd name="adj" fmla="val 13333"/>
            </a:avLst>
          </a:prstGeom>
          <a:solidFill>
            <a:srgbClr val="FFFFFF"/>
          </a:solidFill>
          <a:ln w="14288">
            <a:solidFill>
              <a:srgbClr val="4A7BF7"/>
            </a:solidFill>
          </a:ln>
        </p:spPr>
      </p:sp>
      <p:sp>
        <p:nvSpPr>
          <p:cNvPr id="38" name="TextBox 38"/>
          <p:cNvSpPr txBox="1"/>
          <p:nvPr/>
        </p:nvSpPr>
        <p:spPr>
          <a:xfrm>
            <a:off x="2905244" y="2601278"/>
            <a:ext cx="761762"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查询预处理</a:t>
            </a:r>
          </a:p>
        </p:txBody>
      </p:sp>
      <p:sp>
        <p:nvSpPr>
          <p:cNvPr id="39" name="TextBox 39"/>
          <p:cNvSpPr txBox="1"/>
          <p:nvPr/>
        </p:nvSpPr>
        <p:spPr>
          <a:xfrm>
            <a:off x="2720078" y="2816066"/>
            <a:ext cx="1132094"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意图识别 · Query改写</a:t>
            </a:r>
          </a:p>
        </p:txBody>
      </p:sp>
      <p:sp>
        <p:nvSpPr>
          <p:cNvPr id="40" name="Line 40"/>
          <p:cNvSpPr/>
          <p:nvPr/>
        </p:nvSpPr>
        <p:spPr>
          <a:xfrm>
            <a:off x="4143375" y="2762250"/>
            <a:ext cx="476250" cy="1"/>
          </a:xfrm>
          <a:prstGeom prst="line">
            <a:avLst/>
          </a:prstGeom>
          <a:noFill/>
          <a:ln w="19050">
            <a:solidFill>
              <a:srgbClr val="2DD4A8"/>
            </a:solidFill>
            <a:tailEnd type="triangle" w="lg" len="lg"/>
          </a:ln>
        </p:spPr>
      </p:sp>
      <p:sp>
        <p:nvSpPr>
          <p:cNvPr id="41" name="Rectangle 41"/>
          <p:cNvSpPr/>
          <p:nvPr/>
        </p:nvSpPr>
        <p:spPr>
          <a:xfrm>
            <a:off x="4667250" y="2476500"/>
            <a:ext cx="1714500" cy="571500"/>
          </a:xfrm>
          <a:prstGeom prst="roundRect">
            <a:avLst>
              <a:gd name="adj" fmla="val 13333"/>
            </a:avLst>
          </a:prstGeom>
          <a:solidFill>
            <a:srgbClr val="FFFFFF"/>
          </a:solidFill>
          <a:ln w="14288">
            <a:solidFill>
              <a:srgbClr val="2DD4A8"/>
            </a:solidFill>
          </a:ln>
        </p:spPr>
      </p:sp>
      <p:sp>
        <p:nvSpPr>
          <p:cNvPr id="42" name="TextBox 42"/>
          <p:cNvSpPr txBox="1"/>
          <p:nvPr/>
        </p:nvSpPr>
        <p:spPr>
          <a:xfrm>
            <a:off x="5217128" y="2601278"/>
            <a:ext cx="614744"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混合检索</a:t>
            </a:r>
          </a:p>
        </p:txBody>
      </p:sp>
      <p:sp>
        <p:nvSpPr>
          <p:cNvPr id="43" name="TextBox 43"/>
          <p:cNvSpPr txBox="1"/>
          <p:nvPr/>
        </p:nvSpPr>
        <p:spPr>
          <a:xfrm>
            <a:off x="5065716" y="2816066"/>
            <a:ext cx="917567"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向量 + 关键词双路</a:t>
            </a:r>
          </a:p>
        </p:txBody>
      </p:sp>
      <p:sp>
        <p:nvSpPr>
          <p:cNvPr id="44" name="Line 44"/>
          <p:cNvSpPr/>
          <p:nvPr/>
        </p:nvSpPr>
        <p:spPr>
          <a:xfrm>
            <a:off x="6381750" y="2762250"/>
            <a:ext cx="476250" cy="1"/>
          </a:xfrm>
          <a:prstGeom prst="line">
            <a:avLst/>
          </a:prstGeom>
          <a:noFill/>
          <a:ln w="19050">
            <a:solidFill>
              <a:srgbClr val="2DD4A8"/>
            </a:solidFill>
            <a:tailEnd type="triangle" w="lg" len="lg"/>
          </a:ln>
        </p:spPr>
      </p:sp>
      <p:sp>
        <p:nvSpPr>
          <p:cNvPr id="45" name="Rectangle 45"/>
          <p:cNvSpPr/>
          <p:nvPr/>
        </p:nvSpPr>
        <p:spPr>
          <a:xfrm>
            <a:off x="6905625" y="2476500"/>
            <a:ext cx="1619250" cy="571500"/>
          </a:xfrm>
          <a:prstGeom prst="roundRect">
            <a:avLst>
              <a:gd name="adj" fmla="val 13333"/>
            </a:avLst>
          </a:prstGeom>
          <a:solidFill>
            <a:srgbClr val="FFFFFF"/>
          </a:solidFill>
          <a:ln w="14288">
            <a:solidFill>
              <a:srgbClr val="2DD4A8"/>
            </a:solidFill>
          </a:ln>
        </p:spPr>
      </p:sp>
      <p:sp>
        <p:nvSpPr>
          <p:cNvPr id="46" name="TextBox 46"/>
          <p:cNvSpPr txBox="1"/>
          <p:nvPr/>
        </p:nvSpPr>
        <p:spPr>
          <a:xfrm>
            <a:off x="7334369" y="2601278"/>
            <a:ext cx="761762" cy="213360"/>
          </a:xfrm>
          <a:prstGeom prst="rect">
            <a:avLst/>
          </a:prstGeom>
          <a:noFill/>
          <a:ln>
            <a:noFill/>
          </a:ln>
        </p:spPr>
        <p:txBody>
          <a:bodyPr wrap="none" lIns="0" tIns="0" rIns="0" bIns="0" anchor="t" anchorCtr="0">
            <a:spAutoFit/>
          </a:bodyPr>
          <a:lstStyle/>
          <a:p>
            <a:pPr algn="ctr"/>
            <a:r>
              <a:rPr lang="zh-CN" sz="1050" b="1" dirty="0">
                <a:solidFill>
                  <a:srgbClr val="1E2761"/>
                </a:solidFill>
                <a:latin typeface="Segoe UI"/>
                <a:ea typeface="SimHei"/>
                <a:cs typeface="Segoe UI"/>
              </a:rPr>
              <a:t>语义重排序</a:t>
            </a:r>
          </a:p>
        </p:txBody>
      </p:sp>
      <p:sp>
        <p:nvSpPr>
          <p:cNvPr id="47" name="TextBox 47"/>
          <p:cNvSpPr txBox="1"/>
          <p:nvPr/>
        </p:nvSpPr>
        <p:spPr>
          <a:xfrm>
            <a:off x="7215211" y="2816066"/>
            <a:ext cx="1000077"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相关度评分 · Top-K</a:t>
            </a:r>
          </a:p>
        </p:txBody>
      </p:sp>
      <p:sp>
        <p:nvSpPr>
          <p:cNvPr id="48" name="Rectangle 48"/>
          <p:cNvSpPr/>
          <p:nvPr/>
        </p:nvSpPr>
        <p:spPr>
          <a:xfrm>
            <a:off x="4667250" y="2333625"/>
            <a:ext cx="476250" cy="171450"/>
          </a:xfrm>
          <a:prstGeom prst="roundRect">
            <a:avLst>
              <a:gd name="adj" fmla="val 50000"/>
            </a:avLst>
          </a:prstGeom>
          <a:solidFill>
            <a:srgbClr val="2DD4A8"/>
          </a:solidFill>
          <a:ln>
            <a:noFill/>
          </a:ln>
        </p:spPr>
      </p:sp>
      <p:sp>
        <p:nvSpPr>
          <p:cNvPr id="49" name="TextBox 49"/>
          <p:cNvSpPr txBox="1"/>
          <p:nvPr/>
        </p:nvSpPr>
        <p:spPr>
          <a:xfrm>
            <a:off x="4830842" y="2376488"/>
            <a:ext cx="14906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SimHei"/>
                <a:cs typeface="Segoe UI"/>
              </a:rPr>
              <a:t>M2</a:t>
            </a:r>
          </a:p>
        </p:txBody>
      </p:sp>
      <p:sp>
        <p:nvSpPr>
          <p:cNvPr id="50" name="Line 50"/>
          <p:cNvSpPr/>
          <p:nvPr/>
        </p:nvSpPr>
        <p:spPr>
          <a:xfrm>
            <a:off x="7715250" y="3048000"/>
            <a:ext cx="1" cy="333375"/>
          </a:xfrm>
          <a:prstGeom prst="line">
            <a:avLst/>
          </a:prstGeom>
          <a:noFill/>
          <a:ln w="19050">
            <a:solidFill>
              <a:srgbClr val="1E2761"/>
            </a:solidFill>
            <a:tailEnd type="triangle" w="lg" len="lg"/>
          </a:ln>
        </p:spPr>
      </p:sp>
      <p:sp>
        <p:nvSpPr>
          <p:cNvPr id="51" name="Rectangle 51"/>
          <p:cNvSpPr/>
          <p:nvPr/>
        </p:nvSpPr>
        <p:spPr>
          <a:xfrm>
            <a:off x="5143500" y="3429000"/>
            <a:ext cx="5143500" cy="666750"/>
          </a:xfrm>
          <a:prstGeom prst="roundRect">
            <a:avLst>
              <a:gd name="adj" fmla="val 11429"/>
            </a:avLst>
          </a:prstGeom>
          <a:solidFill>
            <a:srgbClr val="4A7BF7">
              <a:alpha val="10000"/>
            </a:srgbClr>
          </a:solidFill>
          <a:ln w="14288">
            <a:solidFill>
              <a:srgbClr val="4A7BF7"/>
            </a:solidFill>
          </a:ln>
        </p:spPr>
      </p:sp>
      <p:sp>
        <p:nvSpPr>
          <p:cNvPr id="52" name="TextBox 52"/>
          <p:cNvSpPr txBox="1"/>
          <p:nvPr/>
        </p:nvSpPr>
        <p:spPr>
          <a:xfrm>
            <a:off x="7307163" y="3574256"/>
            <a:ext cx="816173" cy="228600"/>
          </a:xfrm>
          <a:prstGeom prst="rect">
            <a:avLst/>
          </a:prstGeom>
          <a:noFill/>
          <a:ln>
            <a:noFill/>
          </a:ln>
        </p:spPr>
        <p:txBody>
          <a:bodyPr wrap="none" lIns="0" tIns="0" rIns="0" bIns="0" anchor="t" anchorCtr="0">
            <a:spAutoFit/>
          </a:bodyPr>
          <a:lstStyle/>
          <a:p>
            <a:pPr algn="ctr"/>
            <a:r>
              <a:rPr lang="zh-CN" sz="1125" b="1" dirty="0">
                <a:solidFill>
                  <a:srgbClr val="1E2761"/>
                </a:solidFill>
                <a:latin typeface="Segoe UI"/>
                <a:ea typeface="SimHei"/>
                <a:cs typeface="Segoe UI"/>
              </a:rPr>
              <a:t>提示词组装</a:t>
            </a:r>
          </a:p>
        </p:txBody>
      </p:sp>
      <p:sp>
        <p:nvSpPr>
          <p:cNvPr id="53" name="TextBox 53"/>
          <p:cNvSpPr txBox="1"/>
          <p:nvPr/>
        </p:nvSpPr>
        <p:spPr>
          <a:xfrm>
            <a:off x="5999607" y="3827145"/>
            <a:ext cx="3431286" cy="182880"/>
          </a:xfrm>
          <a:prstGeom prst="rect">
            <a:avLst/>
          </a:prstGeom>
          <a:noFill/>
          <a:ln>
            <a:noFill/>
          </a:ln>
        </p:spPr>
        <p:txBody>
          <a:bodyPr wrap="none" lIns="0" tIns="0" rIns="0" bIns="0" anchor="t" anchorCtr="0">
            <a:spAutoFit/>
          </a:bodyPr>
          <a:lstStyle/>
          <a:p>
            <a:pPr algn="ctr"/>
            <a:r>
              <a:rPr lang="zh-CN" sz="900" dirty="0">
                <a:solidFill>
                  <a:srgbClr val="64748B"/>
                </a:solidFill>
                <a:latin typeface="Arial"/>
                <a:ea typeface="Microsoft YaHei"/>
                <a:cs typeface="Arial"/>
              </a:rPr>
              <a:t>系统提示词 + 检索结果 + 用户问题 + 对话历史 → 结构化 Prompt</a:t>
            </a:r>
          </a:p>
        </p:txBody>
      </p:sp>
      <p:sp>
        <p:nvSpPr>
          <p:cNvPr id="54" name="Rectangle 54"/>
          <p:cNvSpPr/>
          <p:nvPr/>
        </p:nvSpPr>
        <p:spPr>
          <a:xfrm>
            <a:off x="5143500" y="3286125"/>
            <a:ext cx="476250" cy="171450"/>
          </a:xfrm>
          <a:prstGeom prst="roundRect">
            <a:avLst>
              <a:gd name="adj" fmla="val 50000"/>
            </a:avLst>
          </a:prstGeom>
          <a:solidFill>
            <a:srgbClr val="4A7BF7"/>
          </a:solidFill>
          <a:ln>
            <a:noFill/>
          </a:ln>
        </p:spPr>
      </p:sp>
      <p:sp>
        <p:nvSpPr>
          <p:cNvPr id="55" name="TextBox 55"/>
          <p:cNvSpPr txBox="1"/>
          <p:nvPr/>
        </p:nvSpPr>
        <p:spPr>
          <a:xfrm>
            <a:off x="5307092" y="3328988"/>
            <a:ext cx="14906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SimHei"/>
                <a:cs typeface="Segoe UI"/>
              </a:rPr>
              <a:t>M3</a:t>
            </a:r>
          </a:p>
        </p:txBody>
      </p:sp>
      <p:sp>
        <p:nvSpPr>
          <p:cNvPr id="56" name="Line 56"/>
          <p:cNvSpPr/>
          <p:nvPr/>
        </p:nvSpPr>
        <p:spPr>
          <a:xfrm>
            <a:off x="7715250" y="4095750"/>
            <a:ext cx="1" cy="238125"/>
          </a:xfrm>
          <a:prstGeom prst="line">
            <a:avLst/>
          </a:prstGeom>
          <a:noFill/>
          <a:ln w="19050">
            <a:solidFill>
              <a:srgbClr val="1E2761"/>
            </a:solidFill>
            <a:tailEnd type="triangle" w="lg" len="lg"/>
          </a:ln>
        </p:spPr>
      </p:sp>
      <p:sp>
        <p:nvSpPr>
          <p:cNvPr id="57" name="Rectangle 57"/>
          <p:cNvSpPr/>
          <p:nvPr/>
        </p:nvSpPr>
        <p:spPr>
          <a:xfrm>
            <a:off x="6286500" y="4381500"/>
            <a:ext cx="2857500" cy="571500"/>
          </a:xfrm>
          <a:prstGeom prst="roundRect">
            <a:avLst>
              <a:gd name="adj" fmla="val 13333"/>
            </a:avLst>
          </a:prstGeom>
          <a:solidFill>
            <a:srgbClr val="1E2761"/>
          </a:solidFill>
          <a:ln>
            <a:noFill/>
          </a:ln>
        </p:spPr>
      </p:sp>
      <p:sp>
        <p:nvSpPr>
          <p:cNvPr id="58" name="TextBox 58"/>
          <p:cNvSpPr txBox="1"/>
          <p:nvPr/>
        </p:nvSpPr>
        <p:spPr>
          <a:xfrm>
            <a:off x="6905488" y="4526756"/>
            <a:ext cx="161952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SimHei"/>
                <a:cs typeface="Segoe UI"/>
              </a:rPr>
              <a:t>智谱 GLM-9B 本地推理</a:t>
            </a:r>
          </a:p>
        </p:txBody>
      </p:sp>
      <p:sp>
        <p:nvSpPr>
          <p:cNvPr id="59" name="TextBox 59"/>
          <p:cNvSpPr txBox="1"/>
          <p:nvPr/>
        </p:nvSpPr>
        <p:spPr>
          <a:xfrm>
            <a:off x="7154751" y="4741545"/>
            <a:ext cx="1120997" cy="182880"/>
          </a:xfrm>
          <a:prstGeom prst="rect">
            <a:avLst/>
          </a:prstGeom>
          <a:noFill/>
          <a:ln>
            <a:noFill/>
          </a:ln>
        </p:spPr>
        <p:txBody>
          <a:bodyPr wrap="none" lIns="0" tIns="0" rIns="0" bIns="0" anchor="t" anchorCtr="0">
            <a:spAutoFit/>
          </a:bodyPr>
          <a:lstStyle/>
          <a:p>
            <a:pPr algn="ctr"/>
            <a:r>
              <a:rPr lang="zh-CN" sz="900" dirty="0">
                <a:solidFill>
                  <a:srgbClr val="CADCFC"/>
                </a:solidFill>
                <a:latin typeface="Arial"/>
                <a:ea typeface="Microsoft YaHei"/>
                <a:cs typeface="Arial"/>
              </a:rPr>
              <a:t>流式生成 · 引用标注</a:t>
            </a:r>
          </a:p>
        </p:txBody>
      </p:sp>
      <p:sp>
        <p:nvSpPr>
          <p:cNvPr id="60" name="Line 60"/>
          <p:cNvSpPr/>
          <p:nvPr/>
        </p:nvSpPr>
        <p:spPr>
          <a:xfrm>
            <a:off x="7715250" y="4953000"/>
            <a:ext cx="1" cy="238125"/>
          </a:xfrm>
          <a:prstGeom prst="line">
            <a:avLst/>
          </a:prstGeom>
          <a:noFill/>
          <a:ln w="19050">
            <a:solidFill>
              <a:srgbClr val="2DD4A8"/>
            </a:solidFill>
            <a:tailEnd type="triangle" w="lg" len="lg"/>
          </a:ln>
        </p:spPr>
      </p:sp>
      <p:sp>
        <p:nvSpPr>
          <p:cNvPr id="61" name="Rectangle 61"/>
          <p:cNvSpPr/>
          <p:nvPr/>
        </p:nvSpPr>
        <p:spPr>
          <a:xfrm>
            <a:off x="6286500" y="5238750"/>
            <a:ext cx="2857500" cy="523875"/>
          </a:xfrm>
          <a:prstGeom prst="roundRect">
            <a:avLst>
              <a:gd name="adj" fmla="val 14545"/>
            </a:avLst>
          </a:prstGeom>
          <a:solidFill>
            <a:srgbClr val="2DD4A8"/>
          </a:solidFill>
          <a:ln>
            <a:noFill/>
          </a:ln>
        </p:spPr>
      </p:sp>
      <p:sp>
        <p:nvSpPr>
          <p:cNvPr id="62" name="TextBox 62"/>
          <p:cNvSpPr txBox="1"/>
          <p:nvPr/>
        </p:nvSpPr>
        <p:spPr>
          <a:xfrm>
            <a:off x="6901550" y="5384006"/>
            <a:ext cx="1627400"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SimHei"/>
                <a:cs typeface="Segoe UI"/>
              </a:rPr>
              <a:t>结构化回答 + 引用溯源</a:t>
            </a:r>
          </a:p>
        </p:txBody>
      </p:sp>
      <p:sp>
        <p:nvSpPr>
          <p:cNvPr id="63" name="TextBox 63"/>
          <p:cNvSpPr txBox="1"/>
          <p:nvPr/>
        </p:nvSpPr>
        <p:spPr>
          <a:xfrm>
            <a:off x="7403782" y="5579745"/>
            <a:ext cx="62293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返回给用户</a:t>
            </a:r>
          </a:p>
        </p:txBody>
      </p:sp>
      <p:sp>
        <p:nvSpPr>
          <p:cNvPr id="64" name="Rectangle 64"/>
          <p:cNvSpPr/>
          <p:nvPr/>
        </p:nvSpPr>
        <p:spPr>
          <a:xfrm>
            <a:off x="571500" y="3429000"/>
            <a:ext cx="4191000" cy="1333500"/>
          </a:xfrm>
          <a:prstGeom prst="roundRect">
            <a:avLst>
              <a:gd name="adj" fmla="val 5714"/>
            </a:avLst>
          </a:prstGeom>
          <a:solidFill>
            <a:srgbClr val="F8FAFC"/>
          </a:solidFill>
          <a:ln w="9525">
            <a:solidFill>
              <a:srgbClr val="E2E8F0"/>
            </a:solidFill>
          </a:ln>
        </p:spPr>
      </p:sp>
      <p:sp>
        <p:nvSpPr>
          <p:cNvPr id="65" name="TextBox 65"/>
          <p:cNvSpPr txBox="1"/>
          <p:nvPr/>
        </p:nvSpPr>
        <p:spPr>
          <a:xfrm>
            <a:off x="748665" y="3582352"/>
            <a:ext cx="761762"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知识库支撑</a:t>
            </a:r>
          </a:p>
        </p:txBody>
      </p:sp>
      <p:sp>
        <p:nvSpPr>
          <p:cNvPr id="66" name="Rectangle 66"/>
          <p:cNvSpPr/>
          <p:nvPr/>
        </p:nvSpPr>
        <p:spPr>
          <a:xfrm>
            <a:off x="762000" y="3810000"/>
            <a:ext cx="1143000" cy="285750"/>
          </a:xfrm>
          <a:prstGeom prst="roundRect">
            <a:avLst>
              <a:gd name="adj" fmla="val 20000"/>
            </a:avLst>
          </a:prstGeom>
          <a:solidFill>
            <a:srgbClr val="E0E7FF"/>
          </a:solidFill>
          <a:ln>
            <a:noFill/>
          </a:ln>
        </p:spPr>
      </p:sp>
      <p:sp>
        <p:nvSpPr>
          <p:cNvPr id="67" name="TextBox 67"/>
          <p:cNvSpPr txBox="1"/>
          <p:nvPr/>
        </p:nvSpPr>
        <p:spPr>
          <a:xfrm>
            <a:off x="1082040" y="3903345"/>
            <a:ext cx="502920"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向量索引</a:t>
            </a:r>
          </a:p>
        </p:txBody>
      </p:sp>
      <p:sp>
        <p:nvSpPr>
          <p:cNvPr id="68" name="Rectangle 68"/>
          <p:cNvSpPr/>
          <p:nvPr/>
        </p:nvSpPr>
        <p:spPr>
          <a:xfrm>
            <a:off x="2047875" y="3810000"/>
            <a:ext cx="1143000" cy="285750"/>
          </a:xfrm>
          <a:prstGeom prst="roundRect">
            <a:avLst>
              <a:gd name="adj" fmla="val 20000"/>
            </a:avLst>
          </a:prstGeom>
          <a:solidFill>
            <a:srgbClr val="E0E7FF"/>
          </a:solidFill>
          <a:ln>
            <a:noFill/>
          </a:ln>
        </p:spPr>
      </p:sp>
      <p:sp>
        <p:nvSpPr>
          <p:cNvPr id="69" name="TextBox 69"/>
          <p:cNvSpPr txBox="1"/>
          <p:nvPr/>
        </p:nvSpPr>
        <p:spPr>
          <a:xfrm>
            <a:off x="2367915" y="3903345"/>
            <a:ext cx="502920"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全文索引</a:t>
            </a:r>
          </a:p>
        </p:txBody>
      </p:sp>
      <p:sp>
        <p:nvSpPr>
          <p:cNvPr id="70" name="Rectangle 70"/>
          <p:cNvSpPr/>
          <p:nvPr/>
        </p:nvSpPr>
        <p:spPr>
          <a:xfrm>
            <a:off x="3333750" y="3810000"/>
            <a:ext cx="1143000" cy="285750"/>
          </a:xfrm>
          <a:prstGeom prst="roundRect">
            <a:avLst>
              <a:gd name="adj" fmla="val 20000"/>
            </a:avLst>
          </a:prstGeom>
          <a:solidFill>
            <a:srgbClr val="D1FAE5"/>
          </a:solidFill>
          <a:ln>
            <a:noFill/>
          </a:ln>
        </p:spPr>
      </p:sp>
      <p:sp>
        <p:nvSpPr>
          <p:cNvPr id="71" name="TextBox 71"/>
          <p:cNvSpPr txBox="1"/>
          <p:nvPr/>
        </p:nvSpPr>
        <p:spPr>
          <a:xfrm>
            <a:off x="3653790" y="3903345"/>
            <a:ext cx="502920" cy="182880"/>
          </a:xfrm>
          <a:prstGeom prst="rect">
            <a:avLst/>
          </a:prstGeom>
          <a:noFill/>
          <a:ln>
            <a:noFill/>
          </a:ln>
        </p:spPr>
        <p:txBody>
          <a:bodyPr wrap="none" lIns="0" tIns="0" rIns="0" bIns="0" anchor="t" anchorCtr="0">
            <a:spAutoFit/>
          </a:bodyPr>
          <a:lstStyle/>
          <a:p>
            <a:pPr algn="ctr"/>
            <a:r>
              <a:rPr lang="zh-CN" sz="900" dirty="0">
                <a:solidFill>
                  <a:srgbClr val="059669"/>
                </a:solidFill>
                <a:latin typeface="Arial"/>
                <a:ea typeface="Microsoft YaHei"/>
                <a:cs typeface="Arial"/>
              </a:rPr>
              <a:t>知识图谱</a:t>
            </a:r>
          </a:p>
        </p:txBody>
      </p:sp>
      <p:sp>
        <p:nvSpPr>
          <p:cNvPr id="72" name="TextBox 72"/>
          <p:cNvSpPr txBox="1"/>
          <p:nvPr/>
        </p:nvSpPr>
        <p:spPr>
          <a:xfrm>
            <a:off x="750570" y="4284345"/>
            <a:ext cx="242316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Elasticsearch 8.11 提供向量+全文混合索引</a:t>
            </a:r>
          </a:p>
        </p:txBody>
      </p:sp>
      <p:sp>
        <p:nvSpPr>
          <p:cNvPr id="73" name="TextBox 73"/>
          <p:cNvSpPr txBox="1"/>
          <p:nvPr/>
        </p:nvSpPr>
        <p:spPr>
          <a:xfrm>
            <a:off x="750570" y="4474845"/>
            <a:ext cx="1337024"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MinIO 存储原始文档文件</a:t>
            </a:r>
          </a:p>
        </p:txBody>
      </p:sp>
      <p:sp>
        <p:nvSpPr>
          <p:cNvPr id="74" name="TextBox 74"/>
          <p:cNvSpPr txBox="1"/>
          <p:nvPr/>
        </p:nvSpPr>
        <p:spPr>
          <a:xfrm>
            <a:off x="560070" y="6189345"/>
            <a:ext cx="2423160"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全链路数据在本地服务器内闭环，无外网传输</a:t>
            </a:r>
          </a:p>
        </p:txBody>
      </p:sp>
      <p:sp>
        <p:nvSpPr>
          <p:cNvPr id="75" name="TextBox 75"/>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7 / 14</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2582056"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M1 外挂知识库模块</a:t>
            </a:r>
          </a:p>
        </p:txBody>
      </p:sp>
      <p:sp>
        <p:nvSpPr>
          <p:cNvPr id="5" name="TextBox 5"/>
          <p:cNvSpPr txBox="1"/>
          <p:nvPr/>
        </p:nvSpPr>
        <p:spPr>
          <a:xfrm>
            <a:off x="3606165" y="286702"/>
            <a:ext cx="2546985"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第一级：军事文档深度加工与语义化重构</a:t>
            </a:r>
          </a:p>
        </p:txBody>
      </p:sp>
      <p:sp>
        <p:nvSpPr>
          <p:cNvPr id="6" name="Rectangle 6"/>
          <p:cNvSpPr/>
          <p:nvPr/>
        </p:nvSpPr>
        <p:spPr>
          <a:xfrm>
            <a:off x="381000" y="809625"/>
            <a:ext cx="523875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7" name="Rectangle 7"/>
          <p:cNvSpPr/>
          <p:nvPr/>
        </p:nvSpPr>
        <p:spPr>
          <a:xfrm>
            <a:off x="381000" y="809625"/>
            <a:ext cx="57150" cy="3810000"/>
          </a:xfrm>
          <a:prstGeom prst="rect">
            <a:avLst/>
          </a:prstGeom>
          <a:solidFill>
            <a:srgbClr val="1E2761"/>
          </a:solidFill>
          <a:ln>
            <a:noFill/>
          </a:ln>
        </p:spPr>
      </p:sp>
      <p:sp>
        <p:nvSpPr>
          <p:cNvPr id="8" name="TextBox 8"/>
          <p:cNvSpPr txBox="1"/>
          <p:nvPr/>
        </p:nvSpPr>
        <p:spPr>
          <a:xfrm>
            <a:off x="647700" y="962025"/>
            <a:ext cx="87820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核心能力</a:t>
            </a:r>
          </a:p>
        </p:txBody>
      </p:sp>
      <p:sp>
        <p:nvSpPr>
          <p:cNvPr id="9" name="Rectangle 9"/>
          <p:cNvSpPr/>
          <p:nvPr/>
        </p:nvSpPr>
        <p:spPr>
          <a:xfrm>
            <a:off x="666750" y="1314450"/>
            <a:ext cx="47625" cy="361950"/>
          </a:xfrm>
          <a:prstGeom prst="rect">
            <a:avLst/>
          </a:prstGeom>
          <a:solidFill>
            <a:srgbClr val="2DD4A8"/>
          </a:solidFill>
          <a:ln>
            <a:noFill/>
          </a:ln>
        </p:spPr>
      </p:sp>
      <p:sp>
        <p:nvSpPr>
          <p:cNvPr id="10" name="TextBox 10"/>
          <p:cNvSpPr txBox="1"/>
          <p:nvPr/>
        </p:nvSpPr>
        <p:spPr>
          <a:xfrm>
            <a:off x="823912" y="1335881"/>
            <a:ext cx="1257229"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知识库 CRUD 管理</a:t>
            </a:r>
          </a:p>
        </p:txBody>
      </p:sp>
      <p:sp>
        <p:nvSpPr>
          <p:cNvPr id="11" name="TextBox 11"/>
          <p:cNvSpPr txBox="1"/>
          <p:nvPr/>
        </p:nvSpPr>
        <p:spPr>
          <a:xfrm>
            <a:off x="826770" y="1522095"/>
            <a:ext cx="278320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创建、查看、编辑、删除知识库，支持多知识库并行</a:t>
            </a:r>
          </a:p>
        </p:txBody>
      </p:sp>
      <p:sp>
        <p:nvSpPr>
          <p:cNvPr id="12" name="Rectangle 12"/>
          <p:cNvSpPr/>
          <p:nvPr/>
        </p:nvSpPr>
        <p:spPr>
          <a:xfrm>
            <a:off x="666750" y="1809750"/>
            <a:ext cx="47625" cy="361950"/>
          </a:xfrm>
          <a:prstGeom prst="rect">
            <a:avLst/>
          </a:prstGeom>
          <a:solidFill>
            <a:srgbClr val="2DD4A8"/>
          </a:solidFill>
          <a:ln>
            <a:noFill/>
          </a:ln>
        </p:spPr>
      </p:sp>
      <p:sp>
        <p:nvSpPr>
          <p:cNvPr id="13" name="TextBox 13"/>
          <p:cNvSpPr txBox="1"/>
          <p:nvPr/>
        </p:nvSpPr>
        <p:spPr>
          <a:xfrm>
            <a:off x="823912" y="18311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多格式文档上传</a:t>
            </a:r>
          </a:p>
        </p:txBody>
      </p:sp>
      <p:sp>
        <p:nvSpPr>
          <p:cNvPr id="14" name="TextBox 14"/>
          <p:cNvSpPr txBox="1"/>
          <p:nvPr/>
        </p:nvSpPr>
        <p:spPr>
          <a:xfrm>
            <a:off x="826770" y="2017395"/>
            <a:ext cx="278920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支持 PDF/Word/Excel/TXT/Markdown/图片等格式</a:t>
            </a:r>
          </a:p>
        </p:txBody>
      </p:sp>
      <p:sp>
        <p:nvSpPr>
          <p:cNvPr id="15" name="Rectangle 15"/>
          <p:cNvSpPr/>
          <p:nvPr/>
        </p:nvSpPr>
        <p:spPr>
          <a:xfrm>
            <a:off x="666750" y="2305050"/>
            <a:ext cx="47625" cy="361950"/>
          </a:xfrm>
          <a:prstGeom prst="rect">
            <a:avLst/>
          </a:prstGeom>
          <a:solidFill>
            <a:srgbClr val="2DD4A8"/>
          </a:solidFill>
          <a:ln>
            <a:noFill/>
          </a:ln>
        </p:spPr>
      </p:sp>
      <p:sp>
        <p:nvSpPr>
          <p:cNvPr id="16" name="TextBox 16"/>
          <p:cNvSpPr txBox="1"/>
          <p:nvPr/>
        </p:nvSpPr>
        <p:spPr>
          <a:xfrm>
            <a:off x="823912" y="2326481"/>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深度文档解析</a:t>
            </a:r>
          </a:p>
        </p:txBody>
      </p:sp>
      <p:sp>
        <p:nvSpPr>
          <p:cNvPr id="17" name="TextBox 17"/>
          <p:cNvSpPr txBox="1"/>
          <p:nvPr/>
        </p:nvSpPr>
        <p:spPr>
          <a:xfrm>
            <a:off x="826770" y="2512695"/>
            <a:ext cx="230314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版面分析、表格提取、图文识别、多栏检测</a:t>
            </a:r>
          </a:p>
        </p:txBody>
      </p:sp>
      <p:sp>
        <p:nvSpPr>
          <p:cNvPr id="18" name="Rectangle 18"/>
          <p:cNvSpPr/>
          <p:nvPr/>
        </p:nvSpPr>
        <p:spPr>
          <a:xfrm>
            <a:off x="666750" y="2800350"/>
            <a:ext cx="47625" cy="361950"/>
          </a:xfrm>
          <a:prstGeom prst="rect">
            <a:avLst/>
          </a:prstGeom>
          <a:solidFill>
            <a:srgbClr val="2DD4A8"/>
          </a:solidFill>
          <a:ln>
            <a:noFill/>
          </a:ln>
        </p:spPr>
      </p:sp>
      <p:sp>
        <p:nvSpPr>
          <p:cNvPr id="19" name="TextBox 19"/>
          <p:cNvSpPr txBox="1"/>
          <p:nvPr/>
        </p:nvSpPr>
        <p:spPr>
          <a:xfrm>
            <a:off x="823912" y="28217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多策略智能分块</a:t>
            </a:r>
          </a:p>
        </p:txBody>
      </p:sp>
      <p:sp>
        <p:nvSpPr>
          <p:cNvPr id="20" name="TextBox 20"/>
          <p:cNvSpPr txBox="1"/>
          <p:nvPr/>
        </p:nvSpPr>
        <p:spPr>
          <a:xfrm>
            <a:off x="826770" y="3007995"/>
            <a:ext cx="2477167"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通用/手册/Q&amp;A/论文/法律/表格 6种分块策略</a:t>
            </a:r>
          </a:p>
        </p:txBody>
      </p:sp>
      <p:sp>
        <p:nvSpPr>
          <p:cNvPr id="21" name="Rectangle 21"/>
          <p:cNvSpPr/>
          <p:nvPr/>
        </p:nvSpPr>
        <p:spPr>
          <a:xfrm>
            <a:off x="666750" y="3295650"/>
            <a:ext cx="47625" cy="361950"/>
          </a:xfrm>
          <a:prstGeom prst="rect">
            <a:avLst/>
          </a:prstGeom>
          <a:solidFill>
            <a:srgbClr val="2DD4A8"/>
          </a:solidFill>
          <a:ln>
            <a:noFill/>
          </a:ln>
        </p:spPr>
      </p:sp>
      <p:sp>
        <p:nvSpPr>
          <p:cNvPr id="22" name="TextBox 22"/>
          <p:cNvSpPr txBox="1"/>
          <p:nvPr/>
        </p:nvSpPr>
        <p:spPr>
          <a:xfrm>
            <a:off x="823912" y="33170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元数据自动标注</a:t>
            </a:r>
          </a:p>
        </p:txBody>
      </p:sp>
      <p:sp>
        <p:nvSpPr>
          <p:cNvPr id="23" name="TextBox 23"/>
          <p:cNvSpPr txBox="1"/>
          <p:nvPr/>
        </p:nvSpPr>
        <p:spPr>
          <a:xfrm>
            <a:off x="826770" y="3503295"/>
            <a:ext cx="230314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文档标题、作者、日期、分类等元数据提取</a:t>
            </a:r>
          </a:p>
        </p:txBody>
      </p:sp>
      <p:sp>
        <p:nvSpPr>
          <p:cNvPr id="24" name="Rectangle 24"/>
          <p:cNvSpPr/>
          <p:nvPr/>
        </p:nvSpPr>
        <p:spPr>
          <a:xfrm>
            <a:off x="666750" y="3790950"/>
            <a:ext cx="47625" cy="361950"/>
          </a:xfrm>
          <a:prstGeom prst="rect">
            <a:avLst/>
          </a:prstGeom>
          <a:solidFill>
            <a:srgbClr val="2DD4A8"/>
          </a:solidFill>
          <a:ln>
            <a:noFill/>
          </a:ln>
        </p:spPr>
      </p:sp>
      <p:sp>
        <p:nvSpPr>
          <p:cNvPr id="25" name="TextBox 25"/>
          <p:cNvSpPr txBox="1"/>
          <p:nvPr/>
        </p:nvSpPr>
        <p:spPr>
          <a:xfrm>
            <a:off x="823912" y="3812381"/>
            <a:ext cx="1288732"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多源异构数据整合</a:t>
            </a:r>
          </a:p>
        </p:txBody>
      </p:sp>
      <p:sp>
        <p:nvSpPr>
          <p:cNvPr id="26" name="TextBox 26"/>
          <p:cNvSpPr txBox="1"/>
          <p:nvPr/>
        </p:nvSpPr>
        <p:spPr>
          <a:xfrm>
            <a:off x="826770" y="3998595"/>
            <a:ext cx="170307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统一格式入库，跨来源知识关联</a:t>
            </a:r>
          </a:p>
        </p:txBody>
      </p:sp>
      <p:sp>
        <p:nvSpPr>
          <p:cNvPr id="27" name="Rectangle 27"/>
          <p:cNvSpPr/>
          <p:nvPr/>
        </p:nvSpPr>
        <p:spPr>
          <a:xfrm>
            <a:off x="666750" y="4286250"/>
            <a:ext cx="47625" cy="209550"/>
          </a:xfrm>
          <a:prstGeom prst="rect">
            <a:avLst/>
          </a:prstGeom>
          <a:solidFill>
            <a:srgbClr val="2DD4A8"/>
          </a:solidFill>
          <a:ln>
            <a:noFill/>
          </a:ln>
        </p:spPr>
      </p:sp>
      <p:sp>
        <p:nvSpPr>
          <p:cNvPr id="28" name="TextBox 28"/>
          <p:cNvSpPr txBox="1"/>
          <p:nvPr/>
        </p:nvSpPr>
        <p:spPr>
          <a:xfrm>
            <a:off x="826770" y="4341495"/>
            <a:ext cx="110299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分块预览与手动编辑</a:t>
            </a:r>
          </a:p>
        </p:txBody>
      </p:sp>
      <p:sp>
        <p:nvSpPr>
          <p:cNvPr id="29" name="Rectangle 29"/>
          <p:cNvSpPr/>
          <p:nvPr/>
        </p:nvSpPr>
        <p:spPr>
          <a:xfrm>
            <a:off x="5905500" y="809625"/>
            <a:ext cx="590550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30" name="TextBox 30"/>
          <p:cNvSpPr txBox="1"/>
          <p:nvPr/>
        </p:nvSpPr>
        <p:spPr>
          <a:xfrm>
            <a:off x="6082665" y="982028"/>
            <a:ext cx="1006792"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Segoe UI"/>
                <a:ea typeface="SimHei"/>
                <a:cs typeface="Segoe UI"/>
              </a:rPr>
              <a:t>知识库管理界面</a:t>
            </a:r>
          </a:p>
        </p:txBody>
      </p:sp>
      <p:pic>
        <p:nvPicPr>
          <p:cNvPr id="31" name="Image 31"/>
          <p:cNvPicPr>
            <a:picLocks noChangeAspect="1"/>
          </p:cNvPicPr>
          <p:nvPr/>
        </p:nvPicPr>
        <p:blipFill>
          <a:blip r:embed="rId2"/>
          <a:srcRect l="0" t="3103" r="0" b="3103"/>
          <a:stretch>
            <a:fillRect/>
          </a:stretch>
        </p:blipFill>
        <p:spPr>
          <a:xfrm>
            <a:off x="6096000" y="1238250"/>
            <a:ext cx="5524500" cy="3238500"/>
          </a:xfrm>
          <a:prstGeom prst="rect">
            <a:avLst/>
          </a:prstGeom>
        </p:spPr>
      </p:pic>
      <p:sp>
        <p:nvSpPr>
          <p:cNvPr id="32" name="Rectangle 32"/>
          <p:cNvSpPr/>
          <p:nvPr/>
        </p:nvSpPr>
        <p:spPr>
          <a:xfrm>
            <a:off x="381000" y="4857750"/>
            <a:ext cx="11430000" cy="666750"/>
          </a:xfrm>
          <a:prstGeom prst="roundRect">
            <a:avLst>
              <a:gd name="adj" fmla="val 11429"/>
            </a:avLst>
          </a:prstGeom>
          <a:solidFill>
            <a:srgbClr val="FFFFFF"/>
          </a:solidFill>
          <a:ln>
            <a:noFill/>
          </a:ln>
          <a:effectLst>
            <a:outerShdw blurRad="76200" dist="19050" dir="5400000" algn="ctr" rotWithShape="0">
              <a:srgbClr val="000000">
                <a:alpha val="6000"/>
              </a:srgbClr>
            </a:outerShdw>
          </a:effectLst>
        </p:spPr>
      </p:sp>
      <p:sp>
        <p:nvSpPr>
          <p:cNvPr id="33" name="Rectangle 33"/>
          <p:cNvSpPr/>
          <p:nvPr/>
        </p:nvSpPr>
        <p:spPr>
          <a:xfrm>
            <a:off x="762000" y="5000625"/>
            <a:ext cx="1524000" cy="333375"/>
          </a:xfrm>
          <a:prstGeom prst="roundRect">
            <a:avLst>
              <a:gd name="adj" fmla="val 17143"/>
            </a:avLst>
          </a:prstGeom>
          <a:solidFill>
            <a:srgbClr val="E0E7FF"/>
          </a:solidFill>
          <a:ln>
            <a:noFill/>
          </a:ln>
        </p:spPr>
      </p:sp>
      <p:sp>
        <p:nvSpPr>
          <p:cNvPr id="34" name="TextBox 34"/>
          <p:cNvSpPr txBox="1"/>
          <p:nvPr/>
        </p:nvSpPr>
        <p:spPr>
          <a:xfrm>
            <a:off x="994803" y="5114449"/>
            <a:ext cx="1058394"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ragflow v0.18.0</a:t>
            </a:r>
          </a:p>
        </p:txBody>
      </p:sp>
      <p:sp>
        <p:nvSpPr>
          <p:cNvPr id="35" name="Rectangle 35"/>
          <p:cNvSpPr/>
          <p:nvPr/>
        </p:nvSpPr>
        <p:spPr>
          <a:xfrm>
            <a:off x="2476500" y="5000625"/>
            <a:ext cx="1524000" cy="333375"/>
          </a:xfrm>
          <a:prstGeom prst="roundRect">
            <a:avLst>
              <a:gd name="adj" fmla="val 17143"/>
            </a:avLst>
          </a:prstGeom>
          <a:solidFill>
            <a:srgbClr val="E0E7FF"/>
          </a:solidFill>
          <a:ln>
            <a:noFill/>
          </a:ln>
        </p:spPr>
      </p:sp>
      <p:sp>
        <p:nvSpPr>
          <p:cNvPr id="36" name="TextBox 36"/>
          <p:cNvSpPr txBox="1"/>
          <p:nvPr/>
        </p:nvSpPr>
        <p:spPr>
          <a:xfrm>
            <a:off x="2774311" y="5114449"/>
            <a:ext cx="928378"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MinIO 对象存储</a:t>
            </a:r>
          </a:p>
        </p:txBody>
      </p:sp>
      <p:sp>
        <p:nvSpPr>
          <p:cNvPr id="37" name="Rectangle 37"/>
          <p:cNvSpPr/>
          <p:nvPr/>
        </p:nvSpPr>
        <p:spPr>
          <a:xfrm>
            <a:off x="4191000" y="5000625"/>
            <a:ext cx="1524000" cy="333375"/>
          </a:xfrm>
          <a:prstGeom prst="roundRect">
            <a:avLst>
              <a:gd name="adj" fmla="val 17143"/>
            </a:avLst>
          </a:prstGeom>
          <a:solidFill>
            <a:srgbClr val="D1FAE5"/>
          </a:solidFill>
          <a:ln>
            <a:noFill/>
          </a:ln>
        </p:spPr>
      </p:sp>
      <p:sp>
        <p:nvSpPr>
          <p:cNvPr id="38" name="TextBox 38"/>
          <p:cNvSpPr txBox="1"/>
          <p:nvPr/>
        </p:nvSpPr>
        <p:spPr>
          <a:xfrm>
            <a:off x="4589574" y="5114449"/>
            <a:ext cx="726853" cy="198120"/>
          </a:xfrm>
          <a:prstGeom prst="rect">
            <a:avLst/>
          </a:prstGeom>
          <a:noFill/>
          <a:ln>
            <a:noFill/>
          </a:ln>
        </p:spPr>
        <p:txBody>
          <a:bodyPr wrap="none" lIns="0" tIns="0" rIns="0" bIns="0" anchor="t" anchorCtr="0">
            <a:spAutoFit/>
          </a:bodyPr>
          <a:lstStyle/>
          <a:p>
            <a:pPr algn="ctr"/>
            <a:r>
              <a:rPr lang="zh-CN" sz="975" dirty="0">
                <a:solidFill>
                  <a:srgbClr val="059669"/>
                </a:solidFill>
                <a:latin typeface="Arial"/>
                <a:ea typeface="Microsoft YaHei"/>
                <a:cs typeface="Arial"/>
              </a:rPr>
              <a:t>ES 向量索引</a:t>
            </a:r>
          </a:p>
        </p:txBody>
      </p:sp>
      <p:sp>
        <p:nvSpPr>
          <p:cNvPr id="39" name="Rectangle 39"/>
          <p:cNvSpPr/>
          <p:nvPr/>
        </p:nvSpPr>
        <p:spPr>
          <a:xfrm>
            <a:off x="5905500" y="5000625"/>
            <a:ext cx="1905000" cy="333375"/>
          </a:xfrm>
          <a:prstGeom prst="roundRect">
            <a:avLst>
              <a:gd name="adj" fmla="val 17143"/>
            </a:avLst>
          </a:prstGeom>
          <a:solidFill>
            <a:srgbClr val="D1FAE5"/>
          </a:solidFill>
          <a:ln>
            <a:noFill/>
          </a:ln>
        </p:spPr>
      </p:sp>
      <p:sp>
        <p:nvSpPr>
          <p:cNvPr id="40" name="TextBox 40"/>
          <p:cNvSpPr txBox="1"/>
          <p:nvPr/>
        </p:nvSpPr>
        <p:spPr>
          <a:xfrm>
            <a:off x="6390561" y="5114449"/>
            <a:ext cx="934879" cy="198120"/>
          </a:xfrm>
          <a:prstGeom prst="rect">
            <a:avLst/>
          </a:prstGeom>
          <a:noFill/>
          <a:ln>
            <a:noFill/>
          </a:ln>
        </p:spPr>
        <p:txBody>
          <a:bodyPr wrap="none" lIns="0" tIns="0" rIns="0" bIns="0" anchor="t" anchorCtr="0">
            <a:spAutoFit/>
          </a:bodyPr>
          <a:lstStyle/>
          <a:p>
            <a:pPr algn="ctr"/>
            <a:r>
              <a:rPr lang="zh-CN" sz="975" dirty="0">
                <a:solidFill>
                  <a:srgbClr val="059669"/>
                </a:solidFill>
                <a:latin typeface="Arial"/>
                <a:ea typeface="Microsoft YaHei"/>
                <a:cs typeface="Arial"/>
              </a:rPr>
              <a:t>多格式解析引擎</a:t>
            </a:r>
          </a:p>
        </p:txBody>
      </p:sp>
      <p:sp>
        <p:nvSpPr>
          <p:cNvPr id="41" name="Rectangle 41"/>
          <p:cNvSpPr/>
          <p:nvPr/>
        </p:nvSpPr>
        <p:spPr>
          <a:xfrm>
            <a:off x="8001000" y="5000625"/>
            <a:ext cx="1905000" cy="333375"/>
          </a:xfrm>
          <a:prstGeom prst="roundRect">
            <a:avLst>
              <a:gd name="adj" fmla="val 17143"/>
            </a:avLst>
          </a:prstGeom>
          <a:solidFill>
            <a:srgbClr val="E0E7FF"/>
          </a:solidFill>
          <a:ln>
            <a:noFill/>
          </a:ln>
        </p:spPr>
      </p:sp>
      <p:sp>
        <p:nvSpPr>
          <p:cNvPr id="42" name="TextBox 42"/>
          <p:cNvSpPr txBox="1"/>
          <p:nvPr/>
        </p:nvSpPr>
        <p:spPr>
          <a:xfrm>
            <a:off x="8580322" y="5114449"/>
            <a:ext cx="746355"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6种分块策略</a:t>
            </a:r>
          </a:p>
        </p:txBody>
      </p:sp>
      <p:sp>
        <p:nvSpPr>
          <p:cNvPr id="43" name="TextBox 43"/>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8 / 14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2773180"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M2 RAG检索增强模块</a:t>
            </a:r>
          </a:p>
        </p:txBody>
      </p:sp>
      <p:sp>
        <p:nvSpPr>
          <p:cNvPr id="5" name="TextBox 5"/>
          <p:cNvSpPr txBox="1"/>
          <p:nvPr/>
        </p:nvSpPr>
        <p:spPr>
          <a:xfrm>
            <a:off x="3891915" y="286702"/>
            <a:ext cx="2406968"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第二级：多维度混合检索与语义重排序</a:t>
            </a:r>
          </a:p>
        </p:txBody>
      </p:sp>
      <p:sp>
        <p:nvSpPr>
          <p:cNvPr id="6" name="Rectangle 6"/>
          <p:cNvSpPr/>
          <p:nvPr/>
        </p:nvSpPr>
        <p:spPr>
          <a:xfrm>
            <a:off x="381000" y="809625"/>
            <a:ext cx="523875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7" name="Rectangle 7"/>
          <p:cNvSpPr/>
          <p:nvPr/>
        </p:nvSpPr>
        <p:spPr>
          <a:xfrm>
            <a:off x="381000" y="809625"/>
            <a:ext cx="57150" cy="3810000"/>
          </a:xfrm>
          <a:prstGeom prst="rect">
            <a:avLst/>
          </a:prstGeom>
          <a:solidFill>
            <a:srgbClr val="2DD4A8"/>
          </a:solidFill>
          <a:ln>
            <a:noFill/>
          </a:ln>
        </p:spPr>
      </p:sp>
      <p:sp>
        <p:nvSpPr>
          <p:cNvPr id="8" name="TextBox 8"/>
          <p:cNvSpPr txBox="1"/>
          <p:nvPr/>
        </p:nvSpPr>
        <p:spPr>
          <a:xfrm>
            <a:off x="647700" y="962025"/>
            <a:ext cx="87820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核心能力</a:t>
            </a:r>
          </a:p>
        </p:txBody>
      </p:sp>
      <p:sp>
        <p:nvSpPr>
          <p:cNvPr id="9" name="Rectangle 9"/>
          <p:cNvSpPr/>
          <p:nvPr/>
        </p:nvSpPr>
        <p:spPr>
          <a:xfrm>
            <a:off x="666750" y="1314450"/>
            <a:ext cx="47625" cy="361950"/>
          </a:xfrm>
          <a:prstGeom prst="rect">
            <a:avLst/>
          </a:prstGeom>
          <a:solidFill>
            <a:srgbClr val="4A7BF7"/>
          </a:solidFill>
          <a:ln>
            <a:noFill/>
          </a:ln>
        </p:spPr>
      </p:sp>
      <p:sp>
        <p:nvSpPr>
          <p:cNvPr id="10" name="TextBox 10"/>
          <p:cNvSpPr txBox="1"/>
          <p:nvPr/>
        </p:nvSpPr>
        <p:spPr>
          <a:xfrm>
            <a:off x="823912" y="1335881"/>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向量语义检索</a:t>
            </a:r>
          </a:p>
        </p:txBody>
      </p:sp>
      <p:sp>
        <p:nvSpPr>
          <p:cNvPr id="11" name="TextBox 11"/>
          <p:cNvSpPr txBox="1"/>
          <p:nvPr/>
        </p:nvSpPr>
        <p:spPr>
          <a:xfrm>
            <a:off x="826770" y="1522095"/>
            <a:ext cx="212312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基于 Embedding 的高维向量相似度匹配</a:t>
            </a:r>
          </a:p>
        </p:txBody>
      </p:sp>
      <p:sp>
        <p:nvSpPr>
          <p:cNvPr id="12" name="Rectangle 12"/>
          <p:cNvSpPr/>
          <p:nvPr/>
        </p:nvSpPr>
        <p:spPr>
          <a:xfrm>
            <a:off x="666750" y="1809750"/>
            <a:ext cx="47625" cy="361950"/>
          </a:xfrm>
          <a:prstGeom prst="rect">
            <a:avLst/>
          </a:prstGeom>
          <a:solidFill>
            <a:srgbClr val="4A7BF7"/>
          </a:solidFill>
          <a:ln>
            <a:noFill/>
          </a:ln>
        </p:spPr>
      </p:sp>
      <p:sp>
        <p:nvSpPr>
          <p:cNvPr id="13" name="TextBox 13"/>
          <p:cNvSpPr txBox="1"/>
          <p:nvPr/>
        </p:nvSpPr>
        <p:spPr>
          <a:xfrm>
            <a:off x="823912" y="1831181"/>
            <a:ext cx="658654"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混合检索</a:t>
            </a:r>
          </a:p>
        </p:txBody>
      </p:sp>
      <p:sp>
        <p:nvSpPr>
          <p:cNvPr id="14" name="TextBox 14"/>
          <p:cNvSpPr txBox="1"/>
          <p:nvPr/>
        </p:nvSpPr>
        <p:spPr>
          <a:xfrm>
            <a:off x="826770" y="2017395"/>
            <a:ext cx="2321147"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向量检索 + 关键词检索双路召回，融合排序</a:t>
            </a:r>
          </a:p>
        </p:txBody>
      </p:sp>
      <p:sp>
        <p:nvSpPr>
          <p:cNvPr id="15" name="Rectangle 15"/>
          <p:cNvSpPr/>
          <p:nvPr/>
        </p:nvSpPr>
        <p:spPr>
          <a:xfrm>
            <a:off x="666750" y="2305050"/>
            <a:ext cx="47625" cy="361950"/>
          </a:xfrm>
          <a:prstGeom prst="rect">
            <a:avLst/>
          </a:prstGeom>
          <a:solidFill>
            <a:srgbClr val="4A7BF7"/>
          </a:solidFill>
          <a:ln>
            <a:noFill/>
          </a:ln>
        </p:spPr>
      </p:sp>
      <p:sp>
        <p:nvSpPr>
          <p:cNvPr id="16" name="TextBox 16"/>
          <p:cNvSpPr txBox="1"/>
          <p:nvPr/>
        </p:nvSpPr>
        <p:spPr>
          <a:xfrm>
            <a:off x="823912" y="23264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相似度阈值调节</a:t>
            </a:r>
          </a:p>
        </p:txBody>
      </p:sp>
      <p:sp>
        <p:nvSpPr>
          <p:cNvPr id="17" name="TextBox 17"/>
          <p:cNvSpPr txBox="1"/>
          <p:nvPr/>
        </p:nvSpPr>
        <p:spPr>
          <a:xfrm>
            <a:off x="826770" y="2512695"/>
            <a:ext cx="182308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动态调节检索精度与召回率平衡点</a:t>
            </a:r>
          </a:p>
        </p:txBody>
      </p:sp>
      <p:sp>
        <p:nvSpPr>
          <p:cNvPr id="18" name="Rectangle 18"/>
          <p:cNvSpPr/>
          <p:nvPr/>
        </p:nvSpPr>
        <p:spPr>
          <a:xfrm>
            <a:off x="666750" y="2800350"/>
            <a:ext cx="47625" cy="361950"/>
          </a:xfrm>
          <a:prstGeom prst="rect">
            <a:avLst/>
          </a:prstGeom>
          <a:solidFill>
            <a:srgbClr val="4A7BF7"/>
          </a:solidFill>
          <a:ln>
            <a:noFill/>
          </a:ln>
        </p:spPr>
      </p:sp>
      <p:sp>
        <p:nvSpPr>
          <p:cNvPr id="19" name="TextBox 19"/>
          <p:cNvSpPr txBox="1"/>
          <p:nvPr/>
        </p:nvSpPr>
        <p:spPr>
          <a:xfrm>
            <a:off x="823912" y="28217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检索结果重排序</a:t>
            </a:r>
          </a:p>
        </p:txBody>
      </p:sp>
      <p:sp>
        <p:nvSpPr>
          <p:cNvPr id="20" name="TextBox 20"/>
          <p:cNvSpPr txBox="1"/>
          <p:nvPr/>
        </p:nvSpPr>
        <p:spPr>
          <a:xfrm>
            <a:off x="826770" y="3007995"/>
            <a:ext cx="210512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语义相关性二次排序，提升 Top-K 精度</a:t>
            </a:r>
          </a:p>
        </p:txBody>
      </p:sp>
      <p:sp>
        <p:nvSpPr>
          <p:cNvPr id="21" name="Rectangle 21"/>
          <p:cNvSpPr/>
          <p:nvPr/>
        </p:nvSpPr>
        <p:spPr>
          <a:xfrm>
            <a:off x="666750" y="3295650"/>
            <a:ext cx="47625" cy="361950"/>
          </a:xfrm>
          <a:prstGeom prst="rect">
            <a:avLst/>
          </a:prstGeom>
          <a:solidFill>
            <a:srgbClr val="4A7BF7"/>
          </a:solidFill>
          <a:ln>
            <a:noFill/>
          </a:ln>
        </p:spPr>
      </p:sp>
      <p:sp>
        <p:nvSpPr>
          <p:cNvPr id="22" name="TextBox 22"/>
          <p:cNvSpPr txBox="1"/>
          <p:nvPr/>
        </p:nvSpPr>
        <p:spPr>
          <a:xfrm>
            <a:off x="823912" y="3317081"/>
            <a:ext cx="1288732"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知识图谱辅助检索</a:t>
            </a:r>
          </a:p>
        </p:txBody>
      </p:sp>
      <p:sp>
        <p:nvSpPr>
          <p:cNvPr id="23" name="TextBox 23"/>
          <p:cNvSpPr txBox="1"/>
          <p:nvPr/>
        </p:nvSpPr>
        <p:spPr>
          <a:xfrm>
            <a:off x="826770" y="3503295"/>
            <a:ext cx="2027111"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GraphRAG 图结构检索，实体关系推理</a:t>
            </a:r>
          </a:p>
        </p:txBody>
      </p:sp>
      <p:sp>
        <p:nvSpPr>
          <p:cNvPr id="24" name="Rectangle 24"/>
          <p:cNvSpPr/>
          <p:nvPr/>
        </p:nvSpPr>
        <p:spPr>
          <a:xfrm>
            <a:off x="666750" y="3790950"/>
            <a:ext cx="47625" cy="361950"/>
          </a:xfrm>
          <a:prstGeom prst="rect">
            <a:avLst/>
          </a:prstGeom>
          <a:solidFill>
            <a:srgbClr val="4A7BF7"/>
          </a:solidFill>
          <a:ln>
            <a:noFill/>
          </a:ln>
        </p:spPr>
      </p:sp>
      <p:sp>
        <p:nvSpPr>
          <p:cNvPr id="25" name="TextBox 25"/>
          <p:cNvSpPr txBox="1"/>
          <p:nvPr/>
        </p:nvSpPr>
        <p:spPr>
          <a:xfrm>
            <a:off x="823912" y="3812381"/>
            <a:ext cx="81617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跨语言检索</a:t>
            </a:r>
          </a:p>
        </p:txBody>
      </p:sp>
      <p:sp>
        <p:nvSpPr>
          <p:cNvPr id="26" name="TextBox 26"/>
          <p:cNvSpPr txBox="1"/>
          <p:nvPr/>
        </p:nvSpPr>
        <p:spPr>
          <a:xfrm>
            <a:off x="826770" y="3998595"/>
            <a:ext cx="206311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支持中英文混合检索，跨语言语义对齐</a:t>
            </a:r>
          </a:p>
        </p:txBody>
      </p:sp>
      <p:sp>
        <p:nvSpPr>
          <p:cNvPr id="27" name="Rectangle 27"/>
          <p:cNvSpPr/>
          <p:nvPr/>
        </p:nvSpPr>
        <p:spPr>
          <a:xfrm>
            <a:off x="5905500" y="809625"/>
            <a:ext cx="590550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28" name="TextBox 28"/>
          <p:cNvSpPr txBox="1"/>
          <p:nvPr/>
        </p:nvSpPr>
        <p:spPr>
          <a:xfrm>
            <a:off x="6082665" y="982028"/>
            <a:ext cx="866775"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Segoe UI"/>
                <a:ea typeface="SimHei"/>
                <a:cs typeface="Segoe UI"/>
              </a:rPr>
              <a:t>知识检索界面</a:t>
            </a:r>
          </a:p>
        </p:txBody>
      </p:sp>
      <p:pic>
        <p:nvPicPr>
          <p:cNvPr id="29" name="Image 29"/>
          <p:cNvPicPr>
            <a:picLocks noChangeAspect="1"/>
          </p:cNvPicPr>
          <p:nvPr/>
        </p:nvPicPr>
        <p:blipFill>
          <a:blip r:embed="rId2"/>
          <a:srcRect l="0" t="3103" r="0" b="3103"/>
          <a:stretch>
            <a:fillRect/>
          </a:stretch>
        </p:blipFill>
        <p:spPr>
          <a:xfrm>
            <a:off x="6096000" y="1238250"/>
            <a:ext cx="5524500" cy="3238500"/>
          </a:xfrm>
          <a:prstGeom prst="rect">
            <a:avLst/>
          </a:prstGeom>
        </p:spPr>
      </p:pic>
      <p:sp>
        <p:nvSpPr>
          <p:cNvPr id="30" name="Rectangle 30"/>
          <p:cNvSpPr/>
          <p:nvPr/>
        </p:nvSpPr>
        <p:spPr>
          <a:xfrm>
            <a:off x="381000" y="4857750"/>
            <a:ext cx="11430000" cy="666750"/>
          </a:xfrm>
          <a:prstGeom prst="roundRect">
            <a:avLst>
              <a:gd name="adj" fmla="val 11429"/>
            </a:avLst>
          </a:prstGeom>
          <a:solidFill>
            <a:srgbClr val="FFFFFF"/>
          </a:solidFill>
          <a:ln>
            <a:noFill/>
          </a:ln>
          <a:effectLst>
            <a:outerShdw blurRad="76200" dist="19050" dir="5400000" algn="ctr" rotWithShape="0">
              <a:srgbClr val="000000">
                <a:alpha val="6000"/>
              </a:srgbClr>
            </a:outerShdw>
          </a:effectLst>
        </p:spPr>
      </p:sp>
      <p:sp>
        <p:nvSpPr>
          <p:cNvPr id="31" name="Rectangle 31"/>
          <p:cNvSpPr/>
          <p:nvPr/>
        </p:nvSpPr>
        <p:spPr>
          <a:xfrm>
            <a:off x="762000" y="5000625"/>
            <a:ext cx="1524000" cy="333375"/>
          </a:xfrm>
          <a:prstGeom prst="roundRect">
            <a:avLst>
              <a:gd name="adj" fmla="val 17143"/>
            </a:avLst>
          </a:prstGeom>
          <a:solidFill>
            <a:srgbClr val="E0E7FF"/>
          </a:solidFill>
          <a:ln>
            <a:noFill/>
          </a:ln>
        </p:spPr>
      </p:sp>
      <p:sp>
        <p:nvSpPr>
          <p:cNvPr id="32" name="TextBox 32"/>
          <p:cNvSpPr txBox="1"/>
          <p:nvPr/>
        </p:nvSpPr>
        <p:spPr>
          <a:xfrm>
            <a:off x="916793" y="5114449"/>
            <a:ext cx="1214414"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Elasticsearch 8.11</a:t>
            </a:r>
          </a:p>
        </p:txBody>
      </p:sp>
      <p:sp>
        <p:nvSpPr>
          <p:cNvPr id="33" name="Rectangle 33"/>
          <p:cNvSpPr/>
          <p:nvPr/>
        </p:nvSpPr>
        <p:spPr>
          <a:xfrm>
            <a:off x="2476500" y="5000625"/>
            <a:ext cx="1524000" cy="333375"/>
          </a:xfrm>
          <a:prstGeom prst="roundRect">
            <a:avLst>
              <a:gd name="adj" fmla="val 17143"/>
            </a:avLst>
          </a:prstGeom>
          <a:solidFill>
            <a:srgbClr val="D1FAE5"/>
          </a:solidFill>
          <a:ln>
            <a:noFill/>
          </a:ln>
        </p:spPr>
      </p:sp>
      <p:sp>
        <p:nvSpPr>
          <p:cNvPr id="34" name="TextBox 34"/>
          <p:cNvSpPr txBox="1"/>
          <p:nvPr/>
        </p:nvSpPr>
        <p:spPr>
          <a:xfrm>
            <a:off x="2800314" y="5114449"/>
            <a:ext cx="876371" cy="198120"/>
          </a:xfrm>
          <a:prstGeom prst="rect">
            <a:avLst/>
          </a:prstGeom>
          <a:noFill/>
          <a:ln>
            <a:noFill/>
          </a:ln>
        </p:spPr>
        <p:txBody>
          <a:bodyPr wrap="none" lIns="0" tIns="0" rIns="0" bIns="0" anchor="t" anchorCtr="0">
            <a:spAutoFit/>
          </a:bodyPr>
          <a:lstStyle/>
          <a:p>
            <a:pPr algn="ctr"/>
            <a:r>
              <a:rPr lang="zh-CN" sz="975" dirty="0">
                <a:solidFill>
                  <a:srgbClr val="059669"/>
                </a:solidFill>
                <a:latin typeface="Arial"/>
                <a:ea typeface="Microsoft YaHei"/>
                <a:cs typeface="Arial"/>
              </a:rPr>
              <a:t>向量+全文混合</a:t>
            </a:r>
          </a:p>
        </p:txBody>
      </p:sp>
      <p:sp>
        <p:nvSpPr>
          <p:cNvPr id="35" name="Rectangle 35"/>
          <p:cNvSpPr/>
          <p:nvPr/>
        </p:nvSpPr>
        <p:spPr>
          <a:xfrm>
            <a:off x="4191000" y="5000625"/>
            <a:ext cx="1524000" cy="333375"/>
          </a:xfrm>
          <a:prstGeom prst="roundRect">
            <a:avLst>
              <a:gd name="adj" fmla="val 17143"/>
            </a:avLst>
          </a:prstGeom>
          <a:solidFill>
            <a:srgbClr val="E0E7FF"/>
          </a:solidFill>
          <a:ln>
            <a:noFill/>
          </a:ln>
        </p:spPr>
      </p:sp>
      <p:sp>
        <p:nvSpPr>
          <p:cNvPr id="36" name="TextBox 36"/>
          <p:cNvSpPr txBox="1"/>
          <p:nvPr/>
        </p:nvSpPr>
        <p:spPr>
          <a:xfrm>
            <a:off x="4615577" y="5114449"/>
            <a:ext cx="674846"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语义重排序</a:t>
            </a:r>
          </a:p>
        </p:txBody>
      </p:sp>
      <p:sp>
        <p:nvSpPr>
          <p:cNvPr id="37" name="Rectangle 37"/>
          <p:cNvSpPr/>
          <p:nvPr/>
        </p:nvSpPr>
        <p:spPr>
          <a:xfrm>
            <a:off x="5905500" y="5000625"/>
            <a:ext cx="1524000" cy="333375"/>
          </a:xfrm>
          <a:prstGeom prst="roundRect">
            <a:avLst>
              <a:gd name="adj" fmla="val 17143"/>
            </a:avLst>
          </a:prstGeom>
          <a:solidFill>
            <a:srgbClr val="D1FAE5"/>
          </a:solidFill>
          <a:ln>
            <a:noFill/>
          </a:ln>
        </p:spPr>
      </p:sp>
      <p:sp>
        <p:nvSpPr>
          <p:cNvPr id="38" name="TextBox 38"/>
          <p:cNvSpPr txBox="1"/>
          <p:nvPr/>
        </p:nvSpPr>
        <p:spPr>
          <a:xfrm>
            <a:off x="6369082" y="5114449"/>
            <a:ext cx="596836" cy="198120"/>
          </a:xfrm>
          <a:prstGeom prst="rect">
            <a:avLst/>
          </a:prstGeom>
          <a:noFill/>
          <a:ln>
            <a:noFill/>
          </a:ln>
        </p:spPr>
        <p:txBody>
          <a:bodyPr wrap="none" lIns="0" tIns="0" rIns="0" bIns="0" anchor="t" anchorCtr="0">
            <a:spAutoFit/>
          </a:bodyPr>
          <a:lstStyle/>
          <a:p>
            <a:pPr algn="ctr"/>
            <a:r>
              <a:rPr lang="zh-CN" sz="975" dirty="0">
                <a:solidFill>
                  <a:srgbClr val="059669"/>
                </a:solidFill>
                <a:latin typeface="Arial"/>
                <a:ea typeface="Microsoft YaHei"/>
                <a:cs typeface="Arial"/>
              </a:rPr>
              <a:t>GraphRAG</a:t>
            </a:r>
          </a:p>
        </p:txBody>
      </p:sp>
      <p:sp>
        <p:nvSpPr>
          <p:cNvPr id="39" name="Rectangle 39"/>
          <p:cNvSpPr/>
          <p:nvPr/>
        </p:nvSpPr>
        <p:spPr>
          <a:xfrm>
            <a:off x="7620000" y="5000625"/>
            <a:ext cx="1524000" cy="333375"/>
          </a:xfrm>
          <a:prstGeom prst="roundRect">
            <a:avLst>
              <a:gd name="adj" fmla="val 17143"/>
            </a:avLst>
          </a:prstGeom>
          <a:solidFill>
            <a:srgbClr val="E0E7FF"/>
          </a:solidFill>
          <a:ln>
            <a:noFill/>
          </a:ln>
        </p:spPr>
      </p:sp>
      <p:sp>
        <p:nvSpPr>
          <p:cNvPr id="40" name="TextBox 40"/>
          <p:cNvSpPr txBox="1"/>
          <p:nvPr/>
        </p:nvSpPr>
        <p:spPr>
          <a:xfrm>
            <a:off x="8044577" y="5114449"/>
            <a:ext cx="674846"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跨语言检索</a:t>
            </a:r>
          </a:p>
        </p:txBody>
      </p:sp>
      <p:sp>
        <p:nvSpPr>
          <p:cNvPr id="41" name="TextBox 41"/>
          <p:cNvSpPr txBox="1"/>
          <p:nvPr/>
        </p:nvSpPr>
        <p:spPr>
          <a:xfrm>
            <a:off x="11273028" y="6570345"/>
            <a:ext cx="358902"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9 / 14</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3464166"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M3 交互式提示词工程模块</a:t>
            </a:r>
          </a:p>
        </p:txBody>
      </p:sp>
      <p:sp>
        <p:nvSpPr>
          <p:cNvPr id="5" name="TextBox 5"/>
          <p:cNvSpPr txBox="1"/>
          <p:nvPr/>
        </p:nvSpPr>
        <p:spPr>
          <a:xfrm>
            <a:off x="4368165" y="286702"/>
            <a:ext cx="2546985"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第三级：用户意图对齐与结构化回答生成</a:t>
            </a:r>
          </a:p>
        </p:txBody>
      </p:sp>
      <p:sp>
        <p:nvSpPr>
          <p:cNvPr id="6" name="Rectangle 6"/>
          <p:cNvSpPr/>
          <p:nvPr/>
        </p:nvSpPr>
        <p:spPr>
          <a:xfrm>
            <a:off x="381000" y="809625"/>
            <a:ext cx="523875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7" name="Rectangle 7"/>
          <p:cNvSpPr/>
          <p:nvPr/>
        </p:nvSpPr>
        <p:spPr>
          <a:xfrm>
            <a:off x="381000" y="809625"/>
            <a:ext cx="57150" cy="3810000"/>
          </a:xfrm>
          <a:prstGeom prst="rect">
            <a:avLst/>
          </a:prstGeom>
          <a:solidFill>
            <a:srgbClr val="4A7BF7"/>
          </a:solidFill>
          <a:ln>
            <a:noFill/>
          </a:ln>
        </p:spPr>
      </p:sp>
      <p:sp>
        <p:nvSpPr>
          <p:cNvPr id="8" name="TextBox 8"/>
          <p:cNvSpPr txBox="1"/>
          <p:nvPr/>
        </p:nvSpPr>
        <p:spPr>
          <a:xfrm>
            <a:off x="647700" y="962025"/>
            <a:ext cx="878205" cy="304800"/>
          </a:xfrm>
          <a:prstGeom prst="rect">
            <a:avLst/>
          </a:prstGeom>
          <a:noFill/>
          <a:ln>
            <a:noFill/>
          </a:ln>
        </p:spPr>
        <p:txBody>
          <a:bodyPr wrap="none" lIns="0" tIns="0" rIns="0" bIns="0" anchor="t" anchorCtr="0">
            <a:spAutoFit/>
          </a:bodyPr>
          <a:lstStyle/>
          <a:p>
            <a:pPr algn="l"/>
            <a:r>
              <a:rPr lang="zh-CN" sz="1500" b="1" dirty="0">
                <a:solidFill>
                  <a:srgbClr val="1E2761"/>
                </a:solidFill>
                <a:latin typeface="Segoe UI"/>
                <a:ea typeface="SimHei"/>
                <a:cs typeface="Segoe UI"/>
              </a:rPr>
              <a:t>核心能力</a:t>
            </a:r>
          </a:p>
        </p:txBody>
      </p:sp>
      <p:sp>
        <p:nvSpPr>
          <p:cNvPr id="9" name="Rectangle 9"/>
          <p:cNvSpPr/>
          <p:nvPr/>
        </p:nvSpPr>
        <p:spPr>
          <a:xfrm>
            <a:off x="666750" y="1314450"/>
            <a:ext cx="47625" cy="361950"/>
          </a:xfrm>
          <a:prstGeom prst="rect">
            <a:avLst/>
          </a:prstGeom>
          <a:solidFill>
            <a:srgbClr val="2DD4A8"/>
          </a:solidFill>
          <a:ln>
            <a:noFill/>
          </a:ln>
        </p:spPr>
      </p:sp>
      <p:sp>
        <p:nvSpPr>
          <p:cNvPr id="10" name="TextBox 10"/>
          <p:cNvSpPr txBox="1"/>
          <p:nvPr/>
        </p:nvSpPr>
        <p:spPr>
          <a:xfrm>
            <a:off x="823912" y="1335881"/>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聊天助手管理</a:t>
            </a:r>
          </a:p>
        </p:txBody>
      </p:sp>
      <p:sp>
        <p:nvSpPr>
          <p:cNvPr id="11" name="TextBox 11"/>
          <p:cNvSpPr txBox="1"/>
          <p:nvPr/>
        </p:nvSpPr>
        <p:spPr>
          <a:xfrm>
            <a:off x="826770" y="1522095"/>
            <a:ext cx="235715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创建、配置和管理专属 AI 助手，绑定知识库</a:t>
            </a:r>
          </a:p>
        </p:txBody>
      </p:sp>
      <p:sp>
        <p:nvSpPr>
          <p:cNvPr id="12" name="Rectangle 12"/>
          <p:cNvSpPr/>
          <p:nvPr/>
        </p:nvSpPr>
        <p:spPr>
          <a:xfrm>
            <a:off x="666750" y="1809750"/>
            <a:ext cx="47625" cy="361950"/>
          </a:xfrm>
          <a:prstGeom prst="rect">
            <a:avLst/>
          </a:prstGeom>
          <a:solidFill>
            <a:srgbClr val="2DD4A8"/>
          </a:solidFill>
          <a:ln>
            <a:noFill/>
          </a:ln>
        </p:spPr>
      </p:sp>
      <p:sp>
        <p:nvSpPr>
          <p:cNvPr id="13" name="TextBox 13"/>
          <p:cNvSpPr txBox="1"/>
          <p:nvPr/>
        </p:nvSpPr>
        <p:spPr>
          <a:xfrm>
            <a:off x="823912" y="18311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系统提示词配置</a:t>
            </a:r>
          </a:p>
        </p:txBody>
      </p:sp>
      <p:sp>
        <p:nvSpPr>
          <p:cNvPr id="14" name="TextBox 14"/>
          <p:cNvSpPr txBox="1"/>
          <p:nvPr/>
        </p:nvSpPr>
        <p:spPr>
          <a:xfrm>
            <a:off x="826770" y="2017395"/>
            <a:ext cx="194310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定制助手角色、行为规范和回答风格</a:t>
            </a:r>
          </a:p>
        </p:txBody>
      </p:sp>
      <p:sp>
        <p:nvSpPr>
          <p:cNvPr id="15" name="Rectangle 15"/>
          <p:cNvSpPr/>
          <p:nvPr/>
        </p:nvSpPr>
        <p:spPr>
          <a:xfrm>
            <a:off x="666750" y="2305050"/>
            <a:ext cx="47625" cy="361950"/>
          </a:xfrm>
          <a:prstGeom prst="rect">
            <a:avLst/>
          </a:prstGeom>
          <a:solidFill>
            <a:srgbClr val="2DD4A8"/>
          </a:solidFill>
          <a:ln>
            <a:noFill/>
          </a:ln>
        </p:spPr>
      </p:sp>
      <p:sp>
        <p:nvSpPr>
          <p:cNvPr id="16" name="TextBox 16"/>
          <p:cNvSpPr txBox="1"/>
          <p:nvPr/>
        </p:nvSpPr>
        <p:spPr>
          <a:xfrm>
            <a:off x="823912" y="2326481"/>
            <a:ext cx="113121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多轮上下文对话</a:t>
            </a:r>
          </a:p>
        </p:txBody>
      </p:sp>
      <p:sp>
        <p:nvSpPr>
          <p:cNvPr id="17" name="TextBox 17"/>
          <p:cNvSpPr txBox="1"/>
          <p:nvPr/>
        </p:nvSpPr>
        <p:spPr>
          <a:xfrm>
            <a:off x="826770" y="2512695"/>
            <a:ext cx="206311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保持对话历史和上下文连贯，支持追问</a:t>
            </a:r>
          </a:p>
        </p:txBody>
      </p:sp>
      <p:sp>
        <p:nvSpPr>
          <p:cNvPr id="18" name="Rectangle 18"/>
          <p:cNvSpPr/>
          <p:nvPr/>
        </p:nvSpPr>
        <p:spPr>
          <a:xfrm>
            <a:off x="666750" y="2800350"/>
            <a:ext cx="47625" cy="361950"/>
          </a:xfrm>
          <a:prstGeom prst="rect">
            <a:avLst/>
          </a:prstGeom>
          <a:solidFill>
            <a:srgbClr val="2DD4A8"/>
          </a:solidFill>
          <a:ln>
            <a:noFill/>
          </a:ln>
        </p:spPr>
      </p:sp>
      <p:sp>
        <p:nvSpPr>
          <p:cNvPr id="19" name="TextBox 19"/>
          <p:cNvSpPr txBox="1"/>
          <p:nvPr/>
        </p:nvSpPr>
        <p:spPr>
          <a:xfrm>
            <a:off x="823912" y="2821781"/>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流式响应输出</a:t>
            </a:r>
          </a:p>
        </p:txBody>
      </p:sp>
      <p:sp>
        <p:nvSpPr>
          <p:cNvPr id="20" name="TextBox 20"/>
          <p:cNvSpPr txBox="1"/>
          <p:nvPr/>
        </p:nvSpPr>
        <p:spPr>
          <a:xfrm>
            <a:off x="826770" y="3007995"/>
            <a:ext cx="1817084"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SSE 实时逐字输出，提升交互体验</a:t>
            </a:r>
          </a:p>
        </p:txBody>
      </p:sp>
      <p:sp>
        <p:nvSpPr>
          <p:cNvPr id="21" name="Rectangle 21"/>
          <p:cNvSpPr/>
          <p:nvPr/>
        </p:nvSpPr>
        <p:spPr>
          <a:xfrm>
            <a:off x="666750" y="3295650"/>
            <a:ext cx="47625" cy="361950"/>
          </a:xfrm>
          <a:prstGeom prst="rect">
            <a:avLst/>
          </a:prstGeom>
          <a:solidFill>
            <a:srgbClr val="2DD4A8"/>
          </a:solidFill>
          <a:ln>
            <a:noFill/>
          </a:ln>
        </p:spPr>
      </p:sp>
      <p:sp>
        <p:nvSpPr>
          <p:cNvPr id="22" name="TextBox 22"/>
          <p:cNvSpPr txBox="1"/>
          <p:nvPr/>
        </p:nvSpPr>
        <p:spPr>
          <a:xfrm>
            <a:off x="823912" y="3317081"/>
            <a:ext cx="658654"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引用溯源</a:t>
            </a:r>
          </a:p>
        </p:txBody>
      </p:sp>
      <p:sp>
        <p:nvSpPr>
          <p:cNvPr id="23" name="TextBox 23"/>
          <p:cNvSpPr txBox="1"/>
          <p:nvPr/>
        </p:nvSpPr>
        <p:spPr>
          <a:xfrm>
            <a:off x="826770" y="3503295"/>
            <a:ext cx="194310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回答附带来源文档引用，可追溯验证</a:t>
            </a:r>
          </a:p>
        </p:txBody>
      </p:sp>
      <p:sp>
        <p:nvSpPr>
          <p:cNvPr id="24" name="Rectangle 24"/>
          <p:cNvSpPr/>
          <p:nvPr/>
        </p:nvSpPr>
        <p:spPr>
          <a:xfrm>
            <a:off x="666750" y="3790950"/>
            <a:ext cx="47625" cy="361950"/>
          </a:xfrm>
          <a:prstGeom prst="rect">
            <a:avLst/>
          </a:prstGeom>
          <a:solidFill>
            <a:srgbClr val="2DD4A8"/>
          </a:solidFill>
          <a:ln>
            <a:noFill/>
          </a:ln>
        </p:spPr>
      </p:sp>
      <p:sp>
        <p:nvSpPr>
          <p:cNvPr id="25" name="TextBox 25"/>
          <p:cNvSpPr txBox="1"/>
          <p:nvPr/>
        </p:nvSpPr>
        <p:spPr>
          <a:xfrm>
            <a:off x="823912" y="3812381"/>
            <a:ext cx="973693"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动态提示模板</a:t>
            </a:r>
          </a:p>
        </p:txBody>
      </p:sp>
      <p:sp>
        <p:nvSpPr>
          <p:cNvPr id="26" name="TextBox 26"/>
          <p:cNvSpPr txBox="1"/>
          <p:nvPr/>
        </p:nvSpPr>
        <p:spPr>
          <a:xfrm>
            <a:off x="826770" y="3998595"/>
            <a:ext cx="194310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模板引擎支持结构化约束，灵活定制</a:t>
            </a:r>
          </a:p>
        </p:txBody>
      </p:sp>
      <p:sp>
        <p:nvSpPr>
          <p:cNvPr id="27" name="Rectangle 27"/>
          <p:cNvSpPr/>
          <p:nvPr/>
        </p:nvSpPr>
        <p:spPr>
          <a:xfrm>
            <a:off x="5905500" y="809625"/>
            <a:ext cx="5905500" cy="3810000"/>
          </a:xfrm>
          <a:prstGeom prst="roundRect">
            <a:avLst>
              <a:gd name="adj" fmla="val 2500"/>
            </a:avLst>
          </a:prstGeom>
          <a:solidFill>
            <a:srgbClr val="FFFFFF"/>
          </a:solidFill>
          <a:ln>
            <a:noFill/>
          </a:ln>
          <a:effectLst>
            <a:outerShdw blurRad="76200" dist="19050" dir="5400000" algn="ctr" rotWithShape="0">
              <a:srgbClr val="000000">
                <a:alpha val="6000"/>
              </a:srgbClr>
            </a:outerShdw>
          </a:effectLst>
        </p:spPr>
      </p:sp>
      <p:sp>
        <p:nvSpPr>
          <p:cNvPr id="28" name="TextBox 28"/>
          <p:cNvSpPr txBox="1"/>
          <p:nvPr/>
        </p:nvSpPr>
        <p:spPr>
          <a:xfrm>
            <a:off x="6082665" y="982028"/>
            <a:ext cx="866775"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Segoe UI"/>
                <a:ea typeface="SimHei"/>
                <a:cs typeface="Segoe UI"/>
              </a:rPr>
              <a:t>智能问答界面</a:t>
            </a:r>
          </a:p>
        </p:txBody>
      </p:sp>
      <p:pic>
        <p:nvPicPr>
          <p:cNvPr id="29" name="Image 29"/>
          <p:cNvPicPr>
            <a:picLocks noChangeAspect="1"/>
          </p:cNvPicPr>
          <p:nvPr/>
        </p:nvPicPr>
        <p:blipFill>
          <a:blip r:embed="rId2"/>
          <a:srcRect l="0" t="3103" r="0" b="3103"/>
          <a:stretch>
            <a:fillRect/>
          </a:stretch>
        </p:blipFill>
        <p:spPr>
          <a:xfrm>
            <a:off x="6096000" y="1238250"/>
            <a:ext cx="5524500" cy="3238500"/>
          </a:xfrm>
          <a:prstGeom prst="rect">
            <a:avLst/>
          </a:prstGeom>
        </p:spPr>
      </p:pic>
      <p:sp>
        <p:nvSpPr>
          <p:cNvPr id="30" name="Rectangle 30"/>
          <p:cNvSpPr/>
          <p:nvPr/>
        </p:nvSpPr>
        <p:spPr>
          <a:xfrm>
            <a:off x="381000" y="4857750"/>
            <a:ext cx="11430000" cy="666750"/>
          </a:xfrm>
          <a:prstGeom prst="roundRect">
            <a:avLst>
              <a:gd name="adj" fmla="val 11429"/>
            </a:avLst>
          </a:prstGeom>
          <a:solidFill>
            <a:srgbClr val="FFFFFF"/>
          </a:solidFill>
          <a:ln>
            <a:noFill/>
          </a:ln>
          <a:effectLst>
            <a:outerShdw blurRad="76200" dist="19050" dir="5400000" algn="ctr" rotWithShape="0">
              <a:srgbClr val="000000">
                <a:alpha val="6000"/>
              </a:srgbClr>
            </a:outerShdw>
          </a:effectLst>
        </p:spPr>
      </p:sp>
      <p:sp>
        <p:nvSpPr>
          <p:cNvPr id="31" name="Rectangle 31"/>
          <p:cNvSpPr/>
          <p:nvPr/>
        </p:nvSpPr>
        <p:spPr>
          <a:xfrm>
            <a:off x="762000" y="5000625"/>
            <a:ext cx="1524000" cy="333375"/>
          </a:xfrm>
          <a:prstGeom prst="roundRect">
            <a:avLst>
              <a:gd name="adj" fmla="val 17143"/>
            </a:avLst>
          </a:prstGeom>
          <a:solidFill>
            <a:srgbClr val="1E2761"/>
          </a:solidFill>
          <a:ln>
            <a:noFill/>
          </a:ln>
        </p:spPr>
      </p:sp>
      <p:sp>
        <p:nvSpPr>
          <p:cNvPr id="32" name="TextBox 32"/>
          <p:cNvSpPr txBox="1"/>
          <p:nvPr/>
        </p:nvSpPr>
        <p:spPr>
          <a:xfrm>
            <a:off x="1014305" y="5114449"/>
            <a:ext cx="1019389"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GLM-9B 本地LLM</a:t>
            </a:r>
          </a:p>
        </p:txBody>
      </p:sp>
      <p:sp>
        <p:nvSpPr>
          <p:cNvPr id="33" name="Rectangle 33"/>
          <p:cNvSpPr/>
          <p:nvPr/>
        </p:nvSpPr>
        <p:spPr>
          <a:xfrm>
            <a:off x="2476500" y="5000625"/>
            <a:ext cx="1524000" cy="333375"/>
          </a:xfrm>
          <a:prstGeom prst="roundRect">
            <a:avLst>
              <a:gd name="adj" fmla="val 17143"/>
            </a:avLst>
          </a:prstGeom>
          <a:solidFill>
            <a:srgbClr val="D1FAE5"/>
          </a:solidFill>
          <a:ln>
            <a:noFill/>
          </a:ln>
        </p:spPr>
      </p:sp>
      <p:sp>
        <p:nvSpPr>
          <p:cNvPr id="34" name="TextBox 34"/>
          <p:cNvSpPr txBox="1"/>
          <p:nvPr/>
        </p:nvSpPr>
        <p:spPr>
          <a:xfrm>
            <a:off x="2819817" y="5114449"/>
            <a:ext cx="837367" cy="198120"/>
          </a:xfrm>
          <a:prstGeom prst="rect">
            <a:avLst/>
          </a:prstGeom>
          <a:noFill/>
          <a:ln>
            <a:noFill/>
          </a:ln>
        </p:spPr>
        <p:txBody>
          <a:bodyPr wrap="none" lIns="0" tIns="0" rIns="0" bIns="0" anchor="t" anchorCtr="0">
            <a:spAutoFit/>
          </a:bodyPr>
          <a:lstStyle/>
          <a:p>
            <a:pPr algn="ctr"/>
            <a:r>
              <a:rPr lang="zh-CN" sz="975" dirty="0">
                <a:solidFill>
                  <a:srgbClr val="059669"/>
                </a:solidFill>
                <a:latin typeface="Arial"/>
                <a:ea typeface="Microsoft YaHei"/>
                <a:cs typeface="Arial"/>
              </a:rPr>
              <a:t>流式 SSE 响应</a:t>
            </a:r>
          </a:p>
        </p:txBody>
      </p:sp>
      <p:sp>
        <p:nvSpPr>
          <p:cNvPr id="35" name="Rectangle 35"/>
          <p:cNvSpPr/>
          <p:nvPr/>
        </p:nvSpPr>
        <p:spPr>
          <a:xfrm>
            <a:off x="4191000" y="5000625"/>
            <a:ext cx="1524000" cy="333375"/>
          </a:xfrm>
          <a:prstGeom prst="roundRect">
            <a:avLst>
              <a:gd name="adj" fmla="val 17143"/>
            </a:avLst>
          </a:prstGeom>
          <a:solidFill>
            <a:srgbClr val="E0E7FF"/>
          </a:solidFill>
          <a:ln>
            <a:noFill/>
          </a:ln>
        </p:spPr>
      </p:sp>
      <p:sp>
        <p:nvSpPr>
          <p:cNvPr id="36" name="TextBox 36"/>
          <p:cNvSpPr txBox="1"/>
          <p:nvPr/>
        </p:nvSpPr>
        <p:spPr>
          <a:xfrm>
            <a:off x="4680585" y="5114449"/>
            <a:ext cx="544830"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引用溯源</a:t>
            </a:r>
          </a:p>
        </p:txBody>
      </p:sp>
      <p:sp>
        <p:nvSpPr>
          <p:cNvPr id="37" name="Rectangle 37"/>
          <p:cNvSpPr/>
          <p:nvPr/>
        </p:nvSpPr>
        <p:spPr>
          <a:xfrm>
            <a:off x="5905500" y="5000625"/>
            <a:ext cx="1714500" cy="333375"/>
          </a:xfrm>
          <a:prstGeom prst="roundRect">
            <a:avLst>
              <a:gd name="adj" fmla="val 17143"/>
            </a:avLst>
          </a:prstGeom>
          <a:solidFill>
            <a:srgbClr val="E0E7FF"/>
          </a:solidFill>
          <a:ln>
            <a:noFill/>
          </a:ln>
        </p:spPr>
      </p:sp>
      <p:sp>
        <p:nvSpPr>
          <p:cNvPr id="38" name="TextBox 38"/>
          <p:cNvSpPr txBox="1"/>
          <p:nvPr/>
        </p:nvSpPr>
        <p:spPr>
          <a:xfrm>
            <a:off x="6230302" y="5114449"/>
            <a:ext cx="1064895" cy="198120"/>
          </a:xfrm>
          <a:prstGeom prst="rect">
            <a:avLst/>
          </a:prstGeom>
          <a:noFill/>
          <a:ln>
            <a:noFill/>
          </a:ln>
        </p:spPr>
        <p:txBody>
          <a:bodyPr wrap="none" lIns="0" tIns="0" rIns="0" bIns="0" anchor="t" anchorCtr="0">
            <a:spAutoFit/>
          </a:bodyPr>
          <a:lstStyle/>
          <a:p>
            <a:pPr algn="ctr"/>
            <a:r>
              <a:rPr lang="zh-CN" sz="975" dirty="0">
                <a:solidFill>
                  <a:srgbClr val="1E2761"/>
                </a:solidFill>
                <a:latin typeface="Arial"/>
                <a:ea typeface="Microsoft YaHei"/>
                <a:cs typeface="Arial"/>
              </a:rPr>
              <a:t>动态提示模板引擎</a:t>
            </a:r>
          </a:p>
        </p:txBody>
      </p:sp>
      <p:sp>
        <p:nvSpPr>
          <p:cNvPr id="39" name="TextBox 39"/>
          <p:cNvSpPr txBox="1"/>
          <p:nvPr/>
        </p:nvSpPr>
        <p:spPr>
          <a:xfrm>
            <a:off x="11207020" y="6570345"/>
            <a:ext cx="424910"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10 / 14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229487"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接口设计</a:t>
            </a:r>
          </a:p>
        </p:txBody>
      </p:sp>
      <p:sp>
        <p:nvSpPr>
          <p:cNvPr id="5" name="TextBox 5"/>
          <p:cNvSpPr txBox="1"/>
          <p:nvPr/>
        </p:nvSpPr>
        <p:spPr>
          <a:xfrm>
            <a:off x="1796415" y="286702"/>
            <a:ext cx="1846898"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外部接口关系与内部接口设计</a:t>
            </a:r>
          </a:p>
        </p:txBody>
      </p:sp>
      <p:sp>
        <p:nvSpPr>
          <p:cNvPr id="6" name="Rectangle 6"/>
          <p:cNvSpPr/>
          <p:nvPr/>
        </p:nvSpPr>
        <p:spPr>
          <a:xfrm>
            <a:off x="4191000" y="2095500"/>
            <a:ext cx="3810000" cy="2667000"/>
          </a:xfrm>
          <a:prstGeom prst="roundRect">
            <a:avLst>
              <a:gd name="adj" fmla="val 4286"/>
            </a:avLst>
          </a:prstGeom>
          <a:solidFill>
            <a:srgbClr val="1E2761"/>
          </a:solidFill>
          <a:ln>
            <a:noFill/>
          </a:ln>
        </p:spPr>
      </p:sp>
      <p:sp>
        <p:nvSpPr>
          <p:cNvPr id="7" name="TextBox 7"/>
          <p:cNvSpPr txBox="1"/>
          <p:nvPr/>
        </p:nvSpPr>
        <p:spPr>
          <a:xfrm>
            <a:off x="5504628" y="2314575"/>
            <a:ext cx="1182743"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SimHei"/>
                <a:cs typeface="Segoe UI"/>
              </a:rPr>
              <a:t>DARPA-IQAS</a:t>
            </a:r>
          </a:p>
        </p:txBody>
      </p:sp>
      <p:sp>
        <p:nvSpPr>
          <p:cNvPr id="8" name="TextBox 8"/>
          <p:cNvSpPr txBox="1"/>
          <p:nvPr/>
        </p:nvSpPr>
        <p:spPr>
          <a:xfrm>
            <a:off x="5563552" y="2609374"/>
            <a:ext cx="1064895" cy="198120"/>
          </a:xfrm>
          <a:prstGeom prst="rect">
            <a:avLst/>
          </a:prstGeom>
          <a:noFill/>
          <a:ln>
            <a:noFill/>
          </a:ln>
        </p:spPr>
        <p:txBody>
          <a:bodyPr wrap="none" lIns="0" tIns="0" rIns="0" bIns="0" anchor="t" anchorCtr="0">
            <a:spAutoFit/>
          </a:bodyPr>
          <a:lstStyle/>
          <a:p>
            <a:pPr algn="ctr"/>
            <a:r>
              <a:rPr lang="zh-CN" sz="975" dirty="0">
                <a:solidFill>
                  <a:srgbClr val="CADCFC"/>
                </a:solidFill>
                <a:latin typeface="Arial"/>
                <a:ea typeface="Microsoft YaHei"/>
                <a:cs typeface="Arial"/>
              </a:rPr>
              <a:t>智能问答服务工具</a:t>
            </a:r>
          </a:p>
        </p:txBody>
      </p:sp>
      <p:sp>
        <p:nvSpPr>
          <p:cNvPr id="9" name="Rectangle 9"/>
          <p:cNvSpPr/>
          <p:nvPr/>
        </p:nvSpPr>
        <p:spPr>
          <a:xfrm>
            <a:off x="4381500" y="2952750"/>
            <a:ext cx="1619250" cy="381000"/>
          </a:xfrm>
          <a:prstGeom prst="roundRect">
            <a:avLst>
              <a:gd name="adj" fmla="val 15000"/>
            </a:avLst>
          </a:prstGeom>
          <a:solidFill>
            <a:srgbClr val="2DD4A8"/>
          </a:solidFill>
          <a:ln>
            <a:noFill/>
          </a:ln>
        </p:spPr>
      </p:sp>
      <p:sp>
        <p:nvSpPr>
          <p:cNvPr id="10" name="TextBox 10"/>
          <p:cNvSpPr txBox="1"/>
          <p:nvPr/>
        </p:nvSpPr>
        <p:spPr>
          <a:xfrm>
            <a:off x="4732639" y="3093720"/>
            <a:ext cx="916972"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gaisoft-server</a:t>
            </a:r>
          </a:p>
        </p:txBody>
      </p:sp>
      <p:sp>
        <p:nvSpPr>
          <p:cNvPr id="11" name="Rectangle 11"/>
          <p:cNvSpPr/>
          <p:nvPr/>
        </p:nvSpPr>
        <p:spPr>
          <a:xfrm>
            <a:off x="6191250" y="2952750"/>
            <a:ext cx="1619250" cy="381000"/>
          </a:xfrm>
          <a:prstGeom prst="roundRect">
            <a:avLst>
              <a:gd name="adj" fmla="val 15000"/>
            </a:avLst>
          </a:prstGeom>
          <a:solidFill>
            <a:srgbClr val="4A7BF7"/>
          </a:solidFill>
          <a:ln>
            <a:noFill/>
          </a:ln>
        </p:spPr>
      </p:sp>
      <p:sp>
        <p:nvSpPr>
          <p:cNvPr id="12" name="TextBox 12"/>
          <p:cNvSpPr txBox="1"/>
          <p:nvPr/>
        </p:nvSpPr>
        <p:spPr>
          <a:xfrm>
            <a:off x="6530388" y="3093720"/>
            <a:ext cx="94097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ragflow-server</a:t>
            </a:r>
          </a:p>
        </p:txBody>
      </p:sp>
      <p:sp>
        <p:nvSpPr>
          <p:cNvPr id="13" name="Rectangle 13"/>
          <p:cNvSpPr/>
          <p:nvPr/>
        </p:nvSpPr>
        <p:spPr>
          <a:xfrm>
            <a:off x="4381500" y="3524250"/>
            <a:ext cx="1619250" cy="333375"/>
          </a:xfrm>
          <a:prstGeom prst="roundRect">
            <a:avLst>
              <a:gd name="adj" fmla="val 17143"/>
            </a:avLst>
          </a:prstGeom>
          <a:solidFill>
            <a:srgbClr val="FFFFFF">
              <a:alpha val="20000"/>
            </a:srgbClr>
          </a:solidFill>
          <a:ln>
            <a:noFill/>
          </a:ln>
        </p:spPr>
      </p:sp>
      <p:sp>
        <p:nvSpPr>
          <p:cNvPr id="14" name="TextBox 14"/>
          <p:cNvSpPr txBox="1"/>
          <p:nvPr/>
        </p:nvSpPr>
        <p:spPr>
          <a:xfrm>
            <a:off x="4806601" y="3644741"/>
            <a:ext cx="769048"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MySQL / Redis</a:t>
            </a:r>
          </a:p>
        </p:txBody>
      </p:sp>
      <p:sp>
        <p:nvSpPr>
          <p:cNvPr id="15" name="Rectangle 15"/>
          <p:cNvSpPr/>
          <p:nvPr/>
        </p:nvSpPr>
        <p:spPr>
          <a:xfrm>
            <a:off x="6191250" y="3524250"/>
            <a:ext cx="1619250" cy="333375"/>
          </a:xfrm>
          <a:prstGeom prst="roundRect">
            <a:avLst>
              <a:gd name="adj" fmla="val 17143"/>
            </a:avLst>
          </a:prstGeom>
          <a:solidFill>
            <a:srgbClr val="FFFFFF">
              <a:alpha val="20000"/>
            </a:srgbClr>
          </a:solidFill>
          <a:ln>
            <a:noFill/>
          </a:ln>
        </p:spPr>
      </p:sp>
      <p:sp>
        <p:nvSpPr>
          <p:cNvPr id="16" name="TextBox 16"/>
          <p:cNvSpPr txBox="1"/>
          <p:nvPr/>
        </p:nvSpPr>
        <p:spPr>
          <a:xfrm>
            <a:off x="6720864" y="3644741"/>
            <a:ext cx="560022"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ES / MinIO</a:t>
            </a:r>
          </a:p>
        </p:txBody>
      </p:sp>
      <p:sp>
        <p:nvSpPr>
          <p:cNvPr id="17" name="Rectangle 17"/>
          <p:cNvSpPr/>
          <p:nvPr/>
        </p:nvSpPr>
        <p:spPr>
          <a:xfrm>
            <a:off x="4381500" y="4000500"/>
            <a:ext cx="3429000" cy="333375"/>
          </a:xfrm>
          <a:prstGeom prst="roundRect">
            <a:avLst>
              <a:gd name="adj" fmla="val 17143"/>
            </a:avLst>
          </a:prstGeom>
          <a:solidFill>
            <a:srgbClr val="FFFFFF">
              <a:alpha val="15000"/>
            </a:srgbClr>
          </a:solidFill>
          <a:ln>
            <a:noFill/>
          </a:ln>
        </p:spPr>
      </p:sp>
      <p:sp>
        <p:nvSpPr>
          <p:cNvPr id="18" name="TextBox 18"/>
          <p:cNvSpPr txBox="1"/>
          <p:nvPr/>
        </p:nvSpPr>
        <p:spPr>
          <a:xfrm>
            <a:off x="5411688" y="4120991"/>
            <a:ext cx="1368623"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GLM-9B 本地 LLM 推理引擎</a:t>
            </a:r>
          </a:p>
        </p:txBody>
      </p:sp>
      <p:sp>
        <p:nvSpPr>
          <p:cNvPr id="19" name="Line 19"/>
          <p:cNvSpPr/>
          <p:nvPr/>
        </p:nvSpPr>
        <p:spPr>
          <a:xfrm>
            <a:off x="6000750" y="3143250"/>
            <a:ext cx="190500" cy="9525"/>
          </a:xfrm>
          <a:custGeom>
            <a:avLst/>
            <a:gdLst/>
            <a:ahLst/>
            <a:cxnLst/>
            <a:rect l="l" t="t" r="r" b="b"/>
            <a:pathLst>
              <a:path w="190500" h="9525">
                <a:moveTo>
                  <a:pt x="0" y="0"/>
                </a:moveTo>
                <a:lnTo>
                  <a:pt x="190500" y="0"/>
                </a:lnTo>
              </a:path>
            </a:pathLst>
          </a:custGeom>
          <a:noFill/>
          <a:ln w="14288">
            <a:solidFill>
              <a:srgbClr val="CADCFC"/>
            </a:solidFill>
          </a:ln>
        </p:spPr>
      </p:sp>
      <p:sp>
        <p:nvSpPr>
          <p:cNvPr id="20" name="Line 20"/>
          <p:cNvSpPr/>
          <p:nvPr/>
        </p:nvSpPr>
        <p:spPr>
          <a:xfrm>
            <a:off x="5191125" y="3333750"/>
            <a:ext cx="9525" cy="190500"/>
          </a:xfrm>
          <a:custGeom>
            <a:avLst/>
            <a:gdLst/>
            <a:ahLst/>
            <a:cxnLst/>
            <a:rect l="l" t="t" r="r" b="b"/>
            <a:pathLst>
              <a:path w="9525" h="190500">
                <a:moveTo>
                  <a:pt x="0" y="0"/>
                </a:moveTo>
                <a:lnTo>
                  <a:pt x="0" y="190500"/>
                </a:lnTo>
              </a:path>
            </a:pathLst>
          </a:custGeom>
          <a:noFill/>
          <a:ln w="9525">
            <a:solidFill>
              <a:srgbClr val="CADCFC"/>
            </a:solidFill>
            <a:custDash>
              <a:ds d="300000" sp="300000"/>
            </a:custDash>
          </a:ln>
        </p:spPr>
      </p:sp>
      <p:sp>
        <p:nvSpPr>
          <p:cNvPr id="21" name="Line 21"/>
          <p:cNvSpPr/>
          <p:nvPr/>
        </p:nvSpPr>
        <p:spPr>
          <a:xfrm>
            <a:off x="7000875" y="3333750"/>
            <a:ext cx="9525" cy="190500"/>
          </a:xfrm>
          <a:custGeom>
            <a:avLst/>
            <a:gdLst/>
            <a:ahLst/>
            <a:cxnLst/>
            <a:rect l="l" t="t" r="r" b="b"/>
            <a:pathLst>
              <a:path w="9525" h="190500">
                <a:moveTo>
                  <a:pt x="0" y="0"/>
                </a:moveTo>
                <a:lnTo>
                  <a:pt x="0" y="190500"/>
                </a:lnTo>
              </a:path>
            </a:pathLst>
          </a:custGeom>
          <a:noFill/>
          <a:ln w="9525">
            <a:solidFill>
              <a:srgbClr val="CADCFC"/>
            </a:solidFill>
            <a:custDash>
              <a:ds d="300000" sp="300000"/>
            </a:custDash>
          </a:ln>
        </p:spPr>
      </p:sp>
      <p:sp>
        <p:nvSpPr>
          <p:cNvPr id="22" name="Rectangle 22"/>
          <p:cNvSpPr/>
          <p:nvPr/>
        </p:nvSpPr>
        <p:spPr>
          <a:xfrm>
            <a:off x="4953000" y="952500"/>
            <a:ext cx="2286000" cy="571500"/>
          </a:xfrm>
          <a:prstGeom prst="roundRect">
            <a:avLst>
              <a:gd name="adj" fmla="val 50000"/>
            </a:avLst>
          </a:prstGeom>
          <a:solidFill>
            <a:srgbClr val="4A7BF7"/>
          </a:solidFill>
          <a:ln>
            <a:noFill/>
          </a:ln>
        </p:spPr>
      </p:sp>
      <p:sp>
        <p:nvSpPr>
          <p:cNvPr id="23" name="TextBox 23"/>
          <p:cNvSpPr txBox="1"/>
          <p:nvPr/>
        </p:nvSpPr>
        <p:spPr>
          <a:xfrm>
            <a:off x="5576697" y="116586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SimHei"/>
                <a:cs typeface="Segoe UI"/>
              </a:rPr>
              <a:t>军事科研用户</a:t>
            </a:r>
          </a:p>
        </p:txBody>
      </p:sp>
      <p:sp>
        <p:nvSpPr>
          <p:cNvPr id="24" name="Line 24"/>
          <p:cNvSpPr/>
          <p:nvPr/>
        </p:nvSpPr>
        <p:spPr>
          <a:xfrm>
            <a:off x="6096000" y="1524000"/>
            <a:ext cx="1" cy="571500"/>
          </a:xfrm>
          <a:prstGeom prst="line">
            <a:avLst/>
          </a:prstGeom>
          <a:noFill/>
          <a:ln w="19050">
            <a:solidFill>
              <a:srgbClr val="4A7BF7"/>
            </a:solidFill>
            <a:tailEnd type="triangle" w="lg" len="lg"/>
          </a:ln>
        </p:spPr>
      </p:sp>
      <p:sp>
        <p:nvSpPr>
          <p:cNvPr id="25" name="TextBox 25"/>
          <p:cNvSpPr txBox="1"/>
          <p:nvPr/>
        </p:nvSpPr>
        <p:spPr>
          <a:xfrm>
            <a:off x="6276022" y="1768316"/>
            <a:ext cx="692039" cy="167640"/>
          </a:xfrm>
          <a:prstGeom prst="rect">
            <a:avLst/>
          </a:prstGeom>
          <a:noFill/>
          <a:ln>
            <a:noFill/>
          </a:ln>
        </p:spPr>
        <p:txBody>
          <a:bodyPr wrap="none" lIns="0" tIns="0" rIns="0" bIns="0" anchor="t" anchorCtr="0">
            <a:spAutoFit/>
          </a:bodyPr>
          <a:lstStyle/>
          <a:p>
            <a:pPr algn="l"/>
            <a:r>
              <a:rPr lang="zh-CN" sz="825" dirty="0">
                <a:solidFill>
                  <a:srgbClr val="4A7BF7"/>
                </a:solidFill>
                <a:latin typeface="Arial"/>
                <a:ea typeface="Microsoft YaHei"/>
                <a:cs typeface="Arial"/>
              </a:rPr>
              <a:t>HTTP / HTTPS</a:t>
            </a:r>
          </a:p>
        </p:txBody>
      </p:sp>
      <p:sp>
        <p:nvSpPr>
          <p:cNvPr id="26" name="Rectangle 26"/>
          <p:cNvSpPr/>
          <p:nvPr/>
        </p:nvSpPr>
        <p:spPr>
          <a:xfrm>
            <a:off x="381000" y="2857500"/>
            <a:ext cx="1905000" cy="523875"/>
          </a:xfrm>
          <a:prstGeom prst="roundRect">
            <a:avLst>
              <a:gd name="adj" fmla="val 14545"/>
            </a:avLst>
          </a:prstGeom>
          <a:solidFill>
            <a:srgbClr val="2DD4A8"/>
          </a:solidFill>
          <a:ln>
            <a:noFill/>
          </a:ln>
        </p:spPr>
      </p:sp>
      <p:sp>
        <p:nvSpPr>
          <p:cNvPr id="27" name="TextBox 27"/>
          <p:cNvSpPr txBox="1"/>
          <p:nvPr/>
        </p:nvSpPr>
        <p:spPr>
          <a:xfrm>
            <a:off x="952619" y="2982278"/>
            <a:ext cx="76176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系统管理员</a:t>
            </a:r>
          </a:p>
        </p:txBody>
      </p:sp>
      <p:sp>
        <p:nvSpPr>
          <p:cNvPr id="28" name="TextBox 28"/>
          <p:cNvSpPr txBox="1"/>
          <p:nvPr/>
        </p:nvSpPr>
        <p:spPr>
          <a:xfrm>
            <a:off x="1047988" y="3178016"/>
            <a:ext cx="571024"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管理控制台</a:t>
            </a:r>
          </a:p>
        </p:txBody>
      </p:sp>
      <p:sp>
        <p:nvSpPr>
          <p:cNvPr id="29" name="Line 29"/>
          <p:cNvSpPr/>
          <p:nvPr/>
        </p:nvSpPr>
        <p:spPr>
          <a:xfrm>
            <a:off x="2286000" y="3114675"/>
            <a:ext cx="1905000" cy="1"/>
          </a:xfrm>
          <a:prstGeom prst="line">
            <a:avLst/>
          </a:prstGeom>
          <a:noFill/>
          <a:ln w="19050">
            <a:solidFill>
              <a:srgbClr val="2DD4A8"/>
            </a:solidFill>
            <a:tailEnd type="triangle" w="lg" len="lg"/>
          </a:ln>
        </p:spPr>
      </p:sp>
      <p:sp>
        <p:nvSpPr>
          <p:cNvPr id="30" name="TextBox 30"/>
          <p:cNvSpPr txBox="1"/>
          <p:nvPr/>
        </p:nvSpPr>
        <p:spPr>
          <a:xfrm>
            <a:off x="3228022" y="2939891"/>
            <a:ext cx="785551" cy="167640"/>
          </a:xfrm>
          <a:prstGeom prst="rect">
            <a:avLst/>
          </a:prstGeom>
          <a:noFill/>
          <a:ln>
            <a:noFill/>
          </a:ln>
        </p:spPr>
        <p:txBody>
          <a:bodyPr wrap="none" lIns="0" tIns="0" rIns="0" bIns="0" anchor="t" anchorCtr="0">
            <a:spAutoFit/>
          </a:bodyPr>
          <a:lstStyle/>
          <a:p>
            <a:pPr algn="l"/>
            <a:r>
              <a:rPr lang="zh-CN" sz="825" dirty="0">
                <a:solidFill>
                  <a:srgbClr val="2DD4A8"/>
                </a:solidFill>
                <a:latin typeface="Arial"/>
                <a:ea typeface="Microsoft YaHei"/>
                <a:cs typeface="Arial"/>
              </a:rPr>
              <a:t>REST API :8088</a:t>
            </a:r>
          </a:p>
        </p:txBody>
      </p:sp>
      <p:sp>
        <p:nvSpPr>
          <p:cNvPr id="31" name="Rectangle 31"/>
          <p:cNvSpPr/>
          <p:nvPr/>
        </p:nvSpPr>
        <p:spPr>
          <a:xfrm>
            <a:off x="381000" y="3810000"/>
            <a:ext cx="1905000" cy="523875"/>
          </a:xfrm>
          <a:prstGeom prst="roundRect">
            <a:avLst>
              <a:gd name="adj" fmla="val 14545"/>
            </a:avLst>
          </a:prstGeom>
          <a:solidFill>
            <a:srgbClr val="2DD4A8">
              <a:alpha val="80000"/>
            </a:srgbClr>
          </a:solidFill>
          <a:ln>
            <a:noFill/>
          </a:ln>
        </p:spPr>
      </p:sp>
      <p:sp>
        <p:nvSpPr>
          <p:cNvPr id="32" name="TextBox 32"/>
          <p:cNvSpPr txBox="1"/>
          <p:nvPr/>
        </p:nvSpPr>
        <p:spPr>
          <a:xfrm>
            <a:off x="952619" y="3934778"/>
            <a:ext cx="76176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知识工程师</a:t>
            </a:r>
          </a:p>
        </p:txBody>
      </p:sp>
      <p:sp>
        <p:nvSpPr>
          <p:cNvPr id="33" name="TextBox 33"/>
          <p:cNvSpPr txBox="1"/>
          <p:nvPr/>
        </p:nvSpPr>
        <p:spPr>
          <a:xfrm>
            <a:off x="1012234" y="4130516"/>
            <a:ext cx="642533"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RAG管理界面</a:t>
            </a:r>
          </a:p>
        </p:txBody>
      </p:sp>
      <p:sp>
        <p:nvSpPr>
          <p:cNvPr id="34" name="Line 34"/>
          <p:cNvSpPr/>
          <p:nvPr/>
        </p:nvSpPr>
        <p:spPr>
          <a:xfrm flipV="1">
            <a:off x="2286000" y="3619500"/>
            <a:ext cx="1905000" cy="447675"/>
          </a:xfrm>
          <a:prstGeom prst="line">
            <a:avLst/>
          </a:prstGeom>
          <a:noFill/>
          <a:ln w="14288">
            <a:solidFill>
              <a:srgbClr val="2DD4A8"/>
            </a:solidFill>
            <a:tailEnd type="triangle" w="lg" len="lg"/>
          </a:ln>
        </p:spPr>
      </p:sp>
      <p:sp>
        <p:nvSpPr>
          <p:cNvPr id="35" name="TextBox 35"/>
          <p:cNvSpPr txBox="1"/>
          <p:nvPr/>
        </p:nvSpPr>
        <p:spPr>
          <a:xfrm>
            <a:off x="3132772" y="3673316"/>
            <a:ext cx="785551" cy="167640"/>
          </a:xfrm>
          <a:prstGeom prst="rect">
            <a:avLst/>
          </a:prstGeom>
          <a:noFill/>
          <a:ln>
            <a:noFill/>
          </a:ln>
        </p:spPr>
        <p:txBody>
          <a:bodyPr wrap="none" lIns="0" tIns="0" rIns="0" bIns="0" anchor="t" anchorCtr="0">
            <a:spAutoFit/>
          </a:bodyPr>
          <a:lstStyle/>
          <a:p>
            <a:pPr algn="l"/>
            <a:r>
              <a:rPr lang="zh-CN" sz="825" dirty="0">
                <a:solidFill>
                  <a:srgbClr val="2DD4A8"/>
                </a:solidFill>
                <a:latin typeface="Arial"/>
                <a:ea typeface="Microsoft YaHei"/>
                <a:cs typeface="Arial"/>
              </a:rPr>
              <a:t>REST API :9380</a:t>
            </a:r>
          </a:p>
        </p:txBody>
      </p:sp>
      <p:sp>
        <p:nvSpPr>
          <p:cNvPr id="36" name="Rectangle 36"/>
          <p:cNvSpPr/>
          <p:nvPr/>
        </p:nvSpPr>
        <p:spPr>
          <a:xfrm>
            <a:off x="9906000" y="2667000"/>
            <a:ext cx="1905000" cy="523875"/>
          </a:xfrm>
          <a:prstGeom prst="roundRect">
            <a:avLst>
              <a:gd name="adj" fmla="val 14545"/>
            </a:avLst>
          </a:prstGeom>
          <a:solidFill>
            <a:srgbClr val="4A7BF7">
              <a:alpha val="80000"/>
            </a:srgbClr>
          </a:solidFill>
          <a:ln>
            <a:noFill/>
          </a:ln>
        </p:spPr>
      </p:sp>
      <p:sp>
        <p:nvSpPr>
          <p:cNvPr id="37" name="TextBox 37"/>
          <p:cNvSpPr txBox="1"/>
          <p:nvPr/>
        </p:nvSpPr>
        <p:spPr>
          <a:xfrm>
            <a:off x="10323250" y="2791778"/>
            <a:ext cx="107050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ragflow Web UI</a:t>
            </a:r>
          </a:p>
        </p:txBody>
      </p:sp>
      <p:sp>
        <p:nvSpPr>
          <p:cNvPr id="38" name="TextBox 38"/>
          <p:cNvSpPr txBox="1"/>
          <p:nvPr/>
        </p:nvSpPr>
        <p:spPr>
          <a:xfrm>
            <a:off x="10696754" y="2987516"/>
            <a:ext cx="323493"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:8070</a:t>
            </a:r>
          </a:p>
        </p:txBody>
      </p:sp>
      <p:sp>
        <p:nvSpPr>
          <p:cNvPr id="39" name="Line 39"/>
          <p:cNvSpPr/>
          <p:nvPr/>
        </p:nvSpPr>
        <p:spPr>
          <a:xfrm flipV="1">
            <a:off x="8001000" y="2924175"/>
            <a:ext cx="1905000" cy="219075"/>
          </a:xfrm>
          <a:prstGeom prst="line">
            <a:avLst/>
          </a:prstGeom>
          <a:noFill/>
          <a:ln w="14288">
            <a:solidFill>
              <a:srgbClr val="4A7BF7"/>
            </a:solidFill>
            <a:tailEnd type="triangle" w="lg" len="lg"/>
          </a:ln>
        </p:spPr>
      </p:sp>
      <p:sp>
        <p:nvSpPr>
          <p:cNvPr id="40" name="Rectangle 40"/>
          <p:cNvSpPr/>
          <p:nvPr/>
        </p:nvSpPr>
        <p:spPr>
          <a:xfrm>
            <a:off x="9906000" y="3524250"/>
            <a:ext cx="1905000" cy="523875"/>
          </a:xfrm>
          <a:prstGeom prst="roundRect">
            <a:avLst>
              <a:gd name="adj" fmla="val 14545"/>
            </a:avLst>
          </a:prstGeom>
          <a:solidFill>
            <a:srgbClr val="1E2761">
              <a:alpha val="70000"/>
            </a:srgbClr>
          </a:solidFill>
          <a:ln>
            <a:noFill/>
          </a:ln>
        </p:spPr>
      </p:sp>
      <p:sp>
        <p:nvSpPr>
          <p:cNvPr id="41" name="TextBox 41"/>
          <p:cNvSpPr txBox="1"/>
          <p:nvPr/>
        </p:nvSpPr>
        <p:spPr>
          <a:xfrm>
            <a:off x="10216661" y="3649028"/>
            <a:ext cx="128367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SimHei"/>
                <a:cs typeface="Segoe UI"/>
              </a:rPr>
              <a:t>gaisoft-frontend</a:t>
            </a:r>
          </a:p>
        </p:txBody>
      </p:sp>
      <p:sp>
        <p:nvSpPr>
          <p:cNvPr id="42" name="TextBox 42"/>
          <p:cNvSpPr txBox="1"/>
          <p:nvPr/>
        </p:nvSpPr>
        <p:spPr>
          <a:xfrm>
            <a:off x="10696754" y="3844766"/>
            <a:ext cx="323493"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:8899</a:t>
            </a:r>
          </a:p>
        </p:txBody>
      </p:sp>
      <p:sp>
        <p:nvSpPr>
          <p:cNvPr id="43" name="Line 43"/>
          <p:cNvSpPr/>
          <p:nvPr/>
        </p:nvSpPr>
        <p:spPr>
          <a:xfrm>
            <a:off x="8001000" y="3762375"/>
            <a:ext cx="1905000" cy="19050"/>
          </a:xfrm>
          <a:prstGeom prst="line">
            <a:avLst/>
          </a:prstGeom>
          <a:noFill/>
          <a:ln w="14288">
            <a:solidFill>
              <a:srgbClr val="1E2761"/>
            </a:solidFill>
            <a:tailEnd type="triangle" w="lg" len="lg"/>
          </a:ln>
        </p:spPr>
      </p:sp>
      <p:sp>
        <p:nvSpPr>
          <p:cNvPr id="44" name="Rectangle 44"/>
          <p:cNvSpPr/>
          <p:nvPr/>
        </p:nvSpPr>
        <p:spPr>
          <a:xfrm>
            <a:off x="4191000" y="5143500"/>
            <a:ext cx="1619250" cy="523875"/>
          </a:xfrm>
          <a:prstGeom prst="roundRect">
            <a:avLst>
              <a:gd name="adj" fmla="val 14545"/>
            </a:avLst>
          </a:prstGeom>
          <a:solidFill>
            <a:srgbClr val="94A3B8">
              <a:alpha val="30000"/>
            </a:srgbClr>
          </a:solidFill>
          <a:ln w="9525">
            <a:solidFill>
              <a:srgbClr val="94A3B8"/>
            </a:solidFill>
          </a:ln>
        </p:spPr>
      </p:sp>
      <p:sp>
        <p:nvSpPr>
          <p:cNvPr id="45" name="TextBox 45"/>
          <p:cNvSpPr txBox="1"/>
          <p:nvPr/>
        </p:nvSpPr>
        <p:spPr>
          <a:xfrm>
            <a:off x="4715208" y="5276374"/>
            <a:ext cx="570833" cy="198120"/>
          </a:xfrm>
          <a:prstGeom prst="rect">
            <a:avLst/>
          </a:prstGeom>
          <a:noFill/>
          <a:ln>
            <a:noFill/>
          </a:ln>
        </p:spPr>
        <p:txBody>
          <a:bodyPr wrap="none" lIns="0" tIns="0" rIns="0" bIns="0" anchor="t" anchorCtr="0">
            <a:spAutoFit/>
          </a:bodyPr>
          <a:lstStyle/>
          <a:p>
            <a:pPr algn="ctr"/>
            <a:r>
              <a:rPr lang="zh-CN" sz="975" b="1" dirty="0">
                <a:solidFill>
                  <a:srgbClr val="64748B"/>
                </a:solidFill>
                <a:latin typeface="Segoe UI"/>
                <a:ea typeface="SimHei"/>
                <a:cs typeface="Segoe UI"/>
              </a:rPr>
              <a:t>军事文档</a:t>
            </a:r>
          </a:p>
        </p:txBody>
      </p:sp>
      <p:sp>
        <p:nvSpPr>
          <p:cNvPr id="46" name="TextBox 46"/>
          <p:cNvSpPr txBox="1"/>
          <p:nvPr/>
        </p:nvSpPr>
        <p:spPr>
          <a:xfrm>
            <a:off x="4569345" y="5464016"/>
            <a:ext cx="862560"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Arial"/>
                <a:ea typeface="Microsoft YaHei"/>
                <a:cs typeface="Arial"/>
              </a:rPr>
              <a:t>PDF/Word/Excel</a:t>
            </a:r>
          </a:p>
        </p:txBody>
      </p:sp>
      <p:sp>
        <p:nvSpPr>
          <p:cNvPr id="47" name="Rectangle 47"/>
          <p:cNvSpPr/>
          <p:nvPr/>
        </p:nvSpPr>
        <p:spPr>
          <a:xfrm>
            <a:off x="6000750" y="5143500"/>
            <a:ext cx="1619250" cy="523875"/>
          </a:xfrm>
          <a:prstGeom prst="roundRect">
            <a:avLst>
              <a:gd name="adj" fmla="val 14545"/>
            </a:avLst>
          </a:prstGeom>
          <a:solidFill>
            <a:srgbClr val="94A3B8">
              <a:alpha val="30000"/>
            </a:srgbClr>
          </a:solidFill>
          <a:ln w="9525">
            <a:solidFill>
              <a:srgbClr val="94A3B8"/>
            </a:solidFill>
          </a:ln>
        </p:spPr>
      </p:sp>
      <p:sp>
        <p:nvSpPr>
          <p:cNvPr id="48" name="TextBox 48"/>
          <p:cNvSpPr txBox="1"/>
          <p:nvPr/>
        </p:nvSpPr>
        <p:spPr>
          <a:xfrm>
            <a:off x="6453287" y="5276374"/>
            <a:ext cx="714176" cy="198120"/>
          </a:xfrm>
          <a:prstGeom prst="rect">
            <a:avLst/>
          </a:prstGeom>
          <a:noFill/>
          <a:ln>
            <a:noFill/>
          </a:ln>
        </p:spPr>
        <p:txBody>
          <a:bodyPr wrap="none" lIns="0" tIns="0" rIns="0" bIns="0" anchor="t" anchorCtr="0">
            <a:spAutoFit/>
          </a:bodyPr>
          <a:lstStyle/>
          <a:p>
            <a:pPr algn="ctr"/>
            <a:r>
              <a:rPr lang="zh-CN" sz="975" b="1" dirty="0">
                <a:solidFill>
                  <a:srgbClr val="64748B"/>
                </a:solidFill>
                <a:latin typeface="Segoe UI"/>
                <a:ea typeface="SimHei"/>
                <a:cs typeface="Segoe UI"/>
              </a:rPr>
              <a:t>DARPA 数据</a:t>
            </a:r>
          </a:p>
        </p:txBody>
      </p:sp>
      <p:sp>
        <p:nvSpPr>
          <p:cNvPr id="49" name="TextBox 49"/>
          <p:cNvSpPr txBox="1"/>
          <p:nvPr/>
        </p:nvSpPr>
        <p:spPr>
          <a:xfrm>
            <a:off x="6524863" y="5464016"/>
            <a:ext cx="571024" cy="167640"/>
          </a:xfrm>
          <a:prstGeom prst="rect">
            <a:avLst/>
          </a:prstGeom>
          <a:noFill/>
          <a:ln>
            <a:noFill/>
          </a:ln>
        </p:spPr>
        <p:txBody>
          <a:bodyPr wrap="none" lIns="0" tIns="0" rIns="0" bIns="0" anchor="t" anchorCtr="0">
            <a:spAutoFit/>
          </a:bodyPr>
          <a:lstStyle/>
          <a:p>
            <a:pPr algn="ctr"/>
            <a:r>
              <a:rPr lang="zh-CN" sz="825" dirty="0">
                <a:solidFill>
                  <a:srgbClr val="94A3B8"/>
                </a:solidFill>
                <a:latin typeface="Arial"/>
                <a:ea typeface="Microsoft YaHei"/>
                <a:cs typeface="Arial"/>
              </a:rPr>
              <a:t>领域知识库</a:t>
            </a:r>
          </a:p>
        </p:txBody>
      </p:sp>
      <p:sp>
        <p:nvSpPr>
          <p:cNvPr id="50" name="Line 50"/>
          <p:cNvSpPr/>
          <p:nvPr/>
        </p:nvSpPr>
        <p:spPr>
          <a:xfrm flipV="1">
            <a:off x="6096000" y="4762500"/>
            <a:ext cx="1" cy="381000"/>
          </a:xfrm>
          <a:prstGeom prst="line">
            <a:avLst/>
          </a:prstGeom>
          <a:noFill/>
          <a:ln w="14288">
            <a:solidFill>
              <a:srgbClr val="94A3B8"/>
            </a:solidFill>
            <a:tailEnd type="triangle" w="lg" len="lg"/>
          </a:ln>
        </p:spPr>
      </p:sp>
      <p:sp>
        <p:nvSpPr>
          <p:cNvPr id="51" name="TextBox 51"/>
          <p:cNvSpPr txBox="1"/>
          <p:nvPr/>
        </p:nvSpPr>
        <p:spPr>
          <a:xfrm>
            <a:off x="6276022" y="4959191"/>
            <a:ext cx="461010"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rial"/>
                <a:ea typeface="Microsoft YaHei"/>
                <a:cs typeface="Arial"/>
              </a:rPr>
              <a:t>文件上传</a:t>
            </a:r>
          </a:p>
        </p:txBody>
      </p:sp>
      <p:sp>
        <p:nvSpPr>
          <p:cNvPr id="52" name="Rectangle 52"/>
          <p:cNvSpPr/>
          <p:nvPr/>
        </p:nvSpPr>
        <p:spPr>
          <a:xfrm>
            <a:off x="381000" y="6000750"/>
            <a:ext cx="11430000" cy="523875"/>
          </a:xfrm>
          <a:prstGeom prst="roundRect">
            <a:avLst>
              <a:gd name="adj" fmla="val 10909"/>
            </a:avLst>
          </a:prstGeom>
          <a:solidFill>
            <a:srgbClr val="FFFFFF"/>
          </a:solidFill>
          <a:ln w="9525">
            <a:solidFill>
              <a:srgbClr val="E2E8F0"/>
            </a:solidFill>
          </a:ln>
        </p:spPr>
      </p:sp>
      <p:sp>
        <p:nvSpPr>
          <p:cNvPr id="53" name="TextBox 53"/>
          <p:cNvSpPr txBox="1"/>
          <p:nvPr/>
        </p:nvSpPr>
        <p:spPr>
          <a:xfrm>
            <a:off x="559118" y="6133624"/>
            <a:ext cx="570833" cy="198120"/>
          </a:xfrm>
          <a:prstGeom prst="rect">
            <a:avLst/>
          </a:prstGeom>
          <a:noFill/>
          <a:ln>
            <a:noFill/>
          </a:ln>
        </p:spPr>
        <p:txBody>
          <a:bodyPr wrap="none" lIns="0" tIns="0" rIns="0" bIns="0" anchor="t" anchorCtr="0">
            <a:spAutoFit/>
          </a:bodyPr>
          <a:lstStyle/>
          <a:p>
            <a:pPr algn="l"/>
            <a:r>
              <a:rPr lang="zh-CN" sz="975" b="1" dirty="0">
                <a:solidFill>
                  <a:srgbClr val="1E2761"/>
                </a:solidFill>
                <a:latin typeface="Segoe UI"/>
                <a:ea typeface="SimHei"/>
                <a:cs typeface="Segoe UI"/>
              </a:rPr>
              <a:t>接口协议</a:t>
            </a:r>
          </a:p>
        </p:txBody>
      </p:sp>
      <p:sp>
        <p:nvSpPr>
          <p:cNvPr id="54" name="TextBox 54"/>
          <p:cNvSpPr txBox="1"/>
          <p:nvPr/>
        </p:nvSpPr>
        <p:spPr>
          <a:xfrm>
            <a:off x="1512570" y="6141720"/>
            <a:ext cx="131902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REST API (HTTP/HTTPS)</a:t>
            </a:r>
          </a:p>
        </p:txBody>
      </p:sp>
      <p:sp>
        <p:nvSpPr>
          <p:cNvPr id="55" name="TextBox 55"/>
          <p:cNvSpPr txBox="1"/>
          <p:nvPr/>
        </p:nvSpPr>
        <p:spPr>
          <a:xfrm>
            <a:off x="3608070" y="6141720"/>
            <a:ext cx="736949"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SSE 流式推送</a:t>
            </a:r>
          </a:p>
        </p:txBody>
      </p:sp>
      <p:sp>
        <p:nvSpPr>
          <p:cNvPr id="56" name="TextBox 56"/>
          <p:cNvSpPr txBox="1"/>
          <p:nvPr/>
        </p:nvSpPr>
        <p:spPr>
          <a:xfrm>
            <a:off x="5036820" y="6141720"/>
            <a:ext cx="886968"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JWT Token 认证</a:t>
            </a:r>
          </a:p>
        </p:txBody>
      </p:sp>
      <p:sp>
        <p:nvSpPr>
          <p:cNvPr id="57" name="TextBox 57"/>
          <p:cNvSpPr txBox="1"/>
          <p:nvPr/>
        </p:nvSpPr>
        <p:spPr>
          <a:xfrm>
            <a:off x="6846570" y="6141720"/>
            <a:ext cx="838962"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Nginx 反向代理</a:t>
            </a:r>
          </a:p>
        </p:txBody>
      </p:sp>
      <p:sp>
        <p:nvSpPr>
          <p:cNvPr id="58" name="TextBox 58"/>
          <p:cNvSpPr txBox="1"/>
          <p:nvPr/>
        </p:nvSpPr>
        <p:spPr>
          <a:xfrm>
            <a:off x="8751570" y="6141720"/>
            <a:ext cx="934974"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Docker 内部网络</a:t>
            </a:r>
          </a:p>
        </p:txBody>
      </p:sp>
      <p:sp>
        <p:nvSpPr>
          <p:cNvPr id="59" name="TextBox 59"/>
          <p:cNvSpPr txBox="1"/>
          <p:nvPr/>
        </p:nvSpPr>
        <p:spPr>
          <a:xfrm>
            <a:off x="11207020" y="6570345"/>
            <a:ext cx="424910"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11 / 14</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817561"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系统界面展示</a:t>
            </a:r>
          </a:p>
        </p:txBody>
      </p:sp>
      <p:sp>
        <p:nvSpPr>
          <p:cNvPr id="5" name="TextBox 5"/>
          <p:cNvSpPr txBox="1"/>
          <p:nvPr/>
        </p:nvSpPr>
        <p:spPr>
          <a:xfrm>
            <a:off x="2653665" y="286702"/>
            <a:ext cx="1146810"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主要功能页面截图</a:t>
            </a:r>
          </a:p>
        </p:txBody>
      </p:sp>
      <p:sp>
        <p:nvSpPr>
          <p:cNvPr id="6" name="Rectangle 6"/>
          <p:cNvSpPr/>
          <p:nvPr/>
        </p:nvSpPr>
        <p:spPr>
          <a:xfrm>
            <a:off x="381000" y="809625"/>
            <a:ext cx="36195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7" name="Image 7"/>
          <p:cNvPicPr>
            <a:picLocks noChangeAspect="1"/>
          </p:cNvPicPr>
          <p:nvPr/>
        </p:nvPicPr>
        <p:blipFill>
          <a:blip r:embed="rId2"/>
          <a:srcRect l="1087" t="0" r="1087" b="0"/>
          <a:stretch>
            <a:fillRect/>
          </a:stretch>
        </p:blipFill>
        <p:spPr>
          <a:xfrm>
            <a:off x="476250" y="857250"/>
            <a:ext cx="3429000" cy="2190750"/>
          </a:xfrm>
          <a:prstGeom prst="rect">
            <a:avLst/>
          </a:prstGeom>
        </p:spPr>
      </p:pic>
      <p:sp>
        <p:nvSpPr>
          <p:cNvPr id="8" name="TextBox 8"/>
          <p:cNvSpPr txBox="1"/>
          <p:nvPr/>
        </p:nvSpPr>
        <p:spPr>
          <a:xfrm>
            <a:off x="1897380" y="3172778"/>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用户登录</a:t>
            </a:r>
          </a:p>
        </p:txBody>
      </p:sp>
      <p:sp>
        <p:nvSpPr>
          <p:cNvPr id="9" name="Rectangle 9"/>
          <p:cNvSpPr/>
          <p:nvPr/>
        </p:nvSpPr>
        <p:spPr>
          <a:xfrm>
            <a:off x="4191000" y="809625"/>
            <a:ext cx="36195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10" name="Image 10"/>
          <p:cNvPicPr>
            <a:picLocks noChangeAspect="1"/>
          </p:cNvPicPr>
          <p:nvPr/>
        </p:nvPicPr>
        <p:blipFill>
          <a:blip r:embed="rId3"/>
          <a:srcRect l="1087" t="0" r="1087" b="0"/>
          <a:stretch>
            <a:fillRect/>
          </a:stretch>
        </p:blipFill>
        <p:spPr>
          <a:xfrm>
            <a:off x="4286250" y="857250"/>
            <a:ext cx="3429000" cy="2190750"/>
          </a:xfrm>
          <a:prstGeom prst="rect">
            <a:avLst/>
          </a:prstGeom>
        </p:spPr>
      </p:pic>
      <p:sp>
        <p:nvSpPr>
          <p:cNvPr id="11" name="TextBox 11"/>
          <p:cNvSpPr txBox="1"/>
          <p:nvPr/>
        </p:nvSpPr>
        <p:spPr>
          <a:xfrm>
            <a:off x="5707380" y="3172778"/>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系统首页</a:t>
            </a:r>
          </a:p>
        </p:txBody>
      </p:sp>
      <p:sp>
        <p:nvSpPr>
          <p:cNvPr id="12" name="Rectangle 12"/>
          <p:cNvSpPr/>
          <p:nvPr/>
        </p:nvSpPr>
        <p:spPr>
          <a:xfrm>
            <a:off x="8001000" y="809625"/>
            <a:ext cx="38100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13" name="Image 13"/>
          <p:cNvPicPr>
            <a:picLocks noChangeAspect="1"/>
          </p:cNvPicPr>
          <p:nvPr/>
        </p:nvPicPr>
        <p:blipFill>
          <a:blip r:embed="rId4"/>
          <a:srcRect l="0" t="1579" r="0" b="1579"/>
          <a:stretch>
            <a:fillRect/>
          </a:stretch>
        </p:blipFill>
        <p:spPr>
          <a:xfrm>
            <a:off x="8096250" y="857250"/>
            <a:ext cx="3619500" cy="2190750"/>
          </a:xfrm>
          <a:prstGeom prst="rect">
            <a:avLst/>
          </a:prstGeom>
        </p:spPr>
      </p:pic>
      <p:sp>
        <p:nvSpPr>
          <p:cNvPr id="14" name="TextBox 14"/>
          <p:cNvSpPr txBox="1"/>
          <p:nvPr/>
        </p:nvSpPr>
        <p:spPr>
          <a:xfrm>
            <a:off x="9612630" y="3172778"/>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智能问答</a:t>
            </a:r>
          </a:p>
        </p:txBody>
      </p:sp>
      <p:sp>
        <p:nvSpPr>
          <p:cNvPr id="15" name="Rectangle 15"/>
          <p:cNvSpPr/>
          <p:nvPr/>
        </p:nvSpPr>
        <p:spPr>
          <a:xfrm>
            <a:off x="381000" y="3714750"/>
            <a:ext cx="36195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16" name="Image 16"/>
          <p:cNvPicPr>
            <a:picLocks noChangeAspect="1"/>
          </p:cNvPicPr>
          <p:nvPr/>
        </p:nvPicPr>
        <p:blipFill>
          <a:blip r:embed="rId5"/>
          <a:srcRect l="1087" t="0" r="1087" b="0"/>
          <a:stretch>
            <a:fillRect/>
          </a:stretch>
        </p:blipFill>
        <p:spPr>
          <a:xfrm>
            <a:off x="476250" y="3762375"/>
            <a:ext cx="3429000" cy="2190750"/>
          </a:xfrm>
          <a:prstGeom prst="rect">
            <a:avLst/>
          </a:prstGeom>
        </p:spPr>
      </p:pic>
      <p:sp>
        <p:nvSpPr>
          <p:cNvPr id="17" name="TextBox 17"/>
          <p:cNvSpPr txBox="1"/>
          <p:nvPr/>
        </p:nvSpPr>
        <p:spPr>
          <a:xfrm>
            <a:off x="1897380" y="6077902"/>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配置助理</a:t>
            </a:r>
          </a:p>
        </p:txBody>
      </p:sp>
      <p:sp>
        <p:nvSpPr>
          <p:cNvPr id="18" name="Rectangle 18"/>
          <p:cNvSpPr/>
          <p:nvPr/>
        </p:nvSpPr>
        <p:spPr>
          <a:xfrm>
            <a:off x="4191000" y="3714750"/>
            <a:ext cx="36195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19" name="Image 19"/>
          <p:cNvPicPr>
            <a:picLocks noChangeAspect="1"/>
          </p:cNvPicPr>
          <p:nvPr/>
        </p:nvPicPr>
        <p:blipFill>
          <a:blip r:embed="rId6"/>
          <a:srcRect l="1087" t="0" r="1087" b="0"/>
          <a:stretch>
            <a:fillRect/>
          </a:stretch>
        </p:blipFill>
        <p:spPr>
          <a:xfrm>
            <a:off x="4286250" y="3762375"/>
            <a:ext cx="3429000" cy="2190750"/>
          </a:xfrm>
          <a:prstGeom prst="rect">
            <a:avLst/>
          </a:prstGeom>
        </p:spPr>
      </p:pic>
      <p:sp>
        <p:nvSpPr>
          <p:cNvPr id="20" name="TextBox 20"/>
          <p:cNvSpPr txBox="1"/>
          <p:nvPr/>
        </p:nvSpPr>
        <p:spPr>
          <a:xfrm>
            <a:off x="5707380" y="6077902"/>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模型管理</a:t>
            </a:r>
          </a:p>
        </p:txBody>
      </p:sp>
      <p:sp>
        <p:nvSpPr>
          <p:cNvPr id="21" name="Rectangle 21"/>
          <p:cNvSpPr/>
          <p:nvPr/>
        </p:nvSpPr>
        <p:spPr>
          <a:xfrm>
            <a:off x="8001000" y="3714750"/>
            <a:ext cx="3810000" cy="2667000"/>
          </a:xfrm>
          <a:prstGeom prst="roundRect">
            <a:avLst>
              <a:gd name="adj" fmla="val 2857"/>
            </a:avLst>
          </a:prstGeom>
          <a:solidFill>
            <a:srgbClr val="FFFFFF"/>
          </a:solidFill>
          <a:ln>
            <a:noFill/>
          </a:ln>
          <a:effectLst>
            <a:outerShdw blurRad="76200" dist="19050" dir="5400000" algn="ctr" rotWithShape="0">
              <a:srgbClr val="000000">
                <a:alpha val="6000"/>
              </a:srgbClr>
            </a:outerShdw>
          </a:effectLst>
        </p:spPr>
      </p:sp>
      <p:pic>
        <p:nvPicPr>
          <p:cNvPr id="22" name="Image 22"/>
          <p:cNvPicPr>
            <a:picLocks noChangeAspect="1"/>
          </p:cNvPicPr>
          <p:nvPr/>
        </p:nvPicPr>
        <p:blipFill>
          <a:blip r:embed="rId7"/>
          <a:srcRect l="0" t="1579" r="0" b="1579"/>
          <a:stretch>
            <a:fillRect/>
          </a:stretch>
        </p:blipFill>
        <p:spPr>
          <a:xfrm>
            <a:off x="8096250" y="3762375"/>
            <a:ext cx="3619500" cy="2190750"/>
          </a:xfrm>
          <a:prstGeom prst="rect">
            <a:avLst/>
          </a:prstGeom>
        </p:spPr>
      </p:pic>
      <p:sp>
        <p:nvSpPr>
          <p:cNvPr id="23" name="TextBox 23"/>
          <p:cNvSpPr txBox="1"/>
          <p:nvPr/>
        </p:nvSpPr>
        <p:spPr>
          <a:xfrm>
            <a:off x="9612630" y="6077902"/>
            <a:ext cx="586740"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参数设置</a:t>
            </a:r>
          </a:p>
        </p:txBody>
      </p:sp>
      <p:sp>
        <p:nvSpPr>
          <p:cNvPr id="24" name="TextBox 24"/>
          <p:cNvSpPr txBox="1"/>
          <p:nvPr/>
        </p:nvSpPr>
        <p:spPr>
          <a:xfrm>
            <a:off x="11207020" y="6570345"/>
            <a:ext cx="424910"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12 / 14</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0" y="0"/>
            <a:ext cx="12192000" cy="619125"/>
          </a:xfrm>
          <a:prstGeom prst="rect">
            <a:avLst/>
          </a:prstGeom>
          <a:gradFill>
            <a:gsLst>
              <a:gs pos="0">
                <a:srgbClr val="1E2761"/>
              </a:gs>
              <a:gs pos="100000">
                <a:srgbClr val="2A3A7E"/>
              </a:gs>
            </a:gsLst>
            <a:lin ang="0" scaled="1"/>
          </a:gradFill>
          <a:ln>
            <a:noFill/>
          </a:ln>
        </p:spPr>
      </p:sp>
      <p:sp>
        <p:nvSpPr>
          <p:cNvPr id="4" name="TextBox 4"/>
          <p:cNvSpPr txBox="1"/>
          <p:nvPr/>
        </p:nvSpPr>
        <p:spPr>
          <a:xfrm>
            <a:off x="544830" y="173355"/>
            <a:ext cx="1229487"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SimHei"/>
                <a:cs typeface="Segoe UI"/>
              </a:rPr>
              <a:t>测试验证</a:t>
            </a:r>
          </a:p>
        </p:txBody>
      </p:sp>
      <p:sp>
        <p:nvSpPr>
          <p:cNvPr id="5" name="TextBox 5"/>
          <p:cNvSpPr txBox="1"/>
          <p:nvPr/>
        </p:nvSpPr>
        <p:spPr>
          <a:xfrm>
            <a:off x="2034540" y="286702"/>
            <a:ext cx="3079051" cy="213360"/>
          </a:xfrm>
          <a:prstGeom prst="rect">
            <a:avLst/>
          </a:prstGeom>
          <a:noFill/>
          <a:ln>
            <a:noFill/>
          </a:ln>
        </p:spPr>
        <p:txBody>
          <a:bodyPr wrap="none" lIns="0" tIns="0" rIns="0" bIns="0" anchor="t" anchorCtr="0">
            <a:spAutoFit/>
          </a:bodyPr>
          <a:lstStyle/>
          <a:p>
            <a:pPr algn="l"/>
            <a:r>
              <a:rPr lang="zh-CN" sz="1050" dirty="0">
                <a:solidFill>
                  <a:srgbClr val="CADCFC"/>
                </a:solidFill>
                <a:latin typeface="Arial"/>
                <a:ea typeface="Microsoft YaHei"/>
                <a:cs typeface="Arial"/>
              </a:rPr>
              <a:t>64条自动化测试用例 · 92%通过率 · 6大测试模块</a:t>
            </a:r>
          </a:p>
        </p:txBody>
      </p:sp>
      <p:sp>
        <p:nvSpPr>
          <p:cNvPr id="6" name="Rectangle 6"/>
          <p:cNvSpPr/>
          <p:nvPr/>
        </p:nvSpPr>
        <p:spPr>
          <a:xfrm>
            <a:off x="381000" y="809625"/>
            <a:ext cx="3333750" cy="2381250"/>
          </a:xfrm>
          <a:prstGeom prst="roundRect">
            <a:avLst>
              <a:gd name="adj" fmla="val 4000"/>
            </a:avLst>
          </a:prstGeom>
          <a:solidFill>
            <a:srgbClr val="1E2761"/>
          </a:solidFill>
          <a:ln>
            <a:noFill/>
          </a:ln>
          <a:effectLst>
            <a:outerShdw blurRad="76200" dist="19050" dir="5400000" algn="ctr" rotWithShape="0">
              <a:srgbClr val="000000">
                <a:alpha val="6000"/>
              </a:srgbClr>
            </a:outerShdw>
          </a:effectLst>
        </p:spPr>
      </p:sp>
      <p:sp>
        <p:nvSpPr>
          <p:cNvPr id="7" name="TextBox 7"/>
          <p:cNvSpPr txBox="1"/>
          <p:nvPr/>
        </p:nvSpPr>
        <p:spPr>
          <a:xfrm>
            <a:off x="1194578" y="971550"/>
            <a:ext cx="1706594" cy="1219200"/>
          </a:xfrm>
          <a:prstGeom prst="rect">
            <a:avLst/>
          </a:prstGeom>
          <a:noFill/>
          <a:ln>
            <a:noFill/>
          </a:ln>
        </p:spPr>
        <p:txBody>
          <a:bodyPr wrap="none" lIns="0" tIns="0" rIns="0" bIns="0" anchor="t" anchorCtr="0">
            <a:spAutoFit/>
          </a:bodyPr>
          <a:lstStyle/>
          <a:p>
            <a:pPr algn="ctr"/>
            <a:r>
              <a:rPr lang="zh-CN" sz="6000" b="1" dirty="0">
                <a:solidFill>
                  <a:srgbClr val="2DD4A8"/>
                </a:solidFill>
                <a:latin typeface="Segoe UI"/>
                <a:ea typeface="SimHei"/>
                <a:cs typeface="Segoe UI"/>
              </a:rPr>
              <a:t>92%</a:t>
            </a:r>
          </a:p>
        </p:txBody>
      </p:sp>
      <p:sp>
        <p:nvSpPr>
          <p:cNvPr id="8" name="TextBox 8"/>
          <p:cNvSpPr txBox="1"/>
          <p:nvPr/>
        </p:nvSpPr>
        <p:spPr>
          <a:xfrm>
            <a:off x="1476851" y="1822132"/>
            <a:ext cx="1142048" cy="335280"/>
          </a:xfrm>
          <a:prstGeom prst="rect">
            <a:avLst/>
          </a:prstGeom>
          <a:noFill/>
          <a:ln>
            <a:noFill/>
          </a:ln>
        </p:spPr>
        <p:txBody>
          <a:bodyPr wrap="none" lIns="0" tIns="0" rIns="0" bIns="0" anchor="t" anchorCtr="0">
            <a:spAutoFit/>
          </a:bodyPr>
          <a:lstStyle/>
          <a:p>
            <a:pPr algn="ctr"/>
            <a:r>
              <a:rPr lang="zh-CN" sz="1650" dirty="0">
                <a:solidFill>
                  <a:srgbClr val="FFFFFF"/>
                </a:solidFill>
                <a:latin typeface="Segoe UI"/>
                <a:ea typeface="SimHei"/>
                <a:cs typeface="Segoe UI"/>
              </a:rPr>
              <a:t>综合通过率</a:t>
            </a:r>
          </a:p>
        </p:txBody>
      </p:sp>
      <p:sp>
        <p:nvSpPr>
          <p:cNvPr id="9" name="TextBox 9"/>
          <p:cNvSpPr txBox="1"/>
          <p:nvPr/>
        </p:nvSpPr>
        <p:spPr>
          <a:xfrm>
            <a:off x="980908" y="2220278"/>
            <a:ext cx="2133933" cy="213360"/>
          </a:xfrm>
          <a:prstGeom prst="rect">
            <a:avLst/>
          </a:prstGeom>
          <a:noFill/>
          <a:ln>
            <a:noFill/>
          </a:ln>
        </p:spPr>
        <p:txBody>
          <a:bodyPr wrap="none" lIns="0" tIns="0" rIns="0" bIns="0" anchor="t" anchorCtr="0">
            <a:spAutoFit/>
          </a:bodyPr>
          <a:lstStyle/>
          <a:p>
            <a:pPr algn="ctr"/>
            <a:r>
              <a:rPr lang="zh-CN" sz="1050" dirty="0">
                <a:solidFill>
                  <a:srgbClr val="CADCFC"/>
                </a:solidFill>
                <a:latin typeface="Arial"/>
                <a:ea typeface="Microsoft YaHei"/>
                <a:cs typeface="Arial"/>
              </a:rPr>
              <a:t>64条用例 · 59条通过 · 5条待优化</a:t>
            </a:r>
          </a:p>
        </p:txBody>
      </p:sp>
      <p:sp>
        <p:nvSpPr>
          <p:cNvPr id="10" name="Rectangle 10"/>
          <p:cNvSpPr/>
          <p:nvPr/>
        </p:nvSpPr>
        <p:spPr>
          <a:xfrm>
            <a:off x="4000500" y="809625"/>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11" name="Rectangle 11"/>
          <p:cNvSpPr/>
          <p:nvPr/>
        </p:nvSpPr>
        <p:spPr>
          <a:xfrm>
            <a:off x="4000500" y="809625"/>
            <a:ext cx="2476500" cy="38100"/>
          </a:xfrm>
          <a:prstGeom prst="rect">
            <a:avLst/>
          </a:prstGeom>
          <a:solidFill>
            <a:srgbClr val="4A7BF7"/>
          </a:solidFill>
          <a:ln>
            <a:noFill/>
          </a:ln>
        </p:spPr>
      </p:sp>
      <p:sp>
        <p:nvSpPr>
          <p:cNvPr id="12" name="TextBox 12"/>
          <p:cNvSpPr txBox="1"/>
          <p:nvPr/>
        </p:nvSpPr>
        <p:spPr>
          <a:xfrm>
            <a:off x="4177665" y="982028"/>
            <a:ext cx="996991"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M1 知识库测试</a:t>
            </a:r>
          </a:p>
        </p:txBody>
      </p:sp>
      <p:sp>
        <p:nvSpPr>
          <p:cNvPr id="13" name="TextBox 13"/>
          <p:cNvSpPr txBox="1"/>
          <p:nvPr/>
        </p:nvSpPr>
        <p:spPr>
          <a:xfrm>
            <a:off x="4160520" y="1150620"/>
            <a:ext cx="682638" cy="487680"/>
          </a:xfrm>
          <a:prstGeom prst="rect">
            <a:avLst/>
          </a:prstGeom>
          <a:noFill/>
          <a:ln>
            <a:noFill/>
          </a:ln>
        </p:spPr>
        <p:txBody>
          <a:bodyPr wrap="none" lIns="0" tIns="0" rIns="0" bIns="0" anchor="t" anchorCtr="0">
            <a:spAutoFit/>
          </a:bodyPr>
          <a:lstStyle/>
          <a:p>
            <a:pPr algn="l"/>
            <a:r>
              <a:rPr lang="zh-CN" sz="2400" b="1" dirty="0">
                <a:solidFill>
                  <a:srgbClr val="4A7BF7"/>
                </a:solidFill>
                <a:latin typeface="Segoe UI"/>
                <a:ea typeface="SimHei"/>
                <a:cs typeface="Segoe UI"/>
              </a:rPr>
              <a:t>90%</a:t>
            </a:r>
          </a:p>
        </p:txBody>
      </p:sp>
      <p:sp>
        <p:nvSpPr>
          <p:cNvPr id="14" name="TextBox 14"/>
          <p:cNvSpPr txBox="1"/>
          <p:nvPr/>
        </p:nvSpPr>
        <p:spPr>
          <a:xfrm>
            <a:off x="4179570" y="1617345"/>
            <a:ext cx="562928"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9/10 通过</a:t>
            </a:r>
          </a:p>
        </p:txBody>
      </p:sp>
      <p:sp>
        <p:nvSpPr>
          <p:cNvPr id="15" name="Rectangle 15"/>
          <p:cNvSpPr/>
          <p:nvPr/>
        </p:nvSpPr>
        <p:spPr>
          <a:xfrm>
            <a:off x="6667500" y="809625"/>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16" name="Rectangle 16"/>
          <p:cNvSpPr/>
          <p:nvPr/>
        </p:nvSpPr>
        <p:spPr>
          <a:xfrm>
            <a:off x="6667500" y="809625"/>
            <a:ext cx="2476500" cy="38100"/>
          </a:xfrm>
          <a:prstGeom prst="rect">
            <a:avLst/>
          </a:prstGeom>
          <a:solidFill>
            <a:srgbClr val="2DD4A8"/>
          </a:solidFill>
          <a:ln>
            <a:noFill/>
          </a:ln>
        </p:spPr>
      </p:sp>
      <p:sp>
        <p:nvSpPr>
          <p:cNvPr id="17" name="TextBox 17"/>
          <p:cNvSpPr txBox="1"/>
          <p:nvPr/>
        </p:nvSpPr>
        <p:spPr>
          <a:xfrm>
            <a:off x="6844665" y="982028"/>
            <a:ext cx="1092553"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M2 RAG检索测试</a:t>
            </a:r>
          </a:p>
        </p:txBody>
      </p:sp>
      <p:sp>
        <p:nvSpPr>
          <p:cNvPr id="18" name="TextBox 18"/>
          <p:cNvSpPr txBox="1"/>
          <p:nvPr/>
        </p:nvSpPr>
        <p:spPr>
          <a:xfrm>
            <a:off x="6827520" y="1150620"/>
            <a:ext cx="682638" cy="487680"/>
          </a:xfrm>
          <a:prstGeom prst="rect">
            <a:avLst/>
          </a:prstGeom>
          <a:noFill/>
          <a:ln>
            <a:noFill/>
          </a:ln>
        </p:spPr>
        <p:txBody>
          <a:bodyPr wrap="none" lIns="0" tIns="0" rIns="0" bIns="0" anchor="t" anchorCtr="0">
            <a:spAutoFit/>
          </a:bodyPr>
          <a:lstStyle/>
          <a:p>
            <a:pPr algn="l"/>
            <a:r>
              <a:rPr lang="zh-CN" sz="2400" b="1" dirty="0">
                <a:solidFill>
                  <a:srgbClr val="2DD4A8"/>
                </a:solidFill>
                <a:latin typeface="Segoe UI"/>
                <a:ea typeface="SimHei"/>
                <a:cs typeface="Segoe UI"/>
              </a:rPr>
              <a:t>90%</a:t>
            </a:r>
          </a:p>
        </p:txBody>
      </p:sp>
      <p:sp>
        <p:nvSpPr>
          <p:cNvPr id="19" name="TextBox 19"/>
          <p:cNvSpPr txBox="1"/>
          <p:nvPr/>
        </p:nvSpPr>
        <p:spPr>
          <a:xfrm>
            <a:off x="6846570" y="1617345"/>
            <a:ext cx="562928"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9/10 通过</a:t>
            </a:r>
          </a:p>
        </p:txBody>
      </p:sp>
      <p:sp>
        <p:nvSpPr>
          <p:cNvPr id="20" name="Rectangle 20"/>
          <p:cNvSpPr/>
          <p:nvPr/>
        </p:nvSpPr>
        <p:spPr>
          <a:xfrm>
            <a:off x="9334500" y="809625"/>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21" name="Rectangle 21"/>
          <p:cNvSpPr/>
          <p:nvPr/>
        </p:nvSpPr>
        <p:spPr>
          <a:xfrm>
            <a:off x="9334500" y="809625"/>
            <a:ext cx="2476500" cy="38100"/>
          </a:xfrm>
          <a:prstGeom prst="rect">
            <a:avLst/>
          </a:prstGeom>
          <a:solidFill>
            <a:srgbClr val="4A7BF7"/>
          </a:solidFill>
          <a:ln>
            <a:noFill/>
          </a:ln>
        </p:spPr>
      </p:sp>
      <p:sp>
        <p:nvSpPr>
          <p:cNvPr id="22" name="TextBox 22"/>
          <p:cNvSpPr txBox="1"/>
          <p:nvPr/>
        </p:nvSpPr>
        <p:spPr>
          <a:xfrm>
            <a:off x="9511665" y="982028"/>
            <a:ext cx="996991"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M3 交互式测试</a:t>
            </a:r>
          </a:p>
        </p:txBody>
      </p:sp>
      <p:sp>
        <p:nvSpPr>
          <p:cNvPr id="23" name="TextBox 23"/>
          <p:cNvSpPr txBox="1"/>
          <p:nvPr/>
        </p:nvSpPr>
        <p:spPr>
          <a:xfrm>
            <a:off x="9494520" y="1150620"/>
            <a:ext cx="682638" cy="487680"/>
          </a:xfrm>
          <a:prstGeom prst="rect">
            <a:avLst/>
          </a:prstGeom>
          <a:noFill/>
          <a:ln>
            <a:noFill/>
          </a:ln>
        </p:spPr>
        <p:txBody>
          <a:bodyPr wrap="none" lIns="0" tIns="0" rIns="0" bIns="0" anchor="t" anchorCtr="0">
            <a:spAutoFit/>
          </a:bodyPr>
          <a:lstStyle/>
          <a:p>
            <a:pPr algn="l"/>
            <a:r>
              <a:rPr lang="zh-CN" sz="2400" b="1" dirty="0">
                <a:solidFill>
                  <a:srgbClr val="4A7BF7"/>
                </a:solidFill>
                <a:latin typeface="Segoe UI"/>
                <a:ea typeface="SimHei"/>
                <a:cs typeface="Segoe UI"/>
              </a:rPr>
              <a:t>92%</a:t>
            </a:r>
          </a:p>
        </p:txBody>
      </p:sp>
      <p:sp>
        <p:nvSpPr>
          <p:cNvPr id="24" name="TextBox 24"/>
          <p:cNvSpPr txBox="1"/>
          <p:nvPr/>
        </p:nvSpPr>
        <p:spPr>
          <a:xfrm>
            <a:off x="9513570" y="1617345"/>
            <a:ext cx="62893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11/12 通过</a:t>
            </a:r>
          </a:p>
        </p:txBody>
      </p:sp>
      <p:sp>
        <p:nvSpPr>
          <p:cNvPr id="25" name="Rectangle 25"/>
          <p:cNvSpPr/>
          <p:nvPr/>
        </p:nvSpPr>
        <p:spPr>
          <a:xfrm>
            <a:off x="4000500" y="2095500"/>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26" name="Rectangle 26"/>
          <p:cNvSpPr/>
          <p:nvPr/>
        </p:nvSpPr>
        <p:spPr>
          <a:xfrm>
            <a:off x="4000500" y="2095500"/>
            <a:ext cx="2476500" cy="38100"/>
          </a:xfrm>
          <a:prstGeom prst="rect">
            <a:avLst/>
          </a:prstGeom>
          <a:solidFill>
            <a:srgbClr val="2DD4A8"/>
          </a:solidFill>
          <a:ln>
            <a:noFill/>
          </a:ln>
        </p:spPr>
      </p:sp>
      <p:sp>
        <p:nvSpPr>
          <p:cNvPr id="27" name="TextBox 27"/>
          <p:cNvSpPr txBox="1"/>
          <p:nvPr/>
        </p:nvSpPr>
        <p:spPr>
          <a:xfrm>
            <a:off x="4177665" y="2267902"/>
            <a:ext cx="908780"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身份认证测试</a:t>
            </a:r>
          </a:p>
        </p:txBody>
      </p:sp>
      <p:sp>
        <p:nvSpPr>
          <p:cNvPr id="28" name="TextBox 28"/>
          <p:cNvSpPr txBox="1"/>
          <p:nvPr/>
        </p:nvSpPr>
        <p:spPr>
          <a:xfrm>
            <a:off x="4160520" y="2436495"/>
            <a:ext cx="867461" cy="487680"/>
          </a:xfrm>
          <a:prstGeom prst="rect">
            <a:avLst/>
          </a:prstGeom>
          <a:noFill/>
          <a:ln>
            <a:noFill/>
          </a:ln>
        </p:spPr>
        <p:txBody>
          <a:bodyPr wrap="none" lIns="0" tIns="0" rIns="0" bIns="0" anchor="t" anchorCtr="0">
            <a:spAutoFit/>
          </a:bodyPr>
          <a:lstStyle/>
          <a:p>
            <a:pPr algn="l"/>
            <a:r>
              <a:rPr lang="zh-CN" sz="2400" b="1" dirty="0">
                <a:solidFill>
                  <a:srgbClr val="2DD4A8"/>
                </a:solidFill>
                <a:latin typeface="Segoe UI"/>
                <a:ea typeface="SimHei"/>
                <a:cs typeface="Segoe UI"/>
              </a:rPr>
              <a:t>100%</a:t>
            </a:r>
          </a:p>
        </p:txBody>
      </p:sp>
      <p:sp>
        <p:nvSpPr>
          <p:cNvPr id="29" name="TextBox 29"/>
          <p:cNvSpPr txBox="1"/>
          <p:nvPr/>
        </p:nvSpPr>
        <p:spPr>
          <a:xfrm>
            <a:off x="4179570" y="2903220"/>
            <a:ext cx="62893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10/10 通过</a:t>
            </a:r>
          </a:p>
        </p:txBody>
      </p:sp>
      <p:sp>
        <p:nvSpPr>
          <p:cNvPr id="30" name="Rectangle 30"/>
          <p:cNvSpPr/>
          <p:nvPr/>
        </p:nvSpPr>
        <p:spPr>
          <a:xfrm>
            <a:off x="6667500" y="2095500"/>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31" name="Rectangle 31"/>
          <p:cNvSpPr/>
          <p:nvPr/>
        </p:nvSpPr>
        <p:spPr>
          <a:xfrm>
            <a:off x="6667500" y="2095500"/>
            <a:ext cx="2476500" cy="38100"/>
          </a:xfrm>
          <a:prstGeom prst="rect">
            <a:avLst/>
          </a:prstGeom>
          <a:solidFill>
            <a:srgbClr val="4A7BF7"/>
          </a:solidFill>
          <a:ln>
            <a:noFill/>
          </a:ln>
        </p:spPr>
      </p:sp>
      <p:sp>
        <p:nvSpPr>
          <p:cNvPr id="32" name="TextBox 32"/>
          <p:cNvSpPr txBox="1"/>
          <p:nvPr/>
        </p:nvSpPr>
        <p:spPr>
          <a:xfrm>
            <a:off x="6844665" y="2267902"/>
            <a:ext cx="930833"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UI 端到端测试</a:t>
            </a:r>
          </a:p>
        </p:txBody>
      </p:sp>
      <p:sp>
        <p:nvSpPr>
          <p:cNvPr id="33" name="TextBox 33"/>
          <p:cNvSpPr txBox="1"/>
          <p:nvPr/>
        </p:nvSpPr>
        <p:spPr>
          <a:xfrm>
            <a:off x="6827520" y="2436495"/>
            <a:ext cx="682638" cy="487680"/>
          </a:xfrm>
          <a:prstGeom prst="rect">
            <a:avLst/>
          </a:prstGeom>
          <a:noFill/>
          <a:ln>
            <a:noFill/>
          </a:ln>
        </p:spPr>
        <p:txBody>
          <a:bodyPr wrap="none" lIns="0" tIns="0" rIns="0" bIns="0" anchor="t" anchorCtr="0">
            <a:spAutoFit/>
          </a:bodyPr>
          <a:lstStyle/>
          <a:p>
            <a:pPr algn="l"/>
            <a:r>
              <a:rPr lang="zh-CN" sz="2400" b="1" dirty="0">
                <a:solidFill>
                  <a:srgbClr val="4A7BF7"/>
                </a:solidFill>
                <a:latin typeface="Segoe UI"/>
                <a:ea typeface="SimHei"/>
                <a:cs typeface="Segoe UI"/>
              </a:rPr>
              <a:t>93%</a:t>
            </a:r>
          </a:p>
        </p:txBody>
      </p:sp>
      <p:sp>
        <p:nvSpPr>
          <p:cNvPr id="34" name="TextBox 34"/>
          <p:cNvSpPr txBox="1"/>
          <p:nvPr/>
        </p:nvSpPr>
        <p:spPr>
          <a:xfrm>
            <a:off x="6846570" y="2903220"/>
            <a:ext cx="62893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13/14 通过</a:t>
            </a:r>
          </a:p>
        </p:txBody>
      </p:sp>
      <p:sp>
        <p:nvSpPr>
          <p:cNvPr id="35" name="Rectangle 35"/>
          <p:cNvSpPr/>
          <p:nvPr/>
        </p:nvSpPr>
        <p:spPr>
          <a:xfrm>
            <a:off x="9334500" y="2095500"/>
            <a:ext cx="2476500" cy="1095375"/>
          </a:xfrm>
          <a:prstGeom prst="roundRect">
            <a:avLst>
              <a:gd name="adj" fmla="val 6957"/>
            </a:avLst>
          </a:prstGeom>
          <a:solidFill>
            <a:srgbClr val="FFFFFF"/>
          </a:solidFill>
          <a:ln>
            <a:noFill/>
          </a:ln>
          <a:effectLst>
            <a:outerShdw blurRad="76200" dist="19050" dir="5400000" algn="ctr" rotWithShape="0">
              <a:srgbClr val="000000">
                <a:alpha val="6000"/>
              </a:srgbClr>
            </a:outerShdw>
          </a:effectLst>
        </p:spPr>
      </p:sp>
      <p:sp>
        <p:nvSpPr>
          <p:cNvPr id="36" name="Rectangle 36"/>
          <p:cNvSpPr/>
          <p:nvPr/>
        </p:nvSpPr>
        <p:spPr>
          <a:xfrm>
            <a:off x="9334500" y="2095500"/>
            <a:ext cx="2476500" cy="38100"/>
          </a:xfrm>
          <a:prstGeom prst="rect">
            <a:avLst/>
          </a:prstGeom>
          <a:solidFill>
            <a:srgbClr val="1E2761"/>
          </a:solidFill>
          <a:ln>
            <a:noFill/>
          </a:ln>
        </p:spPr>
      </p:sp>
      <p:sp>
        <p:nvSpPr>
          <p:cNvPr id="37" name="TextBox 37"/>
          <p:cNvSpPr txBox="1"/>
          <p:nvPr/>
        </p:nvSpPr>
        <p:spPr>
          <a:xfrm>
            <a:off x="9511665" y="2267902"/>
            <a:ext cx="908780" cy="213360"/>
          </a:xfrm>
          <a:prstGeom prst="rect">
            <a:avLst/>
          </a:prstGeom>
          <a:noFill/>
          <a:ln>
            <a:noFill/>
          </a:ln>
        </p:spPr>
        <p:txBody>
          <a:bodyPr wrap="none" lIns="0" tIns="0" rIns="0" bIns="0" anchor="t" anchorCtr="0">
            <a:spAutoFit/>
          </a:bodyPr>
          <a:lstStyle/>
          <a:p>
            <a:pPr algn="l"/>
            <a:r>
              <a:rPr lang="zh-CN" sz="1050" b="1" dirty="0">
                <a:solidFill>
                  <a:srgbClr val="1E2761"/>
                </a:solidFill>
                <a:latin typeface="Segoe UI"/>
                <a:ea typeface="SimHei"/>
                <a:cs typeface="Segoe UI"/>
              </a:rPr>
              <a:t>菜单验证测试</a:t>
            </a:r>
          </a:p>
        </p:txBody>
      </p:sp>
      <p:sp>
        <p:nvSpPr>
          <p:cNvPr id="38" name="TextBox 38"/>
          <p:cNvSpPr txBox="1"/>
          <p:nvPr/>
        </p:nvSpPr>
        <p:spPr>
          <a:xfrm>
            <a:off x="9494520" y="2436495"/>
            <a:ext cx="682638" cy="487680"/>
          </a:xfrm>
          <a:prstGeom prst="rect">
            <a:avLst/>
          </a:prstGeom>
          <a:noFill/>
          <a:ln>
            <a:noFill/>
          </a:ln>
        </p:spPr>
        <p:txBody>
          <a:bodyPr wrap="none" lIns="0" tIns="0" rIns="0" bIns="0" anchor="t" anchorCtr="0">
            <a:spAutoFit/>
          </a:bodyPr>
          <a:lstStyle/>
          <a:p>
            <a:pPr algn="l"/>
            <a:r>
              <a:rPr lang="zh-CN" sz="2400" b="1" dirty="0">
                <a:solidFill>
                  <a:srgbClr val="1E2761"/>
                </a:solidFill>
                <a:latin typeface="Segoe UI"/>
                <a:ea typeface="SimHei"/>
                <a:cs typeface="Segoe UI"/>
              </a:rPr>
              <a:t>88%</a:t>
            </a:r>
          </a:p>
        </p:txBody>
      </p:sp>
      <p:sp>
        <p:nvSpPr>
          <p:cNvPr id="39" name="TextBox 39"/>
          <p:cNvSpPr txBox="1"/>
          <p:nvPr/>
        </p:nvSpPr>
        <p:spPr>
          <a:xfrm>
            <a:off x="9513570" y="2903220"/>
            <a:ext cx="496919"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7/8 通过</a:t>
            </a:r>
          </a:p>
        </p:txBody>
      </p:sp>
      <p:sp>
        <p:nvSpPr>
          <p:cNvPr id="40" name="Rectangle 40"/>
          <p:cNvSpPr/>
          <p:nvPr/>
        </p:nvSpPr>
        <p:spPr>
          <a:xfrm>
            <a:off x="381000" y="3429000"/>
            <a:ext cx="11430000" cy="762000"/>
          </a:xfrm>
          <a:prstGeom prst="roundRect">
            <a:avLst>
              <a:gd name="adj" fmla="val 10000"/>
            </a:avLst>
          </a:prstGeom>
          <a:solidFill>
            <a:srgbClr val="FFFFFF"/>
          </a:solidFill>
          <a:ln>
            <a:noFill/>
          </a:ln>
          <a:effectLst>
            <a:outerShdw blurRad="76200" dist="19050" dir="5400000" algn="ctr" rotWithShape="0">
              <a:srgbClr val="000000">
                <a:alpha val="6000"/>
              </a:srgbClr>
            </a:outerShdw>
          </a:effectLst>
        </p:spPr>
      </p:sp>
      <p:sp>
        <p:nvSpPr>
          <p:cNvPr id="41" name="TextBox 41"/>
          <p:cNvSpPr txBox="1"/>
          <p:nvPr/>
        </p:nvSpPr>
        <p:spPr>
          <a:xfrm>
            <a:off x="556260" y="3585210"/>
            <a:ext cx="870585" cy="243840"/>
          </a:xfrm>
          <a:prstGeom prst="rect">
            <a:avLst/>
          </a:prstGeom>
          <a:noFill/>
          <a:ln>
            <a:noFill/>
          </a:ln>
        </p:spPr>
        <p:txBody>
          <a:bodyPr wrap="none" lIns="0" tIns="0" rIns="0" bIns="0" anchor="t" anchorCtr="0">
            <a:spAutoFit/>
          </a:bodyPr>
          <a:lstStyle/>
          <a:p>
            <a:pPr algn="l"/>
            <a:r>
              <a:rPr lang="zh-CN" sz="1200" b="1" dirty="0">
                <a:solidFill>
                  <a:srgbClr val="1E2761"/>
                </a:solidFill>
                <a:latin typeface="Segoe UI"/>
                <a:ea typeface="SimHei"/>
                <a:cs typeface="Segoe UI"/>
              </a:rPr>
              <a:t>测试技术栈</a:t>
            </a:r>
          </a:p>
        </p:txBody>
      </p:sp>
      <p:sp>
        <p:nvSpPr>
          <p:cNvPr id="42" name="Rectangle 42"/>
          <p:cNvSpPr/>
          <p:nvPr/>
        </p:nvSpPr>
        <p:spPr>
          <a:xfrm>
            <a:off x="571500" y="3857625"/>
            <a:ext cx="1619250" cy="247650"/>
          </a:xfrm>
          <a:prstGeom prst="roundRect">
            <a:avLst>
              <a:gd name="adj" fmla="val 50000"/>
            </a:avLst>
          </a:prstGeom>
          <a:solidFill>
            <a:srgbClr val="1E2761"/>
          </a:solidFill>
          <a:ln>
            <a:noFill/>
          </a:ln>
        </p:spPr>
      </p:sp>
      <p:sp>
        <p:nvSpPr>
          <p:cNvPr id="43" name="TextBox 43"/>
          <p:cNvSpPr txBox="1"/>
          <p:nvPr/>
        </p:nvSpPr>
        <p:spPr>
          <a:xfrm>
            <a:off x="853630" y="3931920"/>
            <a:ext cx="105498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pytest 自动化框架</a:t>
            </a:r>
          </a:p>
        </p:txBody>
      </p:sp>
      <p:sp>
        <p:nvSpPr>
          <p:cNvPr id="44" name="Rectangle 44"/>
          <p:cNvSpPr/>
          <p:nvPr/>
        </p:nvSpPr>
        <p:spPr>
          <a:xfrm>
            <a:off x="2381250" y="3857625"/>
            <a:ext cx="1524000" cy="247650"/>
          </a:xfrm>
          <a:prstGeom prst="roundRect">
            <a:avLst>
              <a:gd name="adj" fmla="val 50000"/>
            </a:avLst>
          </a:prstGeom>
          <a:solidFill>
            <a:srgbClr val="4A7BF7"/>
          </a:solidFill>
          <a:ln>
            <a:noFill/>
          </a:ln>
        </p:spPr>
      </p:sp>
      <p:sp>
        <p:nvSpPr>
          <p:cNvPr id="45" name="TextBox 45"/>
          <p:cNvSpPr txBox="1"/>
          <p:nvPr/>
        </p:nvSpPr>
        <p:spPr>
          <a:xfrm>
            <a:off x="2750772" y="3931920"/>
            <a:ext cx="78495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Playwright UI</a:t>
            </a:r>
          </a:p>
        </p:txBody>
      </p:sp>
      <p:sp>
        <p:nvSpPr>
          <p:cNvPr id="46" name="Rectangle 46"/>
          <p:cNvSpPr/>
          <p:nvPr/>
        </p:nvSpPr>
        <p:spPr>
          <a:xfrm>
            <a:off x="4095750" y="3857625"/>
            <a:ext cx="1524000" cy="247650"/>
          </a:xfrm>
          <a:prstGeom prst="roundRect">
            <a:avLst>
              <a:gd name="adj" fmla="val 50000"/>
            </a:avLst>
          </a:prstGeom>
          <a:solidFill>
            <a:srgbClr val="2DD4A8"/>
          </a:solidFill>
          <a:ln>
            <a:noFill/>
          </a:ln>
        </p:spPr>
      </p:sp>
      <p:sp>
        <p:nvSpPr>
          <p:cNvPr id="47" name="TextBox 47"/>
          <p:cNvSpPr txBox="1"/>
          <p:nvPr/>
        </p:nvSpPr>
        <p:spPr>
          <a:xfrm>
            <a:off x="4540282" y="3931920"/>
            <a:ext cx="63493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Allure 报告</a:t>
            </a:r>
          </a:p>
        </p:txBody>
      </p:sp>
      <p:sp>
        <p:nvSpPr>
          <p:cNvPr id="48" name="Rectangle 48"/>
          <p:cNvSpPr/>
          <p:nvPr/>
        </p:nvSpPr>
        <p:spPr>
          <a:xfrm>
            <a:off x="5810250" y="3857625"/>
            <a:ext cx="1524000" cy="247650"/>
          </a:xfrm>
          <a:prstGeom prst="roundRect">
            <a:avLst>
              <a:gd name="adj" fmla="val 50000"/>
            </a:avLst>
          </a:prstGeom>
          <a:solidFill>
            <a:srgbClr val="E0E7FF"/>
          </a:solidFill>
          <a:ln>
            <a:noFill/>
          </a:ln>
        </p:spPr>
      </p:sp>
      <p:sp>
        <p:nvSpPr>
          <p:cNvPr id="49" name="TextBox 49"/>
          <p:cNvSpPr txBox="1"/>
          <p:nvPr/>
        </p:nvSpPr>
        <p:spPr>
          <a:xfrm>
            <a:off x="6164770" y="3931920"/>
            <a:ext cx="814959" cy="182880"/>
          </a:xfrm>
          <a:prstGeom prst="rect">
            <a:avLst/>
          </a:prstGeom>
          <a:noFill/>
          <a:ln>
            <a:noFill/>
          </a:ln>
        </p:spPr>
        <p:txBody>
          <a:bodyPr wrap="none" lIns="0" tIns="0" rIns="0" bIns="0" anchor="t" anchorCtr="0">
            <a:spAutoFit/>
          </a:bodyPr>
          <a:lstStyle/>
          <a:p>
            <a:pPr algn="ctr"/>
            <a:r>
              <a:rPr lang="zh-CN" sz="900" dirty="0">
                <a:solidFill>
                  <a:srgbClr val="1E2761"/>
                </a:solidFill>
                <a:latin typeface="Arial"/>
                <a:ea typeface="Microsoft YaHei"/>
                <a:cs typeface="Arial"/>
              </a:rPr>
              <a:t>Docker 容器化</a:t>
            </a:r>
          </a:p>
        </p:txBody>
      </p:sp>
      <p:sp>
        <p:nvSpPr>
          <p:cNvPr id="50" name="Rectangle 50"/>
          <p:cNvSpPr/>
          <p:nvPr/>
        </p:nvSpPr>
        <p:spPr>
          <a:xfrm>
            <a:off x="381000" y="4381500"/>
            <a:ext cx="11430000" cy="762000"/>
          </a:xfrm>
          <a:prstGeom prst="roundRect">
            <a:avLst>
              <a:gd name="adj" fmla="val 10000"/>
            </a:avLst>
          </a:prstGeom>
          <a:solidFill>
            <a:srgbClr val="FFFFFF"/>
          </a:solidFill>
          <a:ln>
            <a:noFill/>
          </a:ln>
          <a:effectLst>
            <a:outerShdw blurRad="76200" dist="19050" dir="5400000" algn="ctr" rotWithShape="0">
              <a:srgbClr val="000000">
                <a:alpha val="6000"/>
              </a:srgbClr>
            </a:outerShdw>
          </a:effectLst>
        </p:spPr>
      </p:sp>
      <p:sp>
        <p:nvSpPr>
          <p:cNvPr id="51" name="Rectangle 51"/>
          <p:cNvSpPr/>
          <p:nvPr/>
        </p:nvSpPr>
        <p:spPr>
          <a:xfrm>
            <a:off x="381000" y="4381500"/>
            <a:ext cx="57150" cy="762000"/>
          </a:xfrm>
          <a:prstGeom prst="rect">
            <a:avLst/>
          </a:prstGeom>
          <a:solidFill>
            <a:srgbClr val="2DD4A8"/>
          </a:solidFill>
          <a:ln>
            <a:noFill/>
          </a:ln>
        </p:spPr>
      </p:sp>
      <p:sp>
        <p:nvSpPr>
          <p:cNvPr id="52" name="TextBox 52"/>
          <p:cNvSpPr txBox="1"/>
          <p:nvPr/>
        </p:nvSpPr>
        <p:spPr>
          <a:xfrm>
            <a:off x="604838" y="4526756"/>
            <a:ext cx="658654" cy="228600"/>
          </a:xfrm>
          <a:prstGeom prst="rect">
            <a:avLst/>
          </a:prstGeom>
          <a:noFill/>
          <a:ln>
            <a:noFill/>
          </a:ln>
        </p:spPr>
        <p:txBody>
          <a:bodyPr wrap="none" lIns="0" tIns="0" rIns="0" bIns="0" anchor="t" anchorCtr="0">
            <a:spAutoFit/>
          </a:bodyPr>
          <a:lstStyle/>
          <a:p>
            <a:pPr algn="l"/>
            <a:r>
              <a:rPr lang="zh-CN" sz="1125" b="1" dirty="0">
                <a:solidFill>
                  <a:srgbClr val="1E2761"/>
                </a:solidFill>
                <a:latin typeface="Segoe UI"/>
                <a:ea typeface="SimHei"/>
                <a:cs typeface="Segoe UI"/>
              </a:rPr>
              <a:t>测试方法</a:t>
            </a:r>
          </a:p>
        </p:txBody>
      </p:sp>
      <p:sp>
        <p:nvSpPr>
          <p:cNvPr id="53" name="TextBox 53"/>
          <p:cNvSpPr txBox="1"/>
          <p:nvPr/>
        </p:nvSpPr>
        <p:spPr>
          <a:xfrm>
            <a:off x="606742" y="4771549"/>
            <a:ext cx="3717227"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API 接口测试（pytest + requests）— 验证后端 API 功能正确性</a:t>
            </a:r>
          </a:p>
        </p:txBody>
      </p:sp>
      <p:sp>
        <p:nvSpPr>
          <p:cNvPr id="54" name="TextBox 54"/>
          <p:cNvSpPr txBox="1"/>
          <p:nvPr/>
        </p:nvSpPr>
        <p:spPr>
          <a:xfrm>
            <a:off x="606742" y="4942999"/>
            <a:ext cx="369122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UI 端到端测试（Playwright）— 验证前端交互与业务流程完整性</a:t>
            </a:r>
          </a:p>
        </p:txBody>
      </p:sp>
      <p:sp>
        <p:nvSpPr>
          <p:cNvPr id="55" name="Rectangle 55"/>
          <p:cNvSpPr/>
          <p:nvPr/>
        </p:nvSpPr>
        <p:spPr>
          <a:xfrm>
            <a:off x="381000" y="5334000"/>
            <a:ext cx="11430000" cy="523875"/>
          </a:xfrm>
          <a:prstGeom prst="roundRect">
            <a:avLst>
              <a:gd name="adj" fmla="val 14545"/>
            </a:avLst>
          </a:prstGeom>
          <a:solidFill>
            <a:srgbClr val="D1FAE5">
              <a:alpha val="50000"/>
            </a:srgbClr>
          </a:solidFill>
          <a:ln w="9525">
            <a:solidFill>
              <a:srgbClr val="2DD4A8"/>
            </a:solidFill>
          </a:ln>
        </p:spPr>
      </p:sp>
      <p:sp>
        <p:nvSpPr>
          <p:cNvPr id="56" name="TextBox 56"/>
          <p:cNvSpPr txBox="1"/>
          <p:nvPr/>
        </p:nvSpPr>
        <p:spPr>
          <a:xfrm>
            <a:off x="558165" y="5458778"/>
            <a:ext cx="614744" cy="213360"/>
          </a:xfrm>
          <a:prstGeom prst="rect">
            <a:avLst/>
          </a:prstGeom>
          <a:noFill/>
          <a:ln>
            <a:noFill/>
          </a:ln>
        </p:spPr>
        <p:txBody>
          <a:bodyPr wrap="none" lIns="0" tIns="0" rIns="0" bIns="0" anchor="t" anchorCtr="0">
            <a:spAutoFit/>
          </a:bodyPr>
          <a:lstStyle/>
          <a:p>
            <a:pPr algn="l"/>
            <a:r>
              <a:rPr lang="zh-CN" sz="1050" b="1" dirty="0">
                <a:solidFill>
                  <a:srgbClr val="059669"/>
                </a:solidFill>
                <a:latin typeface="Segoe UI"/>
                <a:ea typeface="SimHei"/>
                <a:cs typeface="Segoe UI"/>
              </a:rPr>
              <a:t>质量保障</a:t>
            </a:r>
          </a:p>
        </p:txBody>
      </p:sp>
      <p:sp>
        <p:nvSpPr>
          <p:cNvPr id="57" name="TextBox 57"/>
          <p:cNvSpPr txBox="1"/>
          <p:nvPr/>
        </p:nvSpPr>
        <p:spPr>
          <a:xfrm>
            <a:off x="1606868" y="5466874"/>
            <a:ext cx="4822365" cy="198120"/>
          </a:xfrm>
          <a:prstGeom prst="rect">
            <a:avLst/>
          </a:prstGeom>
          <a:noFill/>
          <a:ln>
            <a:noFill/>
          </a:ln>
        </p:spPr>
        <p:txBody>
          <a:bodyPr wrap="none" lIns="0" tIns="0" rIns="0" bIns="0" anchor="t" anchorCtr="0">
            <a:spAutoFit/>
          </a:bodyPr>
          <a:lstStyle/>
          <a:p>
            <a:pPr algn="l"/>
            <a:r>
              <a:rPr lang="zh-CN" sz="975" dirty="0">
                <a:solidFill>
                  <a:srgbClr val="059669"/>
                </a:solidFill>
                <a:latin typeface="Arial"/>
                <a:ea typeface="Microsoft YaHei"/>
                <a:cs typeface="Arial"/>
              </a:rPr>
              <a:t>自动化测试覆盖全链路 · CI/CD 集成 · Allure 详细报告 · 5条待优化用例已定位根因</a:t>
            </a:r>
          </a:p>
        </p:txBody>
      </p:sp>
      <p:sp>
        <p:nvSpPr>
          <p:cNvPr id="58" name="TextBox 58"/>
          <p:cNvSpPr txBox="1"/>
          <p:nvPr/>
        </p:nvSpPr>
        <p:spPr>
          <a:xfrm>
            <a:off x="11207020" y="6570345"/>
            <a:ext cx="424910" cy="182880"/>
          </a:xfrm>
          <a:prstGeom prst="rect">
            <a:avLst/>
          </a:prstGeom>
          <a:noFill/>
          <a:ln>
            <a:noFill/>
          </a:ln>
        </p:spPr>
        <p:txBody>
          <a:bodyPr wrap="none" lIns="0" tIns="0" rIns="0" bIns="0" anchor="t" anchorCtr="0">
            <a:spAutoFit/>
          </a:bodyPr>
          <a:lstStyle/>
          <a:p>
            <a:pPr algn="r"/>
            <a:r>
              <a:rPr lang="zh-CN" sz="900" dirty="0">
                <a:solidFill>
                  <a:srgbClr val="94A3B8"/>
                </a:solidFill>
                <a:latin typeface="Arial"/>
                <a:ea typeface="Microsoft YaHei"/>
                <a:cs typeface="Arial"/>
              </a:rPr>
              <a:t>13 / 14</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F1A3E"/>
              </a:gs>
              <a:gs pos="100000">
                <a:srgbClr val="1E2761"/>
              </a:gs>
            </a:gsLst>
            <a:lin ang="2700000" scaled="1"/>
          </a:gradFill>
          <a:ln>
            <a:noFill/>
          </a:ln>
        </p:spPr>
      </p:sp>
      <p:sp>
        <p:nvSpPr>
          <p:cNvPr id="3" name="Rectangle 3"/>
          <p:cNvSpPr/>
          <p:nvPr/>
        </p:nvSpPr>
        <p:spPr>
          <a:xfrm>
            <a:off x="0" y="0"/>
            <a:ext cx="12192000" cy="6858000"/>
          </a:xfrm>
          <a:prstGeom prst="rect">
            <a:avLst/>
          </a:prstGeom>
          <a:gradFill>
            <a:gsLst>
              <a:gs pos="0">
                <a:srgbClr val="4A7BF7">
                  <a:alpha val="8000"/>
                </a:srgbClr>
              </a:gs>
              <a:gs pos="100000">
                <a:srgbClr val="4A7BF7">
                  <a:alpha val="0"/>
                </a:srgbClr>
              </a:gs>
            </a:gsLst>
            <a:path path="circle">
              <a:fillToRect l="50000" t="50000" r="50000" b="50000"/>
            </a:path>
          </a:gradFill>
          <a:ln>
            <a:noFill/>
          </a:ln>
        </p:spPr>
      </p:sp>
      <p:sp>
        <p:nvSpPr>
          <p:cNvPr id="4" name="Rectangle 4"/>
          <p:cNvSpPr/>
          <p:nvPr/>
        </p:nvSpPr>
        <p:spPr>
          <a:xfrm>
            <a:off x="0" y="0"/>
            <a:ext cx="76200" cy="6858000"/>
          </a:xfrm>
          <a:prstGeom prst="rect">
            <a:avLst/>
          </a:prstGeom>
          <a:solidFill>
            <a:srgbClr val="2DD4A8"/>
          </a:solidFill>
          <a:ln>
            <a:noFill/>
          </a:ln>
        </p:spPr>
      </p:sp>
      <p:sp>
        <p:nvSpPr>
          <p:cNvPr id="5" name="TextBox 5"/>
          <p:cNvSpPr txBox="1"/>
          <p:nvPr/>
        </p:nvSpPr>
        <p:spPr>
          <a:xfrm>
            <a:off x="628650" y="438150"/>
            <a:ext cx="2176462"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Segoe UI"/>
                <a:ea typeface="SimHei"/>
                <a:cs typeface="Segoe UI"/>
              </a:rPr>
              <a:t>总结与展望</a:t>
            </a:r>
          </a:p>
        </p:txBody>
      </p:sp>
      <p:sp>
        <p:nvSpPr>
          <p:cNvPr id="6" name="Rectangle 6"/>
          <p:cNvSpPr/>
          <p:nvPr/>
        </p:nvSpPr>
        <p:spPr>
          <a:xfrm>
            <a:off x="666750" y="904875"/>
            <a:ext cx="2667000" cy="38100"/>
          </a:xfrm>
          <a:prstGeom prst="rect">
            <a:avLst/>
          </a:prstGeom>
          <a:solidFill>
            <a:srgbClr val="2DD4A8"/>
          </a:solidFill>
          <a:ln>
            <a:noFill/>
          </a:ln>
        </p:spPr>
      </p:sp>
      <p:sp>
        <p:nvSpPr>
          <p:cNvPr id="7" name="TextBox 7"/>
          <p:cNvSpPr txBox="1"/>
          <p:nvPr/>
        </p:nvSpPr>
        <p:spPr>
          <a:xfrm>
            <a:off x="647700" y="1171575"/>
            <a:ext cx="1088231" cy="304800"/>
          </a:xfrm>
          <a:prstGeom prst="rect">
            <a:avLst/>
          </a:prstGeom>
          <a:noFill/>
          <a:ln>
            <a:noFill/>
          </a:ln>
        </p:spPr>
        <p:txBody>
          <a:bodyPr wrap="none" lIns="0" tIns="0" rIns="0" bIns="0" anchor="t" anchorCtr="0">
            <a:spAutoFit/>
          </a:bodyPr>
          <a:lstStyle/>
          <a:p>
            <a:pPr algn="l"/>
            <a:r>
              <a:rPr lang="zh-CN" sz="1500" b="1" dirty="0">
                <a:solidFill>
                  <a:srgbClr val="2DD4A8"/>
                </a:solidFill>
                <a:latin typeface="Segoe UI"/>
                <a:ea typeface="SimHei"/>
                <a:cs typeface="Segoe UI"/>
              </a:rPr>
              <a:t>已交付成果</a:t>
            </a:r>
          </a:p>
        </p:txBody>
      </p:sp>
      <p:sp>
        <p:nvSpPr>
          <p:cNvPr id="8" name="Rectangle 8"/>
          <p:cNvSpPr/>
          <p:nvPr/>
        </p:nvSpPr>
        <p:spPr>
          <a:xfrm>
            <a:off x="666750" y="1524000"/>
            <a:ext cx="38100" cy="333375"/>
          </a:xfrm>
          <a:prstGeom prst="rect">
            <a:avLst/>
          </a:prstGeom>
          <a:solidFill>
            <a:srgbClr val="4A7BF7"/>
          </a:solidFill>
          <a:ln>
            <a:noFill/>
          </a:ln>
        </p:spPr>
      </p:sp>
      <p:sp>
        <p:nvSpPr>
          <p:cNvPr id="9" name="TextBox 9"/>
          <p:cNvSpPr txBox="1"/>
          <p:nvPr/>
        </p:nvSpPr>
        <p:spPr>
          <a:xfrm>
            <a:off x="804862" y="1574006"/>
            <a:ext cx="212883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完成三级架构智能问答系统开发</a:t>
            </a:r>
          </a:p>
        </p:txBody>
      </p:sp>
      <p:sp>
        <p:nvSpPr>
          <p:cNvPr id="10" name="Rectangle 10"/>
          <p:cNvSpPr/>
          <p:nvPr/>
        </p:nvSpPr>
        <p:spPr>
          <a:xfrm>
            <a:off x="666750" y="1962150"/>
            <a:ext cx="38100" cy="333375"/>
          </a:xfrm>
          <a:prstGeom prst="rect">
            <a:avLst/>
          </a:prstGeom>
          <a:solidFill>
            <a:srgbClr val="4A7BF7"/>
          </a:solidFill>
          <a:ln>
            <a:noFill/>
          </a:ln>
        </p:spPr>
      </p:sp>
      <p:sp>
        <p:nvSpPr>
          <p:cNvPr id="11" name="TextBox 11"/>
          <p:cNvSpPr txBox="1"/>
          <p:nvPr/>
        </p:nvSpPr>
        <p:spPr>
          <a:xfrm>
            <a:off x="804862" y="2012156"/>
            <a:ext cx="2263854"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实现完全离线 Docker 容器化部署</a:t>
            </a:r>
          </a:p>
        </p:txBody>
      </p:sp>
      <p:sp>
        <p:nvSpPr>
          <p:cNvPr id="12" name="Rectangle 12"/>
          <p:cNvSpPr/>
          <p:nvPr/>
        </p:nvSpPr>
        <p:spPr>
          <a:xfrm>
            <a:off x="666750" y="2400300"/>
            <a:ext cx="38100" cy="333375"/>
          </a:xfrm>
          <a:prstGeom prst="rect">
            <a:avLst/>
          </a:prstGeom>
          <a:solidFill>
            <a:srgbClr val="4A7BF7"/>
          </a:solidFill>
          <a:ln>
            <a:noFill/>
          </a:ln>
        </p:spPr>
      </p:sp>
      <p:sp>
        <p:nvSpPr>
          <p:cNvPr id="13" name="TextBox 13"/>
          <p:cNvSpPr txBox="1"/>
          <p:nvPr/>
        </p:nvSpPr>
        <p:spPr>
          <a:xfrm>
            <a:off x="804862" y="2450306"/>
            <a:ext cx="229385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集成智谱 GLM-9B 本地大语言模型</a:t>
            </a:r>
          </a:p>
        </p:txBody>
      </p:sp>
      <p:sp>
        <p:nvSpPr>
          <p:cNvPr id="14" name="Rectangle 14"/>
          <p:cNvSpPr/>
          <p:nvPr/>
        </p:nvSpPr>
        <p:spPr>
          <a:xfrm>
            <a:off x="666750" y="2838450"/>
            <a:ext cx="38100" cy="333375"/>
          </a:xfrm>
          <a:prstGeom prst="rect">
            <a:avLst/>
          </a:prstGeom>
          <a:solidFill>
            <a:srgbClr val="4A7BF7"/>
          </a:solidFill>
          <a:ln>
            <a:noFill/>
          </a:ln>
        </p:spPr>
      </p:sp>
      <p:sp>
        <p:nvSpPr>
          <p:cNvPr id="15" name="TextBox 15"/>
          <p:cNvSpPr txBox="1"/>
          <p:nvPr/>
        </p:nvSpPr>
        <p:spPr>
          <a:xfrm>
            <a:off x="804862" y="2888456"/>
            <a:ext cx="1978819"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支持多格式军事文档智能处理</a:t>
            </a:r>
          </a:p>
        </p:txBody>
      </p:sp>
      <p:sp>
        <p:nvSpPr>
          <p:cNvPr id="16" name="Rectangle 16"/>
          <p:cNvSpPr/>
          <p:nvPr/>
        </p:nvSpPr>
        <p:spPr>
          <a:xfrm>
            <a:off x="666750" y="3276600"/>
            <a:ext cx="38100" cy="333375"/>
          </a:xfrm>
          <a:prstGeom prst="rect">
            <a:avLst/>
          </a:prstGeom>
          <a:solidFill>
            <a:srgbClr val="2DD4A8"/>
          </a:solidFill>
          <a:ln>
            <a:noFill/>
          </a:ln>
        </p:spPr>
      </p:sp>
      <p:sp>
        <p:nvSpPr>
          <p:cNvPr id="17" name="TextBox 17"/>
          <p:cNvSpPr txBox="1"/>
          <p:nvPr/>
        </p:nvSpPr>
        <p:spPr>
          <a:xfrm>
            <a:off x="804862" y="3326606"/>
            <a:ext cx="2271355" cy="228600"/>
          </a:xfrm>
          <a:prstGeom prst="rect">
            <a:avLst/>
          </a:prstGeom>
          <a:noFill/>
          <a:ln>
            <a:noFill/>
          </a:ln>
        </p:spPr>
        <p:txBody>
          <a:bodyPr wrap="none" lIns="0" tIns="0" rIns="0" bIns="0" anchor="t" anchorCtr="0">
            <a:spAutoFit/>
          </a:bodyPr>
          <a:lstStyle/>
          <a:p>
            <a:pPr algn="l"/>
            <a:r>
              <a:rPr lang="zh-CN" sz="1125" dirty="0">
                <a:solidFill>
                  <a:srgbClr val="2DD4A8"/>
                </a:solidFill>
                <a:latin typeface="Arial"/>
                <a:ea typeface="Microsoft YaHei"/>
                <a:cs typeface="Arial"/>
              </a:rPr>
              <a:t>64条自动化测试用例，92%通过率</a:t>
            </a:r>
          </a:p>
        </p:txBody>
      </p:sp>
      <p:sp>
        <p:nvSpPr>
          <p:cNvPr id="18" name="Rectangle 18"/>
          <p:cNvSpPr/>
          <p:nvPr/>
        </p:nvSpPr>
        <p:spPr>
          <a:xfrm>
            <a:off x="666750" y="3714750"/>
            <a:ext cx="38100" cy="333375"/>
          </a:xfrm>
          <a:prstGeom prst="rect">
            <a:avLst/>
          </a:prstGeom>
          <a:solidFill>
            <a:srgbClr val="2DD4A8"/>
          </a:solidFill>
          <a:ln>
            <a:noFill/>
          </a:ln>
        </p:spPr>
      </p:sp>
      <p:sp>
        <p:nvSpPr>
          <p:cNvPr id="19" name="TextBox 19"/>
          <p:cNvSpPr txBox="1"/>
          <p:nvPr/>
        </p:nvSpPr>
        <p:spPr>
          <a:xfrm>
            <a:off x="804862" y="3764756"/>
            <a:ext cx="2976443" cy="228600"/>
          </a:xfrm>
          <a:prstGeom prst="rect">
            <a:avLst/>
          </a:prstGeom>
          <a:noFill/>
          <a:ln>
            <a:noFill/>
          </a:ln>
        </p:spPr>
        <p:txBody>
          <a:bodyPr wrap="none" lIns="0" tIns="0" rIns="0" bIns="0" anchor="t" anchorCtr="0">
            <a:spAutoFit/>
          </a:bodyPr>
          <a:lstStyle/>
          <a:p>
            <a:pPr algn="l"/>
            <a:r>
              <a:rPr lang="zh-CN" sz="1125" dirty="0">
                <a:solidFill>
                  <a:srgbClr val="2DD4A8"/>
                </a:solidFill>
                <a:latin typeface="Arial"/>
                <a:ea typeface="Microsoft YaHei"/>
                <a:cs typeface="Arial"/>
              </a:rPr>
              <a:t>完整项目文档体系（需求/设计/测试/手册）</a:t>
            </a:r>
          </a:p>
        </p:txBody>
      </p:sp>
      <p:sp>
        <p:nvSpPr>
          <p:cNvPr id="20" name="Rectangle 20"/>
          <p:cNvSpPr/>
          <p:nvPr/>
        </p:nvSpPr>
        <p:spPr>
          <a:xfrm>
            <a:off x="6286500" y="1238250"/>
            <a:ext cx="5524500" cy="3524250"/>
          </a:xfrm>
          <a:prstGeom prst="roundRect">
            <a:avLst>
              <a:gd name="adj" fmla="val 2703"/>
            </a:avLst>
          </a:prstGeom>
          <a:solidFill>
            <a:srgbClr val="1E2761">
              <a:alpha val="50000"/>
            </a:srgbClr>
          </a:solidFill>
          <a:ln w="9525">
            <a:solidFill>
              <a:srgbClr val="4A7BF7"/>
            </a:solidFill>
          </a:ln>
        </p:spPr>
      </p:sp>
      <p:sp>
        <p:nvSpPr>
          <p:cNvPr id="21" name="TextBox 21"/>
          <p:cNvSpPr txBox="1"/>
          <p:nvPr/>
        </p:nvSpPr>
        <p:spPr>
          <a:xfrm>
            <a:off x="6505575" y="1409700"/>
            <a:ext cx="1088231" cy="304800"/>
          </a:xfrm>
          <a:prstGeom prst="rect">
            <a:avLst/>
          </a:prstGeom>
          <a:noFill/>
          <a:ln>
            <a:noFill/>
          </a:ln>
        </p:spPr>
        <p:txBody>
          <a:bodyPr wrap="none" lIns="0" tIns="0" rIns="0" bIns="0" anchor="t" anchorCtr="0">
            <a:spAutoFit/>
          </a:bodyPr>
          <a:lstStyle/>
          <a:p>
            <a:pPr algn="l"/>
            <a:r>
              <a:rPr lang="zh-CN" sz="1500" b="1" dirty="0">
                <a:solidFill>
                  <a:srgbClr val="2DD4A8"/>
                </a:solidFill>
                <a:latin typeface="Segoe UI"/>
                <a:ea typeface="SimHei"/>
                <a:cs typeface="Segoe UI"/>
              </a:rPr>
              <a:t>交付物清单</a:t>
            </a:r>
          </a:p>
        </p:txBody>
      </p:sp>
      <p:sp>
        <p:nvSpPr>
          <p:cNvPr id="22" name="TextBox 22"/>
          <p:cNvSpPr txBox="1"/>
          <p:nvPr/>
        </p:nvSpPr>
        <p:spPr>
          <a:xfrm>
            <a:off x="6605588" y="1783556"/>
            <a:ext cx="1378744"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软件需求规格说明书</a:t>
            </a:r>
          </a:p>
        </p:txBody>
      </p:sp>
      <p:sp>
        <p:nvSpPr>
          <p:cNvPr id="23" name="TextBox 23"/>
          <p:cNvSpPr txBox="1"/>
          <p:nvPr/>
        </p:nvSpPr>
        <p:spPr>
          <a:xfrm>
            <a:off x="10941082" y="1799749"/>
            <a:ext cx="310801"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V1.0</a:t>
            </a:r>
          </a:p>
        </p:txBody>
      </p:sp>
      <p:sp>
        <p:nvSpPr>
          <p:cNvPr id="24" name="Line 24"/>
          <p:cNvSpPr/>
          <p:nvPr/>
        </p:nvSpPr>
        <p:spPr>
          <a:xfrm>
            <a:off x="6619875" y="201930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25" name="TextBox 25"/>
          <p:cNvSpPr txBox="1"/>
          <p:nvPr/>
        </p:nvSpPr>
        <p:spPr>
          <a:xfrm>
            <a:off x="6605588" y="2145506"/>
            <a:ext cx="1078706"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软件设计说明书</a:t>
            </a:r>
          </a:p>
        </p:txBody>
      </p:sp>
      <p:sp>
        <p:nvSpPr>
          <p:cNvPr id="26" name="TextBox 26"/>
          <p:cNvSpPr txBox="1"/>
          <p:nvPr/>
        </p:nvSpPr>
        <p:spPr>
          <a:xfrm>
            <a:off x="10941082" y="2161699"/>
            <a:ext cx="310801"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V1.0</a:t>
            </a:r>
          </a:p>
        </p:txBody>
      </p:sp>
      <p:sp>
        <p:nvSpPr>
          <p:cNvPr id="27" name="Line 27"/>
          <p:cNvSpPr/>
          <p:nvPr/>
        </p:nvSpPr>
        <p:spPr>
          <a:xfrm>
            <a:off x="6619875" y="238125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28" name="TextBox 28"/>
          <p:cNvSpPr txBox="1"/>
          <p:nvPr/>
        </p:nvSpPr>
        <p:spPr>
          <a:xfrm>
            <a:off x="6605588" y="2507456"/>
            <a:ext cx="92868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系统测试大纲</a:t>
            </a:r>
          </a:p>
        </p:txBody>
      </p:sp>
      <p:sp>
        <p:nvSpPr>
          <p:cNvPr id="29" name="TextBox 29"/>
          <p:cNvSpPr txBox="1"/>
          <p:nvPr/>
        </p:nvSpPr>
        <p:spPr>
          <a:xfrm>
            <a:off x="10941082" y="2523649"/>
            <a:ext cx="310801"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V1.0</a:t>
            </a:r>
          </a:p>
        </p:txBody>
      </p:sp>
      <p:sp>
        <p:nvSpPr>
          <p:cNvPr id="30" name="Line 30"/>
          <p:cNvSpPr/>
          <p:nvPr/>
        </p:nvSpPr>
        <p:spPr>
          <a:xfrm>
            <a:off x="6619875" y="274320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31" name="TextBox 31"/>
          <p:cNvSpPr txBox="1"/>
          <p:nvPr/>
        </p:nvSpPr>
        <p:spPr>
          <a:xfrm>
            <a:off x="6605588" y="2869406"/>
            <a:ext cx="92868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系统测试报告</a:t>
            </a:r>
          </a:p>
        </p:txBody>
      </p:sp>
      <p:sp>
        <p:nvSpPr>
          <p:cNvPr id="32" name="TextBox 32"/>
          <p:cNvSpPr txBox="1"/>
          <p:nvPr/>
        </p:nvSpPr>
        <p:spPr>
          <a:xfrm>
            <a:off x="10941082" y="2885599"/>
            <a:ext cx="310801"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V1.0</a:t>
            </a:r>
          </a:p>
        </p:txBody>
      </p:sp>
      <p:sp>
        <p:nvSpPr>
          <p:cNvPr id="33" name="Line 33"/>
          <p:cNvSpPr/>
          <p:nvPr/>
        </p:nvSpPr>
        <p:spPr>
          <a:xfrm>
            <a:off x="6619875" y="310515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34" name="TextBox 34"/>
          <p:cNvSpPr txBox="1"/>
          <p:nvPr/>
        </p:nvSpPr>
        <p:spPr>
          <a:xfrm>
            <a:off x="6605588" y="3231356"/>
            <a:ext cx="92868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软件用户手册</a:t>
            </a:r>
          </a:p>
        </p:txBody>
      </p:sp>
      <p:sp>
        <p:nvSpPr>
          <p:cNvPr id="35" name="TextBox 35"/>
          <p:cNvSpPr txBox="1"/>
          <p:nvPr/>
        </p:nvSpPr>
        <p:spPr>
          <a:xfrm>
            <a:off x="10941082" y="3247549"/>
            <a:ext cx="310801"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V1.0</a:t>
            </a:r>
          </a:p>
        </p:txBody>
      </p:sp>
      <p:sp>
        <p:nvSpPr>
          <p:cNvPr id="36" name="Line 36"/>
          <p:cNvSpPr/>
          <p:nvPr/>
        </p:nvSpPr>
        <p:spPr>
          <a:xfrm>
            <a:off x="6619875" y="346710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37" name="TextBox 37"/>
          <p:cNvSpPr txBox="1"/>
          <p:nvPr/>
        </p:nvSpPr>
        <p:spPr>
          <a:xfrm>
            <a:off x="6605588" y="3593306"/>
            <a:ext cx="1363742"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离线 Docker 镜像包</a:t>
            </a:r>
          </a:p>
        </p:txBody>
      </p:sp>
      <p:sp>
        <p:nvSpPr>
          <p:cNvPr id="38" name="TextBox 38"/>
          <p:cNvSpPr txBox="1"/>
          <p:nvPr/>
        </p:nvSpPr>
        <p:spPr>
          <a:xfrm>
            <a:off x="10707053" y="3609499"/>
            <a:ext cx="544830"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完整交付</a:t>
            </a:r>
          </a:p>
        </p:txBody>
      </p:sp>
      <p:sp>
        <p:nvSpPr>
          <p:cNvPr id="39" name="Line 39"/>
          <p:cNvSpPr/>
          <p:nvPr/>
        </p:nvSpPr>
        <p:spPr>
          <a:xfrm>
            <a:off x="6619875" y="382905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40" name="TextBox 40"/>
          <p:cNvSpPr txBox="1"/>
          <p:nvPr/>
        </p:nvSpPr>
        <p:spPr>
          <a:xfrm>
            <a:off x="6605588" y="3955256"/>
            <a:ext cx="1078706" cy="228600"/>
          </a:xfrm>
          <a:prstGeom prst="rect">
            <a:avLst/>
          </a:prstGeom>
          <a:noFill/>
          <a:ln>
            <a:noFill/>
          </a:ln>
        </p:spPr>
        <p:txBody>
          <a:bodyPr wrap="none" lIns="0" tIns="0" rIns="0" bIns="0" anchor="t" anchorCtr="0">
            <a:spAutoFit/>
          </a:bodyPr>
          <a:lstStyle/>
          <a:p>
            <a:pPr algn="l"/>
            <a:r>
              <a:rPr lang="zh-CN" sz="1125" dirty="0">
                <a:solidFill>
                  <a:srgbClr val="2DD4A8"/>
                </a:solidFill>
                <a:latin typeface="Arial"/>
                <a:ea typeface="Microsoft YaHei"/>
                <a:cs typeface="Arial"/>
              </a:rPr>
              <a:t>自动化测试套件</a:t>
            </a:r>
          </a:p>
        </p:txBody>
      </p:sp>
      <p:sp>
        <p:nvSpPr>
          <p:cNvPr id="41" name="TextBox 41"/>
          <p:cNvSpPr txBox="1"/>
          <p:nvPr/>
        </p:nvSpPr>
        <p:spPr>
          <a:xfrm>
            <a:off x="10570535" y="3971449"/>
            <a:ext cx="681347" cy="198120"/>
          </a:xfrm>
          <a:prstGeom prst="rect">
            <a:avLst/>
          </a:prstGeom>
          <a:noFill/>
          <a:ln>
            <a:noFill/>
          </a:ln>
        </p:spPr>
        <p:txBody>
          <a:bodyPr wrap="none" lIns="0" tIns="0" rIns="0" bIns="0" anchor="t" anchorCtr="0">
            <a:spAutoFit/>
          </a:bodyPr>
          <a:lstStyle/>
          <a:p>
            <a:pPr algn="r"/>
            <a:r>
              <a:rPr lang="zh-CN" sz="975" dirty="0">
                <a:solidFill>
                  <a:srgbClr val="2DD4A8"/>
                </a:solidFill>
                <a:latin typeface="Arial"/>
                <a:ea typeface="Microsoft YaHei"/>
                <a:cs typeface="Arial"/>
              </a:rPr>
              <a:t>48+16 用例</a:t>
            </a:r>
          </a:p>
        </p:txBody>
      </p:sp>
      <p:sp>
        <p:nvSpPr>
          <p:cNvPr id="42" name="Line 42"/>
          <p:cNvSpPr/>
          <p:nvPr/>
        </p:nvSpPr>
        <p:spPr>
          <a:xfrm>
            <a:off x="6619875" y="4191000"/>
            <a:ext cx="4714875" cy="9525"/>
          </a:xfrm>
          <a:custGeom>
            <a:avLst/>
            <a:gdLst/>
            <a:ahLst/>
            <a:cxnLst/>
            <a:rect l="l" t="t" r="r" b="b"/>
            <a:pathLst>
              <a:path w="4714875" h="9525">
                <a:moveTo>
                  <a:pt x="0" y="0"/>
                </a:moveTo>
                <a:lnTo>
                  <a:pt x="4714875" y="0"/>
                </a:lnTo>
              </a:path>
            </a:pathLst>
          </a:custGeom>
          <a:noFill/>
          <a:ln w="9525">
            <a:solidFill>
              <a:srgbClr val="FFFFFF">
                <a:alpha val="10000"/>
              </a:srgbClr>
            </a:solidFill>
          </a:ln>
        </p:spPr>
      </p:sp>
      <p:sp>
        <p:nvSpPr>
          <p:cNvPr id="43" name="TextBox 43"/>
          <p:cNvSpPr txBox="1"/>
          <p:nvPr/>
        </p:nvSpPr>
        <p:spPr>
          <a:xfrm>
            <a:off x="6605588" y="4317206"/>
            <a:ext cx="92868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部署运维脚本</a:t>
            </a:r>
          </a:p>
        </p:txBody>
      </p:sp>
      <p:sp>
        <p:nvSpPr>
          <p:cNvPr id="44" name="TextBox 44"/>
          <p:cNvSpPr txBox="1"/>
          <p:nvPr/>
        </p:nvSpPr>
        <p:spPr>
          <a:xfrm>
            <a:off x="10147983" y="4333399"/>
            <a:ext cx="1103900" cy="198120"/>
          </a:xfrm>
          <a:prstGeom prst="rect">
            <a:avLst/>
          </a:prstGeom>
          <a:noFill/>
          <a:ln>
            <a:noFill/>
          </a:ln>
        </p:spPr>
        <p:txBody>
          <a:bodyPr wrap="none" lIns="0" tIns="0" rIns="0" bIns="0" anchor="t" anchorCtr="0">
            <a:spAutoFit/>
          </a:bodyPr>
          <a:lstStyle/>
          <a:p>
            <a:pPr algn="r"/>
            <a:r>
              <a:rPr lang="zh-CN" sz="975" dirty="0">
                <a:solidFill>
                  <a:srgbClr val="94A3B8"/>
                </a:solidFill>
                <a:latin typeface="Arial"/>
                <a:ea typeface="Microsoft YaHei"/>
                <a:cs typeface="Arial"/>
              </a:rPr>
              <a:t>start/stop/build</a:t>
            </a:r>
          </a:p>
        </p:txBody>
      </p:sp>
      <p:sp>
        <p:nvSpPr>
          <p:cNvPr id="45" name="Rectangle 45"/>
          <p:cNvSpPr/>
          <p:nvPr/>
        </p:nvSpPr>
        <p:spPr>
          <a:xfrm>
            <a:off x="666750" y="5143500"/>
            <a:ext cx="10858500" cy="19050"/>
          </a:xfrm>
          <a:prstGeom prst="rect">
            <a:avLst/>
          </a:prstGeom>
          <a:solidFill>
            <a:srgbClr val="4A7BF7">
              <a:alpha val="30000"/>
            </a:srgbClr>
          </a:solidFill>
          <a:ln>
            <a:noFill/>
          </a:ln>
        </p:spPr>
      </p:sp>
      <p:sp>
        <p:nvSpPr>
          <p:cNvPr id="46" name="TextBox 46"/>
          <p:cNvSpPr txBox="1"/>
          <p:nvPr/>
        </p:nvSpPr>
        <p:spPr>
          <a:xfrm>
            <a:off x="3208806" y="5411152"/>
            <a:ext cx="5774388" cy="213360"/>
          </a:xfrm>
          <a:prstGeom prst="rect">
            <a:avLst/>
          </a:prstGeom>
          <a:noFill/>
          <a:ln>
            <a:noFill/>
          </a:ln>
        </p:spPr>
        <p:txBody>
          <a:bodyPr wrap="none" lIns="0" tIns="0" rIns="0" bIns="0" anchor="t" anchorCtr="0">
            <a:spAutoFit/>
          </a:bodyPr>
          <a:lstStyle/>
          <a:p>
            <a:pPr algn="ctr"/>
            <a:r>
              <a:rPr lang="zh-CN" sz="1050" dirty="0">
                <a:solidFill>
                  <a:srgbClr val="94A3B8"/>
                </a:solidFill>
                <a:latin typeface="Arial"/>
                <a:ea typeface="Microsoft YaHei"/>
                <a:cs typeface="Arial"/>
              </a:rPr>
              <a:t>DARPA智能问答服务工具 DARPA-IQAS V1.0 · 军事科学院军事科学信息研究中心 · 2026年6月</a:t>
            </a:r>
          </a:p>
        </p:txBody>
      </p:sp>
      <p:sp>
        <p:nvSpPr>
          <p:cNvPr id="47" name="TextBox 47"/>
          <p:cNvSpPr txBox="1"/>
          <p:nvPr/>
        </p:nvSpPr>
        <p:spPr>
          <a:xfrm>
            <a:off x="5305616" y="5804535"/>
            <a:ext cx="1580769" cy="548640"/>
          </a:xfrm>
          <a:prstGeom prst="rect">
            <a:avLst/>
          </a:prstGeom>
          <a:noFill/>
          <a:ln>
            <a:noFill/>
          </a:ln>
        </p:spPr>
        <p:txBody>
          <a:bodyPr wrap="none" lIns="0" tIns="0" rIns="0" bIns="0" anchor="t" anchorCtr="0">
            <a:spAutoFit/>
          </a:bodyPr>
          <a:lstStyle/>
          <a:p>
            <a:pPr algn="ctr"/>
            <a:r>
              <a:rPr lang="zh-CN" sz="2700" b="1" dirty="0">
                <a:solidFill>
                  <a:srgbClr val="FFFFFF"/>
                </a:solidFill>
                <a:latin typeface="Segoe UI"/>
                <a:ea typeface="SimHei"/>
                <a:cs typeface="Segoe UI"/>
              </a:rPr>
              <a:t>感谢聆听</a:t>
            </a:r>
          </a:p>
        </p:txBody>
      </p:sp>
      <p:sp>
        <p:nvSpPr>
          <p:cNvPr id="48" name="TextBox 48"/>
          <p:cNvSpPr txBox="1"/>
          <p:nvPr/>
        </p:nvSpPr>
        <p:spPr>
          <a:xfrm>
            <a:off x="5280660" y="6299835"/>
            <a:ext cx="1630680" cy="243840"/>
          </a:xfrm>
          <a:prstGeom prst="rect">
            <a:avLst/>
          </a:prstGeom>
          <a:noFill/>
          <a:ln>
            <a:noFill/>
          </a:ln>
        </p:spPr>
        <p:txBody>
          <a:bodyPr wrap="none" lIns="0" tIns="0" rIns="0" bIns="0" anchor="t" anchorCtr="0">
            <a:spAutoFit/>
          </a:bodyPr>
          <a:lstStyle/>
          <a:p>
            <a:pPr algn="ctr"/>
            <a:r>
              <a:rPr lang="zh-CN" sz="1200" dirty="0">
                <a:solidFill>
                  <a:srgbClr val="2DD4A8"/>
                </a:solidFill>
                <a:latin typeface="Arial"/>
                <a:ea typeface="Microsoft YaHei"/>
                <a:cs typeface="Arial"/>
              </a:rPr>
              <a:t>敬请各位专家批评指正</a:t>
            </a:r>
          </a:p>
        </p:txBody>
      </p:sp>
      <p:sp>
        <p:nvSpPr>
          <p:cNvPr id="49" name="TextBox 49"/>
          <p:cNvSpPr txBox="1"/>
          <p:nvPr/>
        </p:nvSpPr>
        <p:spPr>
          <a:xfrm>
            <a:off x="112070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14 / 14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2026-06-09T04:29:33Z</dcterms:created>
  <dcterms:modified xsi:type="dcterms:W3CDTF">2026-06-09T04:29:33Z</dcterms:modified>
  <cp:category/>
  <cp:contentStatus/>
</cp:coreProperties>
</file>